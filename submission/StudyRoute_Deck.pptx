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b41d1e7-7d96-5d78-9266-bd4c49342293}">
          <p14:sldIdLst>
            <p14:sldId id="256"/>
            <p14:sldId id="257"/>
          </p14:sldIdLst>
        </p14:section>
        <p14:section name="The problem" id="{40048cad-9c50-749e-bbea-d6e46422baab}">
          <p14:sldIdLst>
            <p14:sldId id="258"/>
            <p14:sldId id="259"/>
          </p14:sldIdLst>
        </p14:section>
        <p14:section name="The solution" id="{0022fe3d-4005-9fcc-7d2f-13ea3880ca86}">
          <p14:sldIdLst>
            <p14:sldId id="260"/>
            <p14:sldId id="261"/>
            <p14:sldId id="262"/>
          </p14:sldIdLst>
        </p14:section>
        <p14:section name="Trust" id="{0b345073-deeb-a08e-211f-a99db0edcc03}">
          <p14:sldIdLst>
            <p14:sldId id="263"/>
            <p14:sldId id="264"/>
            <p14:sldId id="265"/>
          </p14:sldIdLst>
        </p14:section>
        <p14:section name="Close" id="{deca463a-a4d5-b324-a66e-7e1402fac477}">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SWIFT only carries the instruction; banks settle between their own accounts.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On the right, the agent and the person share the work.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16,000 is the margin, 3,000 the fixed fee, 1,500 the SWIFT fee and 4,800 the fees we pay under OUR. The same engine powers the smart send plan: fixed fees are paid on every transfer, so sending 12,000 pounds of living costs all at once costs 28,500 taka against 68,400 monthly.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Living costs are different from tuition: they are a payment every month. Smart escrow lets the parent lock the money in a smart contract that pays on the dates they choose. Planning locks nothing, the schedule is shown first. Locking needs a fresh MFA proof from the parent, and then each payment is released on its date. A bank reviewer can freeze an escrow with a written reason but can never move the funds. Only amounts, dates and hashes go on the chain, never a name or an account number, and the AI has no permission here at all. The chain is simulated: an in-memory EVM running real Solidity contracts, and the tokens are not money. We also anchor the head of the audit log on it, so rewriting history leaves a trace that someone editing the database cannot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 Adding a model later is one command, check_ai.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897 backend and 126 frontend tests, all 24 blueprint scenarios mapped to tests, and 31 known risks that we list openly in the self-assessment. The audit log is hash-chained: Verify passes, we edit one row behind the application's back, and Verify fails at exactly that event. Each payment also gets a compliance report whose hash your browser can recompute. The threat matrix with a proof for each row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 The sandbox operation logs from a real run, including the tamper demo, are in the repository under submission slash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We would also add the moon-dependent holidays to the planner. Second, a partnership with an authorised dealer bank for real quotes and real KYC, and regulator-ready reports from the audit log. Third, the escrow contracts would move from our simulated chain to a permissioned one with a deposit token issued by a bank. Topic C also mentions credit building. We have not built it, and we would rather say so than pretend. We do show a household's money in every currency, but those are simulated accounts, not real ones.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Smart escrow for living costs</a:t>
            </a:r>
            <a:endParaRPr lang="en-US" sz="3600" dirty="0"/>
          </a:p>
        </p:txBody>
      </p:sp>
      <p:sp>
        <p:nvSpPr>
          <p:cNvPr id="3" name="content-7-rect-1"/>
          <p:cNvSpPr/>
          <p:nvPr/>
        </p:nvSpPr>
        <p:spPr>
          <a:xfrm>
            <a:off x="457200" y="1234440"/>
            <a:ext cx="4718304" cy="3218688"/>
          </a:xfrm>
          <a:prstGeom prst="roundRect">
            <a:avLst>
              <a:gd name="adj" fmla="val 1705"/>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7-image-2" descr="An escrow with three monthly payments and its on-chain proof">    </p:cNvPr>
          <p:cNvPicPr>
            <a:picLocks noChangeAspect="1"/>
          </p:cNvPicPr>
          <p:nvPr/>
        </p:nvPicPr>
        <p:blipFill>
          <a:blip r:embed="rId1"/>
          <a:stretch>
            <a:fillRect/>
          </a:stretch>
        </p:blipFill>
        <p:spPr>
          <a:xfrm>
            <a:off x="530352" y="1307592"/>
            <a:ext cx="4572000" cy="3072384"/>
          </a:xfrm>
          <a:prstGeom prst="rect">
            <a:avLst/>
          </a:prstGeom>
        </p:spPr>
      </p:pic>
      <p:sp>
        <p:nvSpPr>
          <p:cNvPr id="5" name="content-7-text-3"/>
          <p:cNvSpPr txBox="1"/>
          <p:nvPr/>
        </p:nvSpPr>
        <p:spPr>
          <a:xfrm>
            <a:off x="457200" y="4526280"/>
            <a:ext cx="4754880" cy="274320"/>
          </a:xfrm>
          <a:prstGeom prst="rect">
            <a:avLst/>
          </a:prstGeom>
          <a:noFill/>
          <a:ln/>
        </p:spPr>
        <p:txBody>
          <a:bodyPr wrap="square" lIns="0" tIns="0" rIns="0" bIns="0" rtlCol="0" anchor="t"/>
          <a:lstStyle/>
          <a:p>
            <a:pPr algn="l" indent="0" marL="0">
              <a:buNone/>
            </a:pPr>
            <a:r>
              <a:rPr lang="en-US" sz="1100" dirty="0">
                <a:solidFill>
                  <a:schemeClr val="tx2"/>
                </a:solidFill>
              </a:rPr>
              <a:t>Simulated chain: the tokens are not money. Synthetic data.</a:t>
            </a:r>
            <a:endParaRPr lang="en-US" sz="1100" dirty="0"/>
          </a:p>
        </p:txBody>
      </p:sp>
      <p:sp>
        <p:nvSpPr>
          <p:cNvPr id="6" name="content-7-rect-4"/>
          <p:cNvSpPr/>
          <p:nvPr/>
        </p:nvSpPr>
        <p:spPr>
          <a:xfrm>
            <a:off x="5486400" y="1280160"/>
            <a:ext cx="3200400" cy="731520"/>
          </a:xfrm>
          <a:prstGeom prst="roundRect">
            <a:avLst>
              <a:gd name="adj" fmla="val 10000"/>
            </a:avLst>
          </a:prstGeom>
          <a:solidFill>
            <a:schemeClr val="bg2"/>
          </a:solidFill>
          <a:ln/>
        </p:spPr>
      </p:sp>
      <p:sp>
        <p:nvSpPr>
          <p:cNvPr id="7" name="content-7-text-5"/>
          <p:cNvSpPr txBox="1"/>
          <p:nvPr/>
        </p:nvSpPr>
        <p:spPr>
          <a:xfrm>
            <a:off x="5623560" y="131673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Plan</a:t>
            </a:r>
            <a:endParaRPr lang="en-US" sz="1400" dirty="0"/>
          </a:p>
        </p:txBody>
      </p:sp>
      <p:sp>
        <p:nvSpPr>
          <p:cNvPr id="8" name="content-7-text-6"/>
          <p:cNvSpPr txBox="1"/>
          <p:nvPr/>
        </p:nvSpPr>
        <p:spPr>
          <a:xfrm>
            <a:off x="5623560" y="157276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The schedule is shown first. Nothing is locked.</a:t>
            </a:r>
            <a:endParaRPr lang="en-US" sz="1100" dirty="0"/>
          </a:p>
        </p:txBody>
      </p:sp>
      <p:sp>
        <p:nvSpPr>
          <p:cNvPr id="9" name="content-7-rect-7"/>
          <p:cNvSpPr/>
          <p:nvPr/>
        </p:nvSpPr>
        <p:spPr>
          <a:xfrm>
            <a:off x="5486400" y="2103120"/>
            <a:ext cx="3200400" cy="731520"/>
          </a:xfrm>
          <a:prstGeom prst="roundRect">
            <a:avLst>
              <a:gd name="adj" fmla="val 10000"/>
            </a:avLst>
          </a:prstGeom>
          <a:solidFill>
            <a:schemeClr val="bg2"/>
          </a:solidFill>
          <a:ln/>
        </p:spPr>
      </p:sp>
      <p:sp>
        <p:nvSpPr>
          <p:cNvPr id="10" name="content-7-text-8"/>
          <p:cNvSpPr txBox="1"/>
          <p:nvPr/>
        </p:nvSpPr>
        <p:spPr>
          <a:xfrm>
            <a:off x="5623560" y="213969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Lock</a:t>
            </a:r>
            <a:endParaRPr lang="en-US" sz="1400" dirty="0"/>
          </a:p>
        </p:txBody>
      </p:sp>
      <p:sp>
        <p:nvSpPr>
          <p:cNvPr id="11" name="content-7-text-9"/>
          <p:cNvSpPr txBox="1"/>
          <p:nvPr/>
        </p:nvSpPr>
        <p:spPr>
          <a:xfrm>
            <a:off x="5623560" y="239572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A fresh MFA proof from the parent. The funds wait in the contract.</a:t>
            </a:r>
            <a:endParaRPr lang="en-US" sz="1100" dirty="0"/>
          </a:p>
        </p:txBody>
      </p:sp>
      <p:sp>
        <p:nvSpPr>
          <p:cNvPr id="12" name="content-7-rect-10"/>
          <p:cNvSpPr/>
          <p:nvPr/>
        </p:nvSpPr>
        <p:spPr>
          <a:xfrm>
            <a:off x="5486400" y="2926080"/>
            <a:ext cx="3200400" cy="731520"/>
          </a:xfrm>
          <a:prstGeom prst="roundRect">
            <a:avLst>
              <a:gd name="adj" fmla="val 10000"/>
            </a:avLst>
          </a:prstGeom>
          <a:solidFill>
            <a:schemeClr val="bg2"/>
          </a:solidFill>
          <a:ln/>
        </p:spPr>
      </p:sp>
      <p:sp>
        <p:nvSpPr>
          <p:cNvPr id="13" name="content-7-text-11"/>
          <p:cNvSpPr txBox="1"/>
          <p:nvPr/>
        </p:nvSpPr>
        <p:spPr>
          <a:xfrm>
            <a:off x="5623560" y="296265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Release</a:t>
            </a:r>
            <a:endParaRPr lang="en-US" sz="1400" dirty="0"/>
          </a:p>
        </p:txBody>
      </p:sp>
      <p:sp>
        <p:nvSpPr>
          <p:cNvPr id="14" name="content-7-text-12"/>
          <p:cNvSpPr txBox="1"/>
          <p:nvPr/>
        </p:nvSpPr>
        <p:spPr>
          <a:xfrm>
            <a:off x="5623560" y="321868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 the dates chosen. A reviewer can freeze it with a reason, never move the funds.</a:t>
            </a:r>
            <a:endParaRPr lang="en-US" sz="1100" dirty="0"/>
          </a:p>
        </p:txBody>
      </p:sp>
      <p:sp>
        <p:nvSpPr>
          <p:cNvPr id="15" name="content-7-rect-13"/>
          <p:cNvSpPr/>
          <p:nvPr/>
        </p:nvSpPr>
        <p:spPr>
          <a:xfrm>
            <a:off x="5486400" y="3749040"/>
            <a:ext cx="3200400" cy="731520"/>
          </a:xfrm>
          <a:prstGeom prst="roundRect">
            <a:avLst>
              <a:gd name="adj" fmla="val 10000"/>
            </a:avLst>
          </a:prstGeom>
          <a:solidFill>
            <a:schemeClr val="bg2"/>
          </a:solidFill>
          <a:ln/>
        </p:spPr>
      </p:sp>
      <p:sp>
        <p:nvSpPr>
          <p:cNvPr id="16" name="content-7-text-14"/>
          <p:cNvSpPr txBox="1"/>
          <p:nvPr/>
        </p:nvSpPr>
        <p:spPr>
          <a:xfrm>
            <a:off x="5623560" y="3785616"/>
            <a:ext cx="2926080" cy="256032"/>
          </a:xfrm>
          <a:prstGeom prst="rect">
            <a:avLst/>
          </a:prstGeom>
          <a:noFill/>
          <a:ln/>
        </p:spPr>
        <p:txBody>
          <a:bodyPr wrap="square" lIns="0" tIns="0" rIns="0" bIns="0" rtlCol="0" anchor="t"/>
          <a:lstStyle/>
          <a:p>
            <a:pPr algn="l" indent="0" marL="0">
              <a:buNone/>
            </a:pPr>
            <a:r>
              <a:rPr lang="en-US" sz="1400" b="1" dirty="0">
                <a:solidFill>
                  <a:schemeClr val="accent1"/>
                </a:solidFill>
              </a:rPr>
              <a:t>Privacy</a:t>
            </a:r>
            <a:endParaRPr lang="en-US" sz="1400" dirty="0"/>
          </a:p>
        </p:txBody>
      </p:sp>
      <p:sp>
        <p:nvSpPr>
          <p:cNvPr id="17" name="content-7-text-15"/>
          <p:cNvSpPr txBox="1"/>
          <p:nvPr/>
        </p:nvSpPr>
        <p:spPr>
          <a:xfrm>
            <a:off x="5623560" y="4041648"/>
            <a:ext cx="2971800" cy="420624"/>
          </a:xfrm>
          <a:prstGeom prst="rect">
            <a:avLst/>
          </a:prstGeom>
          <a:noFill/>
          <a:ln/>
        </p:spPr>
        <p:txBody>
          <a:bodyPr wrap="square" lIns="0" tIns="0" rIns="0" bIns="0" rtlCol="0" anchor="t"/>
          <a:lstStyle/>
          <a:p>
            <a:pPr algn="l" indent="0" marL="0">
              <a:buNone/>
            </a:pPr>
            <a:r>
              <a:rPr lang="en-US" sz="1100" dirty="0">
                <a:solidFill>
                  <a:schemeClr val="tx1"/>
                </a:solidFill>
              </a:rPr>
              <a:t>Only amounts, dates and hashes go on the chain. The AI has no access.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8-rect-1"/>
          <p:cNvSpPr/>
          <p:nvPr/>
        </p:nvSpPr>
        <p:spPr>
          <a:xfrm>
            <a:off x="457200" y="1280160"/>
            <a:ext cx="1051560" cy="731520"/>
          </a:xfrm>
          <a:prstGeom prst="roundRect">
            <a:avLst>
              <a:gd name="adj" fmla="val 10000"/>
            </a:avLst>
          </a:prstGeom>
          <a:solidFill>
            <a:schemeClr val="tx1"/>
          </a:solidFill>
          <a:ln/>
        </p:spPr>
      </p:sp>
      <p:sp>
        <p:nvSpPr>
          <p:cNvPr id="4" name="content-8-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8-rect-3"/>
          <p:cNvSpPr/>
          <p:nvPr/>
        </p:nvSpPr>
        <p:spPr>
          <a:xfrm>
            <a:off x="1645920" y="1280160"/>
            <a:ext cx="1051560" cy="731520"/>
          </a:xfrm>
          <a:prstGeom prst="roundRect">
            <a:avLst>
              <a:gd name="adj" fmla="val 10000"/>
            </a:avLst>
          </a:prstGeom>
          <a:solidFill>
            <a:schemeClr val="tx1"/>
          </a:solidFill>
          <a:ln/>
        </p:spPr>
      </p:sp>
      <p:sp>
        <p:nvSpPr>
          <p:cNvPr id="6" name="content-8-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8-rect-5"/>
          <p:cNvSpPr/>
          <p:nvPr/>
        </p:nvSpPr>
        <p:spPr>
          <a:xfrm>
            <a:off x="2834640" y="1280160"/>
            <a:ext cx="1051560" cy="731520"/>
          </a:xfrm>
          <a:prstGeom prst="roundRect">
            <a:avLst>
              <a:gd name="adj" fmla="val 10000"/>
            </a:avLst>
          </a:prstGeom>
          <a:solidFill>
            <a:schemeClr val="tx1"/>
          </a:solidFill>
          <a:ln/>
        </p:spPr>
      </p:sp>
      <p:sp>
        <p:nvSpPr>
          <p:cNvPr id="8" name="content-8-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8-rect-7"/>
          <p:cNvSpPr/>
          <p:nvPr/>
        </p:nvSpPr>
        <p:spPr>
          <a:xfrm>
            <a:off x="4023360" y="1280160"/>
            <a:ext cx="1051560" cy="731520"/>
          </a:xfrm>
          <a:prstGeom prst="roundRect">
            <a:avLst>
              <a:gd name="adj" fmla="val 10000"/>
            </a:avLst>
          </a:prstGeom>
          <a:solidFill>
            <a:schemeClr val="accent2"/>
          </a:solidFill>
          <a:ln/>
        </p:spPr>
      </p:sp>
      <p:sp>
        <p:nvSpPr>
          <p:cNvPr id="10" name="content-8-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8-rect-9"/>
          <p:cNvSpPr/>
          <p:nvPr/>
        </p:nvSpPr>
        <p:spPr>
          <a:xfrm>
            <a:off x="5212080" y="1280160"/>
            <a:ext cx="1051560" cy="731520"/>
          </a:xfrm>
          <a:prstGeom prst="roundRect">
            <a:avLst>
              <a:gd name="adj" fmla="val 10000"/>
            </a:avLst>
          </a:prstGeom>
          <a:solidFill>
            <a:schemeClr val="tx1"/>
          </a:solidFill>
          <a:ln/>
        </p:spPr>
      </p:sp>
      <p:sp>
        <p:nvSpPr>
          <p:cNvPr id="12" name="content-8-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8-rect-11"/>
          <p:cNvSpPr/>
          <p:nvPr/>
        </p:nvSpPr>
        <p:spPr>
          <a:xfrm>
            <a:off x="6400800" y="1280160"/>
            <a:ext cx="1051560" cy="731520"/>
          </a:xfrm>
          <a:prstGeom prst="roundRect">
            <a:avLst>
              <a:gd name="adj" fmla="val 10000"/>
            </a:avLst>
          </a:prstGeom>
          <a:solidFill>
            <a:schemeClr val="tx1"/>
          </a:solidFill>
          <a:ln/>
        </p:spPr>
      </p:sp>
      <p:sp>
        <p:nvSpPr>
          <p:cNvPr id="14" name="content-8-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8-rect-13"/>
          <p:cNvSpPr/>
          <p:nvPr/>
        </p:nvSpPr>
        <p:spPr>
          <a:xfrm>
            <a:off x="7589520" y="1280160"/>
            <a:ext cx="1051560" cy="731520"/>
          </a:xfrm>
          <a:prstGeom prst="roundRect">
            <a:avLst>
              <a:gd name="adj" fmla="val 10000"/>
            </a:avLst>
          </a:prstGeom>
          <a:solidFill>
            <a:schemeClr val="tx1"/>
          </a:solidFill>
          <a:ln/>
        </p:spPr>
      </p:sp>
      <p:sp>
        <p:nvSpPr>
          <p:cNvPr id="16" name="content-8-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8-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8-rect-16"/>
          <p:cNvSpPr/>
          <p:nvPr/>
        </p:nvSpPr>
        <p:spPr>
          <a:xfrm>
            <a:off x="457200" y="2514600"/>
            <a:ext cx="2651760" cy="2194560"/>
          </a:xfrm>
          <a:prstGeom prst="roundRect">
            <a:avLst>
              <a:gd name="adj" fmla="val 3333"/>
            </a:avLst>
          </a:prstGeom>
          <a:solidFill>
            <a:schemeClr val="bg2"/>
          </a:solidFill>
          <a:ln/>
        </p:spPr>
      </p:sp>
      <p:sp>
        <p:nvSpPr>
          <p:cNvPr id="19" name="content-8-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8-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8-rect-19"/>
          <p:cNvSpPr/>
          <p:nvPr/>
        </p:nvSpPr>
        <p:spPr>
          <a:xfrm>
            <a:off x="3246120" y="2514600"/>
            <a:ext cx="2651760" cy="2194560"/>
          </a:xfrm>
          <a:prstGeom prst="roundRect">
            <a:avLst>
              <a:gd name="adj" fmla="val 3333"/>
            </a:avLst>
          </a:prstGeom>
          <a:solidFill>
            <a:schemeClr val="bg2"/>
          </a:solidFill>
          <a:ln/>
        </p:spPr>
      </p:sp>
      <p:sp>
        <p:nvSpPr>
          <p:cNvPr id="22" name="content-8-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8-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8-rect-22"/>
          <p:cNvSpPr/>
          <p:nvPr/>
        </p:nvSpPr>
        <p:spPr>
          <a:xfrm>
            <a:off x="6035040" y="2514600"/>
            <a:ext cx="2651760" cy="2194560"/>
          </a:xfrm>
          <a:prstGeom prst="roundRect">
            <a:avLst>
              <a:gd name="adj" fmla="val 3333"/>
            </a:avLst>
          </a:prstGeom>
          <a:solidFill>
            <a:schemeClr val="bg2"/>
          </a:solidFill>
          <a:ln/>
        </p:spPr>
      </p:sp>
      <p:sp>
        <p:nvSpPr>
          <p:cNvPr id="25" name="content-8-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8-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9-rect-1"/>
          <p:cNvSpPr/>
          <p:nvPr/>
        </p:nvSpPr>
        <p:spPr>
          <a:xfrm>
            <a:off x="457200" y="1280160"/>
            <a:ext cx="4023360" cy="402336"/>
          </a:xfrm>
          <a:prstGeom prst="roundRect">
            <a:avLst>
              <a:gd name="adj" fmla="val 13636"/>
            </a:avLst>
          </a:prstGeom>
          <a:solidFill>
            <a:schemeClr val="bg2"/>
          </a:solidFill>
          <a:ln/>
        </p:spPr>
      </p:sp>
      <p:sp>
        <p:nvSpPr>
          <p:cNvPr id="4" name="content-9-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9-rect-3"/>
          <p:cNvSpPr/>
          <p:nvPr/>
        </p:nvSpPr>
        <p:spPr>
          <a:xfrm>
            <a:off x="457200" y="1755648"/>
            <a:ext cx="4023360" cy="402336"/>
          </a:xfrm>
          <a:prstGeom prst="roundRect">
            <a:avLst>
              <a:gd name="adj" fmla="val 13636"/>
            </a:avLst>
          </a:prstGeom>
          <a:solidFill>
            <a:schemeClr val="bg2"/>
          </a:solidFill>
          <a:ln/>
        </p:spPr>
      </p:sp>
      <p:sp>
        <p:nvSpPr>
          <p:cNvPr id="6" name="content-9-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9-rect-5"/>
          <p:cNvSpPr/>
          <p:nvPr/>
        </p:nvSpPr>
        <p:spPr>
          <a:xfrm>
            <a:off x="457200" y="2231136"/>
            <a:ext cx="4023360" cy="402336"/>
          </a:xfrm>
          <a:prstGeom prst="roundRect">
            <a:avLst>
              <a:gd name="adj" fmla="val 13636"/>
            </a:avLst>
          </a:prstGeom>
          <a:solidFill>
            <a:schemeClr val="bg2"/>
          </a:solidFill>
          <a:ln/>
        </p:spPr>
      </p:sp>
      <p:sp>
        <p:nvSpPr>
          <p:cNvPr id="8" name="content-9-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9-rect-7"/>
          <p:cNvSpPr/>
          <p:nvPr/>
        </p:nvSpPr>
        <p:spPr>
          <a:xfrm>
            <a:off x="457200" y="2706624"/>
            <a:ext cx="4023360" cy="402336"/>
          </a:xfrm>
          <a:prstGeom prst="roundRect">
            <a:avLst>
              <a:gd name="adj" fmla="val 13636"/>
            </a:avLst>
          </a:prstGeom>
          <a:solidFill>
            <a:schemeClr val="accent1"/>
          </a:solidFill>
          <a:ln/>
        </p:spPr>
      </p:sp>
      <p:sp>
        <p:nvSpPr>
          <p:cNvPr id="10" name="content-9-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9-rect-9"/>
          <p:cNvSpPr/>
          <p:nvPr/>
        </p:nvSpPr>
        <p:spPr>
          <a:xfrm>
            <a:off x="457200" y="3182112"/>
            <a:ext cx="4023360" cy="402336"/>
          </a:xfrm>
          <a:prstGeom prst="roundRect">
            <a:avLst>
              <a:gd name="adj" fmla="val 13636"/>
            </a:avLst>
          </a:prstGeom>
          <a:solidFill>
            <a:schemeClr val="bg2"/>
          </a:solidFill>
          <a:ln/>
        </p:spPr>
      </p:sp>
      <p:sp>
        <p:nvSpPr>
          <p:cNvPr id="12" name="content-9-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9-rect-11"/>
          <p:cNvSpPr/>
          <p:nvPr/>
        </p:nvSpPr>
        <p:spPr>
          <a:xfrm>
            <a:off x="457200" y="3657600"/>
            <a:ext cx="4023360" cy="402336"/>
          </a:xfrm>
          <a:prstGeom prst="roundRect">
            <a:avLst>
              <a:gd name="adj" fmla="val 13636"/>
            </a:avLst>
          </a:prstGeom>
          <a:solidFill>
            <a:schemeClr val="accent3"/>
          </a:solidFill>
          <a:ln/>
        </p:spPr>
      </p:sp>
      <p:sp>
        <p:nvSpPr>
          <p:cNvPr id="14" name="content-9-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9-rect-13"/>
          <p:cNvSpPr/>
          <p:nvPr/>
        </p:nvSpPr>
        <p:spPr>
          <a:xfrm>
            <a:off x="4663440" y="1280160"/>
            <a:ext cx="1920240" cy="1188720"/>
          </a:xfrm>
          <a:prstGeom prst="roundRect">
            <a:avLst>
              <a:gd name="adj" fmla="val 6154"/>
            </a:avLst>
          </a:prstGeom>
          <a:solidFill>
            <a:schemeClr val="bg2"/>
          </a:solidFill>
          <a:ln/>
        </p:spPr>
      </p:sp>
      <p:sp>
        <p:nvSpPr>
          <p:cNvPr id="16" name="content-9-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897</a:t>
            </a:r>
            <a:endParaRPr lang="en-US" sz="3200" dirty="0"/>
          </a:p>
        </p:txBody>
      </p:sp>
      <p:sp>
        <p:nvSpPr>
          <p:cNvPr id="17" name="content-9-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9-rect-16"/>
          <p:cNvSpPr/>
          <p:nvPr/>
        </p:nvSpPr>
        <p:spPr>
          <a:xfrm>
            <a:off x="6766560" y="1280160"/>
            <a:ext cx="1920240" cy="1188720"/>
          </a:xfrm>
          <a:prstGeom prst="roundRect">
            <a:avLst>
              <a:gd name="adj" fmla="val 6154"/>
            </a:avLst>
          </a:prstGeom>
          <a:solidFill>
            <a:schemeClr val="bg2"/>
          </a:solidFill>
          <a:ln/>
        </p:spPr>
      </p:sp>
      <p:sp>
        <p:nvSpPr>
          <p:cNvPr id="19" name="content-9-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126</a:t>
            </a:r>
            <a:endParaRPr lang="en-US" sz="3200" dirty="0"/>
          </a:p>
        </p:txBody>
      </p:sp>
      <p:sp>
        <p:nvSpPr>
          <p:cNvPr id="20" name="content-9-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9-rect-19"/>
          <p:cNvSpPr/>
          <p:nvPr/>
        </p:nvSpPr>
        <p:spPr>
          <a:xfrm>
            <a:off x="4663440" y="2651760"/>
            <a:ext cx="1920240" cy="1188720"/>
          </a:xfrm>
          <a:prstGeom prst="roundRect">
            <a:avLst>
              <a:gd name="adj" fmla="val 6154"/>
            </a:avLst>
          </a:prstGeom>
          <a:solidFill>
            <a:schemeClr val="bg2"/>
          </a:solidFill>
          <a:ln/>
        </p:spPr>
      </p:sp>
      <p:sp>
        <p:nvSpPr>
          <p:cNvPr id="22" name="content-9-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9-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9-rect-22"/>
          <p:cNvSpPr/>
          <p:nvPr/>
        </p:nvSpPr>
        <p:spPr>
          <a:xfrm>
            <a:off x="6766560" y="2651760"/>
            <a:ext cx="1920240" cy="1188720"/>
          </a:xfrm>
          <a:prstGeom prst="roundRect">
            <a:avLst>
              <a:gd name="adj" fmla="val 6154"/>
            </a:avLst>
          </a:prstGeom>
          <a:solidFill>
            <a:schemeClr val="bg2"/>
          </a:solidFill>
          <a:ln/>
        </p:spPr>
      </p:sp>
      <p:sp>
        <p:nvSpPr>
          <p:cNvPr id="25" name="content-9-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31</a:t>
            </a:r>
            <a:endParaRPr lang="en-US" sz="3200" dirty="0"/>
          </a:p>
        </p:txBody>
      </p:sp>
      <p:sp>
        <p:nvSpPr>
          <p:cNvPr id="26" name="content-9-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9-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10-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10-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10-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10-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10-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10-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10-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1-rect-1"/>
          <p:cNvSpPr/>
          <p:nvPr/>
        </p:nvSpPr>
        <p:spPr>
          <a:xfrm>
            <a:off x="457200" y="1234440"/>
            <a:ext cx="4023360" cy="1143000"/>
          </a:xfrm>
          <a:prstGeom prst="roundRect">
            <a:avLst>
              <a:gd name="adj" fmla="val 6400"/>
            </a:avLst>
          </a:prstGeom>
          <a:solidFill>
            <a:schemeClr val="tx2"/>
          </a:solidFill>
          <a:ln/>
        </p:spPr>
      </p:sp>
      <p:sp>
        <p:nvSpPr>
          <p:cNvPr id="4" name="closing-11-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1-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1-rect-4"/>
          <p:cNvSpPr/>
          <p:nvPr/>
        </p:nvSpPr>
        <p:spPr>
          <a:xfrm>
            <a:off x="4663440" y="1234440"/>
            <a:ext cx="4023360" cy="1143000"/>
          </a:xfrm>
          <a:prstGeom prst="roundRect">
            <a:avLst>
              <a:gd name="adj" fmla="val 6400"/>
            </a:avLst>
          </a:prstGeom>
          <a:solidFill>
            <a:schemeClr val="tx2"/>
          </a:solidFill>
          <a:ln/>
        </p:spPr>
      </p:sp>
      <p:sp>
        <p:nvSpPr>
          <p:cNvPr id="7" name="closing-11-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1-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1-rect-7"/>
          <p:cNvSpPr/>
          <p:nvPr/>
        </p:nvSpPr>
        <p:spPr>
          <a:xfrm>
            <a:off x="457200" y="2514600"/>
            <a:ext cx="4023360" cy="1143000"/>
          </a:xfrm>
          <a:prstGeom prst="roundRect">
            <a:avLst>
              <a:gd name="adj" fmla="val 6400"/>
            </a:avLst>
          </a:prstGeom>
          <a:solidFill>
            <a:schemeClr val="tx2"/>
          </a:solidFill>
          <a:ln/>
        </p:spPr>
      </p:sp>
      <p:sp>
        <p:nvSpPr>
          <p:cNvPr id="10" name="closing-11-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1-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1-rect-10"/>
          <p:cNvSpPr/>
          <p:nvPr/>
        </p:nvSpPr>
        <p:spPr>
          <a:xfrm>
            <a:off x="4663440" y="2514600"/>
            <a:ext cx="4023360" cy="1143000"/>
          </a:xfrm>
          <a:prstGeom prst="roundRect">
            <a:avLst>
              <a:gd name="adj" fmla="val 6400"/>
            </a:avLst>
          </a:prstGeom>
          <a:solidFill>
            <a:schemeClr val="tx2"/>
          </a:solidFill>
          <a:ln/>
        </p:spPr>
      </p:sp>
      <p:sp>
        <p:nvSpPr>
          <p:cNvPr id="13" name="closing-11-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chain</a:t>
            </a:r>
            <a:endParaRPr lang="en-US" sz="1800" dirty="0"/>
          </a:p>
        </p:txBody>
      </p:sp>
      <p:sp>
        <p:nvSpPr>
          <p:cNvPr id="14" name="closing-11-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Run the escrow contracts on a permissioned chain with a bank-issued deposit token.</a:t>
            </a:r>
            <a:endParaRPr lang="en-US" sz="1400" dirty="0"/>
          </a:p>
        </p:txBody>
      </p:sp>
      <p:sp>
        <p:nvSpPr>
          <p:cNvPr id="15" name="closing-11-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1-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2026-10-14T21:21:08Z</dcterms:created>
  <dcterms:modified xsi:type="dcterms:W3CDTF">2026-10-14T21:21:08Z</dcterms:modified>
</cp:coreProperties>
</file>