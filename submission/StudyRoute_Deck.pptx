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69d26f-37b0-ddca-b2cb-4916a33aa3cc}">
          <p14:sldIdLst>
            <p14:sldId id="256"/>
            <p14:sldId id="257"/>
          </p14:sldIdLst>
        </p14:section>
        <p14:section name="The problem" id="{cb85d8e4-60a3-b3a6-40eb-926f37764cae}">
          <p14:sldIdLst>
            <p14:sldId id="258"/>
          </p14:sldIdLst>
        </p14:section>
        <p14:section name="The solution" id="{64c3e5e2-5f6a-e4f9-4118-6f35a5bb7978}">
          <p14:sldIdLst>
            <p14:sldId id="259"/>
            <p14:sldId id="260"/>
            <p14:sldId id="261"/>
            <p14:sldId id="262"/>
            <p14:sldId id="263"/>
            <p14:sldId id="264"/>
          </p14:sldIdLst>
        </p14:section>
        <p14:section name="Trust" id="{c802d5a1-038c-9ad0-d6a4-72511fe18463}">
          <p14:sldIdLst>
            <p14:sldId id="265"/>
            <p14:sldId id="266"/>
            <p14:sldId id="267"/>
            <p14:sldId id="268"/>
            <p14:sldId id="269"/>
            <p14:sldId id="270"/>
            <p14:sldId id="271"/>
            <p14:sldId id="272"/>
            <p14:sldId id="273"/>
          </p14:sldIdLst>
        </p14:section>
        <p14:section name="Close" id="{fd632acc-69a7-ea23-0e51-fefd7a07c7ab}">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Topic C entry: a sandbox AI agent that helps a parent in Bangladesh pay tuition abroad. Everything is synthetic, no real money moves, and it runs live at studyroute dot bot-keep dot xyz. Our rule: the engine calculates, the AI explains, the human approves,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Parents compare banks by the fee they are shown. In our synthetic example, for ten thousand pounds with Provider B, 63 percent of the real cost is the hidden exchange-rate margin. Correspondent banks can deduct fees on the way, so the university may be paid short; the deadline spans two calendars; and the paperwork is unclear. Those five problems shape StudyRoute.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taka to an authorised dealer bank, a SWIFT instruction, a correspondent bank that may take a fee, a receiving bank that may take another, and the university matching by reference. Each step fails in a typical way, shown in red. We simulate the chain with invented banks and a double-entry ledger; no real money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The parent types one sentence; the agent makes the quote, ranks providers, plans the deadline, checks KYC, and builds this plan card from engine output. A person creates the draft and approves with a fresh MFA code. The agent blocks the payment until KYC, allowlist and caps pass, then tracks it to settled. It never creates a payment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public site, studyroute dot bot-keep dot xyz, opened on the 19th: ten thousand pounds of UK tuition. The ranking is the one our test T01 asserts: Provider B at 1.58 percent, Provider C at 1.63 with a warning that the university would be 35 pounds short, Provider A at 2.16. The engine calculates; the screen only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money, no floats. In our synthetic example Provider B is first at 1.58 percent. Provider C looks cheap but is quoted as SHA, so the university would receive 35 pounds less. Provider A is third at 2.16. The same engine drives the send plan and the currency stress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live site the parent types one sentence. The trained reader only proposes; plain code turns the words into values; and the assistant must read them back before it plans. Only after a yes does it plan. Beside it, the deadline planner works backwards: send by 22 October. The assistant cannot approve; only the parent can, with a fresh MFA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 parent can do is here. Compare providers by true cost, plan the date across two calendars, choose how often to send, and test a falling taka. Prepare documents and recipients, then approve with one MFA code that only the parent can give. Track it to settled with a sealed compliance report, or lock tuition in smart escrow. The assistant helps; it never approves.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gets a guide, not a payment button. Set a monthly budget in taka and twenty cities show rent, a month in local money and in taka, and whether it fits, rounded up so never too low. An arrival checklist covers before flying, the first week and the first month. The student can look and ask the assistant, but only the parent approves. City costs are invented and marked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policy check, engine facts, masking of personal data, an optional model, a number guard, a tool guard and the audit log. Any figure the model invents is rejected, then a template answers. So the AI can only propose: it cannot approve, submit or cancel, and it works with no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part, and we measured it, but the envelope matters more than the benchmark. A small model reads the intent and marks amounts, currencies and dates. A reinforcement-learning policy decides when to ask, read back or plan. A third rewords the engine's answer, every rewrite checked in code; a fourth scores each payment for a person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numbers as a graph. Left: the trained reader against our old rules on 113 messages written after it was frozen. Top right: the risk router's top one percent holds 63.2% of flagged payments; random order finds 1.2%. Bottom right: the dialogue policy cut wrong plans from 2.8% to 0.8% on simulated parents. Small samples, and as a plain yes or no the router is modest.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payment gets an AI risk score out of 100 from four factors: amount, frequency, timeline and person. Low means no warning and nobody waits. Medium or high shows a warning and sends the payment to a person at the bank, who answers yes, ask for more, or no, with MFA. The score never approves; the parent still authorizes.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have shown: one engine for every number, a human-only approval, an audit log that fails Verify when one row is edited, a Docker run, and attack probes defended. What we have not shown: rates and costs are invented, no real parent has used it, there was no outside penetration test, and most Bangladesh Bank figures are placeholders. Both lists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 ran: 1,705 backend tests, one skipped on Windows, including 25 assistant prompts that all give the expected tool and safety outcome; 463 web tests; 24 browser tests; all 24 scenarios pass; 314 security probe records. On the right is GitHub's own page for our latest commit: all six CI jobs green. These are our own tests, and no outside party has tested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Permission tiers are enforced in the domain layer, not just the screens. Only a human parent with a fresh MFA proof, bound to that payment, can approve; the AI has no approve, cancel or limit permission. On the right, the live audit log says PASS, and one edited row makes it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our own application with six tools: access control, browser and XSS, planted secrets, hostile prompts, man-in-the-middle and replay, and login guessing. 314 records, all pass or informational. The man-in-the-middle test is the honest one: altered approvals, swapped MFA proofs, a stolen token and replayed webhooks were refused. But on plain HTTP a listener reads the password and token, and a stolen token can cancel a draft. We do not call that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list our security problems because hiding them would cost more. On plain HTTP a listener reads the password and token; the public site uses HTTPS with HSTS, but nobody else has tested that. A stolen token can read payments and cancel a draft, not approve. We fixed account guessing and a telemetry leak. Old document rows stay readable, development tools carry advisories, and no outside penetration test has been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Bangladesh Bank data show 881.7 million dollars sent through banks for overseas education last year, a record, up 32 percent. If a comparison took one percentage point off that volume, families would keep about 8.8 million dollars: our arithmetic, not a forecast. We have no partner, pilot or real users yet; these are numbers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replace placeholder rules with official Bangladesh Bank sources, partner with an authorised dealer bank for real quotes and KYC, and move the escrow from our simulated chain to a permissioned one. Credit building is in the brief and not built, and we would rather say so. To close: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236208" y="384048"/>
            <a:ext cx="2523744" cy="1483614"/>
          </a:xfrm>
          <a:prstGeom prst="roundRect">
            <a:avLst>
              <a:gd name="adj" fmla="val 3698"/>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The live student guide finding cities that fit a budget">    </p:cNvPr>
          <p:cNvPicPr>
            <a:picLocks noChangeAspect="1"/>
          </p:cNvPicPr>
          <p:nvPr/>
        </p:nvPicPr>
        <p:blipFill>
          <a:blip r:embed="rId1"/>
          <a:stretch>
            <a:fillRect/>
          </a:stretch>
        </p:blipFill>
        <p:spPr>
          <a:xfrm>
            <a:off x="6309360" y="457200"/>
            <a:ext cx="2377440" cy="1337310"/>
          </a:xfrm>
          <a:prstGeom prst="rect">
            <a:avLst/>
          </a:prstGeom>
        </p:spPr>
      </p:pic>
      <p:sp>
        <p:nvSpPr>
          <p:cNvPr id="9" name="title-1-rect-7"/>
          <p:cNvSpPr/>
          <p:nvPr/>
        </p:nvSpPr>
        <p:spPr>
          <a:xfrm>
            <a:off x="6236208" y="1938528"/>
            <a:ext cx="2523744" cy="1483614"/>
          </a:xfrm>
          <a:prstGeom prst="roundRect">
            <a:avLst>
              <a:gd name="adj" fmla="val 3698"/>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The live bank network screen with invented banks">    </p:cNvPr>
          <p:cNvPicPr>
            <a:picLocks noChangeAspect="1"/>
          </p:cNvPicPr>
          <p:nvPr/>
        </p:nvPicPr>
        <p:blipFill>
          <a:blip r:embed="rId2"/>
          <a:stretch>
            <a:fillRect/>
          </a:stretch>
        </p:blipFill>
        <p:spPr>
          <a:xfrm>
            <a:off x="6309360" y="2011680"/>
            <a:ext cx="2377440" cy="1337310"/>
          </a:xfrm>
          <a:prstGeom prst="rect">
            <a:avLst/>
          </a:prstGeom>
        </p:spPr>
      </p:pic>
      <p:sp>
        <p:nvSpPr>
          <p:cNvPr id="11" name="title-1-rect-9"/>
          <p:cNvSpPr/>
          <p:nvPr/>
        </p:nvSpPr>
        <p:spPr>
          <a:xfrm>
            <a:off x="6236208" y="3493008"/>
            <a:ext cx="2523744" cy="1483614"/>
          </a:xfrm>
          <a:prstGeom prst="roundRect">
            <a:avLst>
              <a:gd name="adj" fmla="val 3698"/>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2" name="title-1-image-10" descr="The live smart escrow screen on a simulated chain">    </p:cNvPr>
          <p:cNvPicPr>
            <a:picLocks noChangeAspect="1"/>
          </p:cNvPicPr>
          <p:nvPr/>
        </p:nvPicPr>
        <p:blipFill>
          <a:blip r:embed="rId3"/>
          <a:stretch>
            <a:fillRect/>
          </a:stretch>
        </p:blipFill>
        <p:spPr>
          <a:xfrm>
            <a:off x="6309360" y="3566160"/>
            <a:ext cx="2377440" cy="1337310"/>
          </a:xfrm>
          <a:prstGeom prst="rect">
            <a:avLst/>
          </a:prstGeom>
        </p:spPr>
      </p:pic>
      <p:sp>
        <p:nvSpPr>
          <p:cNvPr id="13" name="title-1-text-11"/>
          <p:cNvSpPr txBox="1"/>
          <p:nvPr/>
        </p:nvSpPr>
        <p:spPr>
          <a:xfrm>
            <a:off x="548640" y="4828032"/>
            <a:ext cx="5303520" cy="256032"/>
          </a:xfrm>
          <a:prstGeom prst="rect">
            <a:avLst/>
          </a:prstGeom>
          <a:noFill/>
          <a:ln/>
        </p:spPr>
        <p:txBody>
          <a:bodyPr wrap="square" lIns="0" tIns="0" rIns="0" bIns="0" rtlCol="0" anchor="t"/>
          <a:lstStyle/>
          <a:p>
            <a:pPr algn="l" indent="0" marL="0">
              <a:buNone/>
            </a:pPr>
            <a:r>
              <a:rPr lang="en-US" sz="1100" b="1" dirty="0">
                <a:solidFill>
                  <a:schemeClr val="accent2"/>
                </a:solidFill>
              </a:rPr>
              <a:t>Live: studyroute.bot-keep.xyz</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3-rect-1"/>
          <p:cNvSpPr/>
          <p:nvPr/>
        </p:nvSpPr>
        <p:spPr>
          <a:xfrm>
            <a:off x="457200" y="1417320"/>
            <a:ext cx="1481328" cy="1417320"/>
          </a:xfrm>
          <a:prstGeom prst="roundRect">
            <a:avLst>
              <a:gd name="adj" fmla="val 5161"/>
            </a:avLst>
          </a:prstGeom>
          <a:solidFill>
            <a:schemeClr val="tx1"/>
          </a:solidFill>
          <a:ln/>
        </p:spPr>
      </p:sp>
      <p:sp>
        <p:nvSpPr>
          <p:cNvPr id="4" name="content-3-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3-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3-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3-arrow-5"/>
          <p:cNvSpPr/>
          <p:nvPr/>
        </p:nvSpPr>
        <p:spPr>
          <a:xfrm>
            <a:off x="1956816" y="2130552"/>
            <a:ext cx="164592" cy="0"/>
          </a:xfrm>
          <a:prstGeom prst="line">
            <a:avLst/>
          </a:prstGeom>
          <a:noFill/>
          <a:ln w="25400">
            <a:solidFill>
              <a:schemeClr val="tx2"/>
            </a:solidFill>
            <a:prstDash val="solid"/>
            <a:tailEnd type="triangle"/>
          </a:ln>
        </p:spPr>
      </p:sp>
      <p:sp>
        <p:nvSpPr>
          <p:cNvPr id="8" name="content-3-rect-6"/>
          <p:cNvSpPr/>
          <p:nvPr/>
        </p:nvSpPr>
        <p:spPr>
          <a:xfrm>
            <a:off x="2139696" y="1417320"/>
            <a:ext cx="1481328" cy="1417320"/>
          </a:xfrm>
          <a:prstGeom prst="roundRect">
            <a:avLst>
              <a:gd name="adj" fmla="val 5161"/>
            </a:avLst>
          </a:prstGeom>
          <a:solidFill>
            <a:schemeClr val="tx1"/>
          </a:solidFill>
          <a:ln/>
        </p:spPr>
      </p:sp>
      <p:sp>
        <p:nvSpPr>
          <p:cNvPr id="9" name="content-3-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3-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3-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3-arrow-10"/>
          <p:cNvSpPr/>
          <p:nvPr/>
        </p:nvSpPr>
        <p:spPr>
          <a:xfrm>
            <a:off x="3639312" y="2130552"/>
            <a:ext cx="164592" cy="0"/>
          </a:xfrm>
          <a:prstGeom prst="line">
            <a:avLst/>
          </a:prstGeom>
          <a:noFill/>
          <a:ln w="25400">
            <a:solidFill>
              <a:schemeClr val="tx2"/>
            </a:solidFill>
            <a:prstDash val="solid"/>
            <a:tailEnd type="triangle"/>
          </a:ln>
        </p:spPr>
      </p:sp>
      <p:sp>
        <p:nvSpPr>
          <p:cNvPr id="13" name="content-3-rect-11"/>
          <p:cNvSpPr/>
          <p:nvPr/>
        </p:nvSpPr>
        <p:spPr>
          <a:xfrm>
            <a:off x="3822192" y="1417320"/>
            <a:ext cx="1481328" cy="1417320"/>
          </a:xfrm>
          <a:prstGeom prst="roundRect">
            <a:avLst>
              <a:gd name="adj" fmla="val 5161"/>
            </a:avLst>
          </a:prstGeom>
          <a:solidFill>
            <a:schemeClr val="tx1"/>
          </a:solidFill>
          <a:ln/>
        </p:spPr>
      </p:sp>
      <p:sp>
        <p:nvSpPr>
          <p:cNvPr id="14" name="content-3-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3-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3-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3-arrow-15"/>
          <p:cNvSpPr/>
          <p:nvPr/>
        </p:nvSpPr>
        <p:spPr>
          <a:xfrm>
            <a:off x="5321808" y="2130552"/>
            <a:ext cx="164592" cy="0"/>
          </a:xfrm>
          <a:prstGeom prst="line">
            <a:avLst/>
          </a:prstGeom>
          <a:noFill/>
          <a:ln w="25400">
            <a:solidFill>
              <a:schemeClr val="tx2"/>
            </a:solidFill>
            <a:prstDash val="solid"/>
            <a:tailEnd type="triangle"/>
          </a:ln>
        </p:spPr>
      </p:sp>
      <p:sp>
        <p:nvSpPr>
          <p:cNvPr id="18" name="content-3-rect-16"/>
          <p:cNvSpPr/>
          <p:nvPr/>
        </p:nvSpPr>
        <p:spPr>
          <a:xfrm>
            <a:off x="5504688" y="1417320"/>
            <a:ext cx="1481328" cy="1417320"/>
          </a:xfrm>
          <a:prstGeom prst="roundRect">
            <a:avLst>
              <a:gd name="adj" fmla="val 5161"/>
            </a:avLst>
          </a:prstGeom>
          <a:solidFill>
            <a:schemeClr val="tx1"/>
          </a:solidFill>
          <a:ln/>
        </p:spPr>
      </p:sp>
      <p:sp>
        <p:nvSpPr>
          <p:cNvPr id="19" name="content-3-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3-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3-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3-arrow-20"/>
          <p:cNvSpPr/>
          <p:nvPr/>
        </p:nvSpPr>
        <p:spPr>
          <a:xfrm>
            <a:off x="7004304" y="2130552"/>
            <a:ext cx="164592" cy="0"/>
          </a:xfrm>
          <a:prstGeom prst="line">
            <a:avLst/>
          </a:prstGeom>
          <a:noFill/>
          <a:ln w="25400">
            <a:solidFill>
              <a:schemeClr val="tx2"/>
            </a:solidFill>
            <a:prstDash val="solid"/>
            <a:tailEnd type="triangle"/>
          </a:ln>
        </p:spPr>
      </p:sp>
      <p:sp>
        <p:nvSpPr>
          <p:cNvPr id="23" name="content-3-rect-21"/>
          <p:cNvSpPr/>
          <p:nvPr/>
        </p:nvSpPr>
        <p:spPr>
          <a:xfrm>
            <a:off x="7187184" y="1417320"/>
            <a:ext cx="1481328" cy="1417320"/>
          </a:xfrm>
          <a:prstGeom prst="roundRect">
            <a:avLst>
              <a:gd name="adj" fmla="val 5161"/>
            </a:avLst>
          </a:prstGeom>
          <a:solidFill>
            <a:schemeClr val="accent1"/>
          </a:solidFill>
          <a:ln/>
        </p:spPr>
      </p:sp>
      <p:sp>
        <p:nvSpPr>
          <p:cNvPr id="24" name="content-3-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3-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3-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3-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3-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3-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4-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4-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4-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4-rect-4"/>
          <p:cNvSpPr/>
          <p:nvPr/>
        </p:nvSpPr>
        <p:spPr>
          <a:xfrm>
            <a:off x="4892040" y="1380744"/>
            <a:ext cx="713232" cy="292608"/>
          </a:xfrm>
          <a:prstGeom prst="roundRect">
            <a:avLst>
              <a:gd name="adj" fmla="val 25000"/>
            </a:avLst>
          </a:prstGeom>
          <a:solidFill>
            <a:schemeClr val="accent1"/>
          </a:solidFill>
          <a:ln/>
        </p:spPr>
      </p:sp>
      <p:sp>
        <p:nvSpPr>
          <p:cNvPr id="7" name="content-4-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4-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4-rect-7"/>
          <p:cNvSpPr/>
          <p:nvPr/>
        </p:nvSpPr>
        <p:spPr>
          <a:xfrm>
            <a:off x="4892040" y="1929384"/>
            <a:ext cx="713232" cy="292608"/>
          </a:xfrm>
          <a:prstGeom prst="roundRect">
            <a:avLst>
              <a:gd name="adj" fmla="val 25000"/>
            </a:avLst>
          </a:prstGeom>
          <a:solidFill>
            <a:schemeClr val="accent1"/>
          </a:solidFill>
          <a:ln/>
        </p:spPr>
      </p:sp>
      <p:sp>
        <p:nvSpPr>
          <p:cNvPr id="10" name="content-4-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4-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4-rect-10"/>
          <p:cNvSpPr/>
          <p:nvPr/>
        </p:nvSpPr>
        <p:spPr>
          <a:xfrm>
            <a:off x="4892040" y="2478024"/>
            <a:ext cx="713232" cy="292608"/>
          </a:xfrm>
          <a:prstGeom prst="roundRect">
            <a:avLst>
              <a:gd name="adj" fmla="val 25000"/>
            </a:avLst>
          </a:prstGeom>
          <a:solidFill>
            <a:schemeClr val="tx1"/>
          </a:solidFill>
          <a:ln/>
        </p:spPr>
      </p:sp>
      <p:sp>
        <p:nvSpPr>
          <p:cNvPr id="13" name="content-4-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4-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4-rect-13"/>
          <p:cNvSpPr/>
          <p:nvPr/>
        </p:nvSpPr>
        <p:spPr>
          <a:xfrm>
            <a:off x="4892040" y="3026664"/>
            <a:ext cx="713232" cy="292608"/>
          </a:xfrm>
          <a:prstGeom prst="roundRect">
            <a:avLst>
              <a:gd name="adj" fmla="val 25000"/>
            </a:avLst>
          </a:prstGeom>
          <a:solidFill>
            <a:schemeClr val="accent1"/>
          </a:solidFill>
          <a:ln/>
        </p:spPr>
      </p:sp>
      <p:sp>
        <p:nvSpPr>
          <p:cNvPr id="16" name="content-4-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4-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4-rect-16"/>
          <p:cNvSpPr/>
          <p:nvPr/>
        </p:nvSpPr>
        <p:spPr>
          <a:xfrm>
            <a:off x="4892040" y="3575304"/>
            <a:ext cx="713232" cy="292608"/>
          </a:xfrm>
          <a:prstGeom prst="roundRect">
            <a:avLst>
              <a:gd name="adj" fmla="val 25000"/>
            </a:avLst>
          </a:prstGeom>
          <a:solidFill>
            <a:schemeClr val="tx1"/>
          </a:solidFill>
          <a:ln/>
        </p:spPr>
      </p:sp>
      <p:sp>
        <p:nvSpPr>
          <p:cNvPr id="19" name="content-4-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4-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4-rect-19"/>
          <p:cNvSpPr/>
          <p:nvPr/>
        </p:nvSpPr>
        <p:spPr>
          <a:xfrm>
            <a:off x="4892040" y="4123944"/>
            <a:ext cx="713232" cy="292608"/>
          </a:xfrm>
          <a:prstGeom prst="roundRect">
            <a:avLst>
              <a:gd name="adj" fmla="val 25000"/>
            </a:avLst>
          </a:prstGeom>
          <a:solidFill>
            <a:schemeClr val="accent1"/>
          </a:solidFill>
          <a:ln/>
        </p:spPr>
      </p:sp>
      <p:sp>
        <p:nvSpPr>
          <p:cNvPr id="22" name="content-4-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4-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4-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Live: comparing providers</a:t>
            </a:r>
            <a:endParaRPr lang="en-US" sz="3600" dirty="0"/>
          </a:p>
        </p:txBody>
      </p:sp>
      <p:sp>
        <p:nvSpPr>
          <p:cNvPr id="3" name="content-5-rect-1"/>
          <p:cNvSpPr/>
          <p:nvPr/>
        </p:nvSpPr>
        <p:spPr>
          <a:xfrm>
            <a:off x="384048" y="1161288"/>
            <a:ext cx="5358384" cy="3221234"/>
          </a:xfrm>
          <a:prstGeom prst="roundRect">
            <a:avLst>
              <a:gd name="adj" fmla="val 170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live site ranking three providers for GBP 10,000 by true total cost">    </p:cNvPr>
          <p:cNvPicPr>
            <a:picLocks noChangeAspect="1"/>
          </p:cNvPicPr>
          <p:nvPr/>
        </p:nvPicPr>
        <p:blipFill>
          <a:blip r:embed="rId1"/>
          <a:stretch>
            <a:fillRect/>
          </a:stretch>
        </p:blipFill>
        <p:spPr>
          <a:xfrm>
            <a:off x="457200" y="1234440"/>
            <a:ext cx="5212080" cy="3074930"/>
          </a:xfrm>
          <a:prstGeom prst="rect">
            <a:avLst/>
          </a:prstGeom>
        </p:spPr>
      </p:pic>
      <p:sp>
        <p:nvSpPr>
          <p:cNvPr id="5" name="content-5-text-3"/>
          <p:cNvSpPr txBox="1"/>
          <p:nvPr/>
        </p:nvSpPr>
        <p:spPr>
          <a:xfrm>
            <a:off x="457200" y="4437386"/>
            <a:ext cx="5212080" cy="457200"/>
          </a:xfrm>
          <a:prstGeom prst="rect">
            <a:avLst/>
          </a:prstGeom>
          <a:noFill/>
          <a:ln/>
        </p:spPr>
        <p:txBody>
          <a:bodyPr wrap="square" lIns="0" tIns="0" rIns="0" bIns="0" rtlCol="0" anchor="t"/>
          <a:lstStyle/>
          <a:p>
            <a:pPr algn="l" indent="0" marL="0">
              <a:buNone/>
            </a:pPr>
            <a:r>
              <a:rPr lang="en-US" sz="1000" dirty="0">
                <a:solidFill>
                  <a:schemeClr val="tx2"/>
                </a:solidFill>
              </a:rPr>
              <a:t>studyroute.bot-keep.xyz, GBP 10,000 UK tuition, run on 19 Oct 2026. Synthetic rates and fees.</a:t>
            </a:r>
            <a:endParaRPr lang="en-US" sz="1000" dirty="0"/>
          </a:p>
        </p:txBody>
      </p:sp>
      <p:sp>
        <p:nvSpPr>
          <p:cNvPr id="6" name="content-5-text-4"/>
          <p:cNvSpPr txBox="1"/>
          <p:nvPr/>
        </p:nvSpPr>
        <p:spPr>
          <a:xfrm>
            <a:off x="5943600" y="1234440"/>
            <a:ext cx="2743200" cy="457200"/>
          </a:xfrm>
          <a:prstGeom prst="rect">
            <a:avLst/>
          </a:prstGeom>
          <a:noFill/>
          <a:ln/>
        </p:spPr>
        <p:txBody>
          <a:bodyPr wrap="square" lIns="0" tIns="0" rIns="0" bIns="0" rtlCol="0" anchor="t"/>
          <a:lstStyle/>
          <a:p>
            <a:pPr algn="l" indent="0" marL="0">
              <a:buNone/>
            </a:pPr>
            <a:r>
              <a:rPr lang="en-US" sz="1300" b="1" dirty="0">
                <a:solidFill>
                  <a:schemeClr val="tx1"/>
                </a:solidFill>
              </a:rPr>
              <a:t>True total cost, as a share of the amount</a:t>
            </a:r>
            <a:endParaRPr lang="en-US" sz="1300" dirty="0"/>
          </a:p>
        </p:txBody>
      </p:sp>
      <p:sp>
        <p:nvSpPr>
          <p:cNvPr id="7" name="content-5-text-5"/>
          <p:cNvSpPr txBox="1"/>
          <p:nvPr/>
        </p:nvSpPr>
        <p:spPr>
          <a:xfrm>
            <a:off x="5943600" y="1783080"/>
            <a:ext cx="274320" cy="566928"/>
          </a:xfrm>
          <a:prstGeom prst="rect">
            <a:avLst/>
          </a:prstGeom>
          <a:noFill/>
          <a:ln/>
        </p:spPr>
        <p:txBody>
          <a:bodyPr wrap="square" lIns="0" tIns="0" rIns="0" bIns="0" rtlCol="0" anchor="ctr"/>
          <a:lstStyle/>
          <a:p>
            <a:pPr algn="l" indent="0" marL="0">
              <a:buNone/>
            </a:pPr>
            <a:r>
              <a:rPr lang="en-US" sz="1300" dirty="0">
                <a:solidFill>
                  <a:schemeClr val="tx1"/>
                </a:solidFill>
              </a:rPr>
              <a:t>B</a:t>
            </a:r>
            <a:endParaRPr lang="en-US" sz="1300" dirty="0"/>
          </a:p>
        </p:txBody>
      </p:sp>
      <p:sp>
        <p:nvSpPr>
          <p:cNvPr id="8" name="content-5-rect-6"/>
          <p:cNvSpPr/>
          <p:nvPr/>
        </p:nvSpPr>
        <p:spPr>
          <a:xfrm>
            <a:off x="6309360" y="1929384"/>
            <a:ext cx="963168" cy="274320"/>
          </a:xfrm>
          <a:prstGeom prst="roundRect">
            <a:avLst>
              <a:gd name="adj" fmla="val 10000"/>
            </a:avLst>
          </a:prstGeom>
          <a:solidFill>
            <a:schemeClr val="accent1"/>
          </a:solidFill>
          <a:ln/>
        </p:spPr>
      </p:sp>
      <p:sp>
        <p:nvSpPr>
          <p:cNvPr id="9" name="content-5-text-7"/>
          <p:cNvSpPr txBox="1"/>
          <p:nvPr/>
        </p:nvSpPr>
        <p:spPr>
          <a:xfrm>
            <a:off x="7345680" y="1929384"/>
            <a:ext cx="1097280" cy="274320"/>
          </a:xfrm>
          <a:prstGeom prst="rect">
            <a:avLst/>
          </a:prstGeom>
          <a:noFill/>
          <a:ln/>
        </p:spPr>
        <p:txBody>
          <a:bodyPr wrap="square" lIns="0" tIns="0" rIns="0" bIns="0" rtlCol="0" anchor="ctr"/>
          <a:lstStyle/>
          <a:p>
            <a:pPr algn="l" indent="0" marL="0">
              <a:buNone/>
            </a:pPr>
            <a:r>
              <a:rPr lang="en-US" sz="1200" b="1" dirty="0">
                <a:solidFill>
                  <a:schemeClr val="tx1"/>
                </a:solidFill>
              </a:rPr>
              <a:t>1.58%</a:t>
            </a:r>
            <a:endParaRPr lang="en-US" sz="1200" dirty="0"/>
          </a:p>
        </p:txBody>
      </p:sp>
      <p:sp>
        <p:nvSpPr>
          <p:cNvPr id="10" name="content-5-text-8"/>
          <p:cNvSpPr txBox="1"/>
          <p:nvPr/>
        </p:nvSpPr>
        <p:spPr>
          <a:xfrm>
            <a:off x="5943600" y="2350008"/>
            <a:ext cx="274320" cy="566928"/>
          </a:xfrm>
          <a:prstGeom prst="rect">
            <a:avLst/>
          </a:prstGeom>
          <a:noFill/>
          <a:ln/>
        </p:spPr>
        <p:txBody>
          <a:bodyPr wrap="square" lIns="0" tIns="0" rIns="0" bIns="0" rtlCol="0" anchor="ctr"/>
          <a:lstStyle/>
          <a:p>
            <a:pPr algn="l" indent="0" marL="0">
              <a:buNone/>
            </a:pPr>
            <a:r>
              <a:rPr lang="en-US" sz="1300" dirty="0">
                <a:solidFill>
                  <a:schemeClr val="tx1"/>
                </a:solidFill>
              </a:rPr>
              <a:t>C</a:t>
            </a:r>
            <a:endParaRPr lang="en-US" sz="1300" dirty="0"/>
          </a:p>
        </p:txBody>
      </p:sp>
      <p:sp>
        <p:nvSpPr>
          <p:cNvPr id="11" name="content-5-rect-9"/>
          <p:cNvSpPr/>
          <p:nvPr/>
        </p:nvSpPr>
        <p:spPr>
          <a:xfrm>
            <a:off x="6309360" y="2496312"/>
            <a:ext cx="993648" cy="274320"/>
          </a:xfrm>
          <a:prstGeom prst="roundRect">
            <a:avLst>
              <a:gd name="adj" fmla="val 10000"/>
            </a:avLst>
          </a:prstGeom>
          <a:solidFill>
            <a:schemeClr val="accent3"/>
          </a:solidFill>
          <a:ln/>
        </p:spPr>
      </p:sp>
      <p:sp>
        <p:nvSpPr>
          <p:cNvPr id="12" name="content-5-text-10"/>
          <p:cNvSpPr txBox="1"/>
          <p:nvPr/>
        </p:nvSpPr>
        <p:spPr>
          <a:xfrm>
            <a:off x="7376160" y="2496312"/>
            <a:ext cx="1097280" cy="274320"/>
          </a:xfrm>
          <a:prstGeom prst="rect">
            <a:avLst/>
          </a:prstGeom>
          <a:noFill/>
          <a:ln/>
        </p:spPr>
        <p:txBody>
          <a:bodyPr wrap="square" lIns="0" tIns="0" rIns="0" bIns="0" rtlCol="0" anchor="ctr"/>
          <a:lstStyle/>
          <a:p>
            <a:pPr algn="l" indent="0" marL="0">
              <a:buNone/>
            </a:pPr>
            <a:r>
              <a:rPr lang="en-US" sz="1200" b="1" dirty="0">
                <a:solidFill>
                  <a:schemeClr val="tx1"/>
                </a:solidFill>
              </a:rPr>
              <a:t>1.63%</a:t>
            </a:r>
            <a:endParaRPr lang="en-US" sz="1200" dirty="0"/>
          </a:p>
        </p:txBody>
      </p:sp>
      <p:sp>
        <p:nvSpPr>
          <p:cNvPr id="13" name="content-5-text-11"/>
          <p:cNvSpPr txBox="1"/>
          <p:nvPr/>
        </p:nvSpPr>
        <p:spPr>
          <a:xfrm>
            <a:off x="5943600" y="2916936"/>
            <a:ext cx="274320" cy="566928"/>
          </a:xfrm>
          <a:prstGeom prst="rect">
            <a:avLst/>
          </a:prstGeom>
          <a:noFill/>
          <a:ln/>
        </p:spPr>
        <p:txBody>
          <a:bodyPr wrap="square" lIns="0" tIns="0" rIns="0" bIns="0" rtlCol="0" anchor="ctr"/>
          <a:lstStyle/>
          <a:p>
            <a:pPr algn="l" indent="0" marL="0">
              <a:buNone/>
            </a:pPr>
            <a:r>
              <a:rPr lang="en-US" sz="1300" dirty="0">
                <a:solidFill>
                  <a:schemeClr val="tx1"/>
                </a:solidFill>
              </a:rPr>
              <a:t>A</a:t>
            </a:r>
            <a:endParaRPr lang="en-US" sz="1300" dirty="0"/>
          </a:p>
        </p:txBody>
      </p:sp>
      <p:sp>
        <p:nvSpPr>
          <p:cNvPr id="14" name="content-5-rect-12"/>
          <p:cNvSpPr/>
          <p:nvPr/>
        </p:nvSpPr>
        <p:spPr>
          <a:xfrm>
            <a:off x="6309360" y="3063240"/>
            <a:ext cx="1316736" cy="274320"/>
          </a:xfrm>
          <a:prstGeom prst="roundRect">
            <a:avLst>
              <a:gd name="adj" fmla="val 10000"/>
            </a:avLst>
          </a:prstGeom>
          <a:solidFill>
            <a:schemeClr val="accent4"/>
          </a:solidFill>
          <a:ln/>
        </p:spPr>
      </p:sp>
      <p:sp>
        <p:nvSpPr>
          <p:cNvPr id="15" name="content-5-text-13"/>
          <p:cNvSpPr txBox="1"/>
          <p:nvPr/>
        </p:nvSpPr>
        <p:spPr>
          <a:xfrm>
            <a:off x="7699248" y="3063240"/>
            <a:ext cx="1097280" cy="274320"/>
          </a:xfrm>
          <a:prstGeom prst="rect">
            <a:avLst/>
          </a:prstGeom>
          <a:noFill/>
          <a:ln/>
        </p:spPr>
        <p:txBody>
          <a:bodyPr wrap="square" lIns="0" tIns="0" rIns="0" bIns="0" rtlCol="0" anchor="ctr"/>
          <a:lstStyle/>
          <a:p>
            <a:pPr algn="l" indent="0" marL="0">
              <a:buNone/>
            </a:pPr>
            <a:r>
              <a:rPr lang="en-US" sz="1200" b="1" dirty="0">
                <a:solidFill>
                  <a:schemeClr val="tx1"/>
                </a:solidFill>
              </a:rPr>
              <a:t>2.16%</a:t>
            </a:r>
            <a:endParaRPr lang="en-US" sz="1200" dirty="0"/>
          </a:p>
        </p:txBody>
      </p:sp>
      <p:sp>
        <p:nvSpPr>
          <p:cNvPr id="16" name="content-5-text-14"/>
          <p:cNvSpPr txBox="1"/>
          <p:nvPr/>
        </p:nvSpPr>
        <p:spPr>
          <a:xfrm>
            <a:off x="5943600" y="3611880"/>
            <a:ext cx="2743200" cy="822960"/>
          </a:xfrm>
          <a:prstGeom prst="rect">
            <a:avLst/>
          </a:prstGeom>
          <a:noFill/>
          <a:ln/>
        </p:spPr>
        <p:txBody>
          <a:bodyPr wrap="square" lIns="0" tIns="0" rIns="0" bIns="0" rtlCol="0" anchor="t"/>
          <a:lstStyle/>
          <a:p>
            <a:pPr algn="l" indent="0" marL="0">
              <a:buNone/>
            </a:pPr>
            <a:r>
              <a:rPr lang="en-US" sz="1200" b="1" dirty="0">
                <a:solidFill>
                  <a:schemeClr val="tx1"/>
                </a:solidFill>
              </a:rPr>
              <a:t>C looks nearly as cheap, </a:t>
            </a:r>
            <a:pPr algn="l" indent="0" marL="0">
              <a:buNone/>
            </a:pPr>
            <a:r>
              <a:rPr lang="en-US" sz="1200" dirty="0">
                <a:solidFill>
                  <a:schemeClr val="tx1"/>
                </a:solidFill>
              </a:rPr>
              <a:t>but it is quoted as SHA: the university would receive GBP 35 less than the invoice.</a:t>
            </a:r>
            <a:endParaRPr lang="en-US" sz="1200" dirty="0"/>
          </a:p>
        </p:txBody>
      </p:sp>
      <p:sp>
        <p:nvSpPr>
          <p:cNvPr id="17" name="content-5-text-15"/>
          <p:cNvSpPr txBox="1"/>
          <p:nvPr/>
        </p:nvSpPr>
        <p:spPr>
          <a:xfrm>
            <a:off x="5943600" y="4434840"/>
            <a:ext cx="2743200" cy="365760"/>
          </a:xfrm>
          <a:prstGeom prst="rect">
            <a:avLst/>
          </a:prstGeom>
          <a:noFill/>
          <a:ln/>
        </p:spPr>
        <p:txBody>
          <a:bodyPr wrap="square" lIns="0" tIns="0" rIns="0" bIns="0" rtlCol="0" anchor="t"/>
          <a:lstStyle/>
          <a:p>
            <a:pPr algn="l" indent="0" marL="0">
              <a:buNone/>
            </a:pPr>
            <a:r>
              <a:rPr lang="en-US" sz="1000" dirty="0">
                <a:solidFill>
                  <a:schemeClr val="tx2"/>
                </a:solidFill>
              </a:rPr>
              <a:t>Same figures as test T01.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3977640"/>
            <a:ext cx="4846320" cy="91440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 saving of BDT 39,900 against sending monthly (synthetic).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Live: one sentence, read back</a:t>
            </a:r>
            <a:endParaRPr lang="en-US" sz="3600" dirty="0"/>
          </a:p>
        </p:txBody>
      </p:sp>
      <p:sp>
        <p:nvSpPr>
          <p:cNvPr id="3" name="content-7-rect-1"/>
          <p:cNvSpPr/>
          <p:nvPr/>
        </p:nvSpPr>
        <p:spPr>
          <a:xfrm>
            <a:off x="384048" y="1161288"/>
            <a:ext cx="3072384" cy="3412018"/>
          </a:xfrm>
          <a:prstGeom prst="roundRect">
            <a:avLst>
              <a:gd name="adj" fmla="val 1786"/>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The live assistant reading a request back before it plans">    </p:cNvPr>
          <p:cNvPicPr>
            <a:picLocks noChangeAspect="1"/>
          </p:cNvPicPr>
          <p:nvPr/>
        </p:nvPicPr>
        <p:blipFill>
          <a:blip r:embed="rId1"/>
          <a:stretch>
            <a:fillRect/>
          </a:stretch>
        </p:blipFill>
        <p:spPr>
          <a:xfrm>
            <a:off x="457200" y="1234440"/>
            <a:ext cx="2926080" cy="3265714"/>
          </a:xfrm>
          <a:prstGeom prst="rect">
            <a:avLst/>
          </a:prstGeom>
        </p:spPr>
      </p:pic>
      <p:sp>
        <p:nvSpPr>
          <p:cNvPr id="5" name="content-7-text-3"/>
          <p:cNvSpPr txBox="1"/>
          <p:nvPr/>
        </p:nvSpPr>
        <p:spPr>
          <a:xfrm>
            <a:off x="457200" y="4628170"/>
            <a:ext cx="2926080" cy="274320"/>
          </a:xfrm>
          <a:prstGeom prst="rect">
            <a:avLst/>
          </a:prstGeom>
          <a:noFill/>
          <a:ln/>
        </p:spPr>
        <p:txBody>
          <a:bodyPr wrap="square" lIns="0" tIns="0" rIns="0" bIns="0" rtlCol="0" anchor="t"/>
          <a:lstStyle/>
          <a:p>
            <a:pPr algn="l" indent="0" marL="0">
              <a:buNone/>
            </a:pPr>
            <a:r>
              <a:rPr lang="en-US" sz="1000" dirty="0">
                <a:solidFill>
                  <a:schemeClr val="tx2"/>
                </a:solidFill>
              </a:rPr>
              <a:t>Live, 19 Oct 2026: the assistant panel</a:t>
            </a:r>
            <a:endParaRPr lang="en-US" sz="1000" dirty="0"/>
          </a:p>
        </p:txBody>
      </p:sp>
      <p:sp>
        <p:nvSpPr>
          <p:cNvPr id="6" name="content-7-rect-4"/>
          <p:cNvSpPr/>
          <p:nvPr/>
        </p:nvSpPr>
        <p:spPr>
          <a:xfrm>
            <a:off x="3538728" y="1161288"/>
            <a:ext cx="2752344" cy="3353349"/>
          </a:xfrm>
          <a:prstGeom prst="roundRect">
            <a:avLst>
              <a:gd name="adj" fmla="val 199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7-image-5" descr="The live deadline planner working back from the due date">    </p:cNvPr>
          <p:cNvPicPr>
            <a:picLocks noChangeAspect="1"/>
          </p:cNvPicPr>
          <p:nvPr/>
        </p:nvPicPr>
        <p:blipFill>
          <a:blip r:embed="rId2"/>
          <a:stretch>
            <a:fillRect/>
          </a:stretch>
        </p:blipFill>
        <p:spPr>
          <a:xfrm>
            <a:off x="3611880" y="1234440"/>
            <a:ext cx="2606040" cy="3207045"/>
          </a:xfrm>
          <a:prstGeom prst="rect">
            <a:avLst/>
          </a:prstGeom>
        </p:spPr>
      </p:pic>
      <p:sp>
        <p:nvSpPr>
          <p:cNvPr id="8" name="content-7-text-6"/>
          <p:cNvSpPr txBox="1"/>
          <p:nvPr/>
        </p:nvSpPr>
        <p:spPr>
          <a:xfrm>
            <a:off x="3611880" y="4569501"/>
            <a:ext cx="2606040" cy="365760"/>
          </a:xfrm>
          <a:prstGeom prst="rect">
            <a:avLst/>
          </a:prstGeom>
          <a:noFill/>
          <a:ln/>
        </p:spPr>
        <p:txBody>
          <a:bodyPr wrap="square" lIns="0" tIns="0" rIns="0" bIns="0" rtlCol="0" anchor="t"/>
          <a:lstStyle/>
          <a:p>
            <a:pPr algn="l" indent="0" marL="0">
              <a:buNone/>
            </a:pPr>
            <a:r>
              <a:rPr lang="en-US" sz="1000" dirty="0">
                <a:solidFill>
                  <a:schemeClr val="tx2"/>
                </a:solidFill>
              </a:rPr>
              <a:t>Live deadline planner: due 1 Nov, send by 22 Oct, two calendars.</a:t>
            </a:r>
            <a:endParaRPr lang="en-US" sz="1000" dirty="0"/>
          </a:p>
        </p:txBody>
      </p:sp>
      <p:sp>
        <p:nvSpPr>
          <p:cNvPr id="9" name="content-7-rect-7"/>
          <p:cNvSpPr/>
          <p:nvPr/>
        </p:nvSpPr>
        <p:spPr>
          <a:xfrm>
            <a:off x="6492240" y="1234440"/>
            <a:ext cx="2194560" cy="1005840"/>
          </a:xfrm>
          <a:prstGeom prst="roundRect">
            <a:avLst>
              <a:gd name="adj" fmla="val 7273"/>
            </a:avLst>
          </a:prstGeom>
          <a:solidFill>
            <a:schemeClr val="bg2"/>
          </a:solidFill>
          <a:ln/>
        </p:spPr>
      </p:sp>
      <p:sp>
        <p:nvSpPr>
          <p:cNvPr id="10" name="content-7-rect-8"/>
          <p:cNvSpPr/>
          <p:nvPr/>
        </p:nvSpPr>
        <p:spPr>
          <a:xfrm>
            <a:off x="6492240" y="1234440"/>
            <a:ext cx="64008" cy="1005840"/>
          </a:xfrm>
          <a:prstGeom prst="rect">
            <a:avLst/>
          </a:prstGeom>
          <a:solidFill>
            <a:schemeClr val="accent1"/>
          </a:solidFill>
          <a:ln/>
        </p:spPr>
      </p:sp>
      <p:sp>
        <p:nvSpPr>
          <p:cNvPr id="11" name="content-7-text-9"/>
          <p:cNvSpPr txBox="1"/>
          <p:nvPr/>
        </p:nvSpPr>
        <p:spPr>
          <a:xfrm>
            <a:off x="6656832" y="1289304"/>
            <a:ext cx="1975104" cy="274320"/>
          </a:xfrm>
          <a:prstGeom prst="rect">
            <a:avLst/>
          </a:prstGeom>
          <a:noFill/>
          <a:ln/>
        </p:spPr>
        <p:txBody>
          <a:bodyPr wrap="square" lIns="0" tIns="0" rIns="0" bIns="0" rtlCol="0" anchor="ctr"/>
          <a:lstStyle/>
          <a:p>
            <a:pPr algn="l" indent="0" marL="0">
              <a:buNone/>
            </a:pPr>
            <a:r>
              <a:rPr lang="en-US" sz="1200" b="1" dirty="0">
                <a:solidFill>
                  <a:schemeClr val="tx1"/>
                </a:solidFill>
              </a:rPr>
              <a:t>1  The reader proposes</a:t>
            </a:r>
            <a:endParaRPr lang="en-US" sz="1200" dirty="0"/>
          </a:p>
        </p:txBody>
      </p:sp>
      <p:sp>
        <p:nvSpPr>
          <p:cNvPr id="12" name="content-7-text-10"/>
          <p:cNvSpPr txBox="1"/>
          <p:nvPr/>
        </p:nvSpPr>
        <p:spPr>
          <a:xfrm>
            <a:off x="6656832" y="1581912"/>
            <a:ext cx="1975104" cy="640080"/>
          </a:xfrm>
          <a:prstGeom prst="rect">
            <a:avLst/>
          </a:prstGeom>
          <a:noFill/>
          <a:ln/>
        </p:spPr>
        <p:txBody>
          <a:bodyPr wrap="square" lIns="0" tIns="0" rIns="0" bIns="0" rtlCol="0" anchor="t"/>
          <a:lstStyle/>
          <a:p>
            <a:pPr algn="l" indent="0" marL="0">
              <a:buNone/>
            </a:pPr>
            <a:r>
              <a:rPr lang="en-US" sz="1000" dirty="0">
                <a:solidFill>
                  <a:schemeClr val="tx2"/>
                </a:solidFill>
              </a:rPr>
              <a:t>It marks the amount, currency and date. Plain code turns them into values.</a:t>
            </a:r>
            <a:endParaRPr lang="en-US" sz="1000" dirty="0"/>
          </a:p>
        </p:txBody>
      </p:sp>
      <p:sp>
        <p:nvSpPr>
          <p:cNvPr id="13" name="content-7-rect-11"/>
          <p:cNvSpPr/>
          <p:nvPr/>
        </p:nvSpPr>
        <p:spPr>
          <a:xfrm>
            <a:off x="6492240" y="2331720"/>
            <a:ext cx="2194560" cy="1005840"/>
          </a:xfrm>
          <a:prstGeom prst="roundRect">
            <a:avLst>
              <a:gd name="adj" fmla="val 7273"/>
            </a:avLst>
          </a:prstGeom>
          <a:solidFill>
            <a:schemeClr val="bg2"/>
          </a:solidFill>
          <a:ln/>
        </p:spPr>
      </p:sp>
      <p:sp>
        <p:nvSpPr>
          <p:cNvPr id="14" name="content-7-rect-12"/>
          <p:cNvSpPr/>
          <p:nvPr/>
        </p:nvSpPr>
        <p:spPr>
          <a:xfrm>
            <a:off x="6492240" y="2331720"/>
            <a:ext cx="64008" cy="1005840"/>
          </a:xfrm>
          <a:prstGeom prst="rect">
            <a:avLst/>
          </a:prstGeom>
          <a:solidFill>
            <a:schemeClr val="accent2"/>
          </a:solidFill>
          <a:ln/>
        </p:spPr>
      </p:sp>
      <p:sp>
        <p:nvSpPr>
          <p:cNvPr id="15" name="content-7-text-13"/>
          <p:cNvSpPr txBox="1"/>
          <p:nvPr/>
        </p:nvSpPr>
        <p:spPr>
          <a:xfrm>
            <a:off x="6656832" y="2386584"/>
            <a:ext cx="1975104" cy="274320"/>
          </a:xfrm>
          <a:prstGeom prst="rect">
            <a:avLst/>
          </a:prstGeom>
          <a:noFill/>
          <a:ln/>
        </p:spPr>
        <p:txBody>
          <a:bodyPr wrap="square" lIns="0" tIns="0" rIns="0" bIns="0" rtlCol="0" anchor="ctr"/>
          <a:lstStyle/>
          <a:p>
            <a:pPr algn="l" indent="0" marL="0">
              <a:buNone/>
            </a:pPr>
            <a:r>
              <a:rPr lang="en-US" sz="1200" b="1" dirty="0">
                <a:solidFill>
                  <a:schemeClr val="tx1"/>
                </a:solidFill>
              </a:rPr>
              <a:t>2  You read it back</a:t>
            </a:r>
            <a:endParaRPr lang="en-US" sz="1200" dirty="0"/>
          </a:p>
        </p:txBody>
      </p:sp>
      <p:sp>
        <p:nvSpPr>
          <p:cNvPr id="16" name="content-7-text-14"/>
          <p:cNvSpPr txBox="1"/>
          <p:nvPr/>
        </p:nvSpPr>
        <p:spPr>
          <a:xfrm>
            <a:off x="6656832" y="2679192"/>
            <a:ext cx="1975104" cy="640080"/>
          </a:xfrm>
          <a:prstGeom prst="rect">
            <a:avLst/>
          </a:prstGeom>
          <a:noFill/>
          <a:ln/>
        </p:spPr>
        <p:txBody>
          <a:bodyPr wrap="square" lIns="0" tIns="0" rIns="0" bIns="0" rtlCol="0" anchor="t"/>
          <a:lstStyle/>
          <a:p>
            <a:pPr algn="l" indent="0" marL="0">
              <a:buNone/>
            </a:pPr>
            <a:r>
              <a:rPr lang="en-US" sz="1000" dirty="0">
                <a:solidFill>
                  <a:schemeClr val="tx2"/>
                </a:solidFill>
              </a:rPr>
              <a:t>Mandatory: say yes, or tell it what to change.</a:t>
            </a:r>
            <a:endParaRPr lang="en-US" sz="1000" dirty="0"/>
          </a:p>
        </p:txBody>
      </p:sp>
      <p:sp>
        <p:nvSpPr>
          <p:cNvPr id="17" name="content-7-rect-15"/>
          <p:cNvSpPr/>
          <p:nvPr/>
        </p:nvSpPr>
        <p:spPr>
          <a:xfrm>
            <a:off x="6492240" y="3429000"/>
            <a:ext cx="2194560" cy="1005840"/>
          </a:xfrm>
          <a:prstGeom prst="roundRect">
            <a:avLst>
              <a:gd name="adj" fmla="val 7273"/>
            </a:avLst>
          </a:prstGeom>
          <a:solidFill>
            <a:schemeClr val="bg2"/>
          </a:solidFill>
          <a:ln/>
        </p:spPr>
      </p:sp>
      <p:sp>
        <p:nvSpPr>
          <p:cNvPr id="18" name="content-7-rect-16"/>
          <p:cNvSpPr/>
          <p:nvPr/>
        </p:nvSpPr>
        <p:spPr>
          <a:xfrm>
            <a:off x="6492240" y="3429000"/>
            <a:ext cx="64008" cy="1005840"/>
          </a:xfrm>
          <a:prstGeom prst="rect">
            <a:avLst/>
          </a:prstGeom>
          <a:solidFill>
            <a:schemeClr val="accent1"/>
          </a:solidFill>
          <a:ln/>
        </p:spPr>
      </p:sp>
      <p:sp>
        <p:nvSpPr>
          <p:cNvPr id="19" name="content-7-text-17"/>
          <p:cNvSpPr txBox="1"/>
          <p:nvPr/>
        </p:nvSpPr>
        <p:spPr>
          <a:xfrm>
            <a:off x="6656832" y="3483864"/>
            <a:ext cx="1975104" cy="274320"/>
          </a:xfrm>
          <a:prstGeom prst="rect">
            <a:avLst/>
          </a:prstGeom>
          <a:noFill/>
          <a:ln/>
        </p:spPr>
        <p:txBody>
          <a:bodyPr wrap="square" lIns="0" tIns="0" rIns="0" bIns="0" rtlCol="0" anchor="ctr"/>
          <a:lstStyle/>
          <a:p>
            <a:pPr algn="l" indent="0" marL="0">
              <a:buNone/>
            </a:pPr>
            <a:r>
              <a:rPr lang="en-US" sz="1200" b="1" dirty="0">
                <a:solidFill>
                  <a:schemeClr val="tx1"/>
                </a:solidFill>
              </a:rPr>
              <a:t>3  Only then, a plan</a:t>
            </a:r>
            <a:endParaRPr lang="en-US" sz="1200" dirty="0"/>
          </a:p>
        </p:txBody>
      </p:sp>
      <p:sp>
        <p:nvSpPr>
          <p:cNvPr id="20" name="content-7-text-18"/>
          <p:cNvSpPr txBox="1"/>
          <p:nvPr/>
        </p:nvSpPr>
        <p:spPr>
          <a:xfrm>
            <a:off x="6656832" y="3776472"/>
            <a:ext cx="1975104" cy="640080"/>
          </a:xfrm>
          <a:prstGeom prst="rect">
            <a:avLst/>
          </a:prstGeom>
          <a:noFill/>
          <a:ln/>
        </p:spPr>
        <p:txBody>
          <a:bodyPr wrap="square" lIns="0" tIns="0" rIns="0" bIns="0" rtlCol="0" anchor="t"/>
          <a:lstStyle/>
          <a:p>
            <a:pPr algn="l" indent="0" marL="0">
              <a:buNone/>
            </a:pPr>
            <a:r>
              <a:rPr lang="en-US" sz="1000" dirty="0">
                <a:solidFill>
                  <a:schemeClr val="tx2"/>
                </a:solidFill>
              </a:rPr>
              <a:t>From engine facts. Only you can approve, with a fresh MFA code.</a:t>
            </a:r>
            <a:endParaRPr lang="en-US" sz="1000" dirty="0"/>
          </a:p>
        </p:txBody>
      </p:sp>
      <p:sp>
        <p:nvSpPr>
          <p:cNvPr id="21" name="content-7-text-19"/>
          <p:cNvSpPr txBox="1"/>
          <p:nvPr/>
        </p:nvSpPr>
        <p:spPr>
          <a:xfrm>
            <a:off x="6492240" y="4553712"/>
            <a:ext cx="2194560" cy="365760"/>
          </a:xfrm>
          <a:prstGeom prst="rect">
            <a:avLst/>
          </a:prstGeom>
          <a:noFill/>
          <a:ln/>
        </p:spPr>
        <p:txBody>
          <a:bodyPr wrap="square" lIns="0" tIns="0" rIns="0" bIns="0" rtlCol="0" anchor="t"/>
          <a:lstStyle/>
          <a:p>
            <a:pPr algn="l" indent="0" marL="0">
              <a:buNone/>
            </a:pPr>
            <a:r>
              <a:rPr lang="en-US" sz="1000" b="1" dirty="0">
                <a:solidFill>
                  <a:schemeClr val="accent3"/>
                </a:solidFill>
              </a:rPr>
              <a:t>The assistant cannot approve, submit or cancel.</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Everything a parent can do</a:t>
            </a:r>
            <a:endParaRPr lang="en-US" sz="3600" dirty="0"/>
          </a:p>
        </p:txBody>
      </p:sp>
      <p:sp>
        <p:nvSpPr>
          <p:cNvPr id="3" name="content-8-rect-1"/>
          <p:cNvSpPr/>
          <p:nvPr/>
        </p:nvSpPr>
        <p:spPr>
          <a:xfrm>
            <a:off x="457200" y="1207008"/>
            <a:ext cx="2651760" cy="512064"/>
          </a:xfrm>
          <a:prstGeom prst="roundRect">
            <a:avLst>
              <a:gd name="adj" fmla="val 14286"/>
            </a:avLst>
          </a:prstGeom>
          <a:solidFill>
            <a:schemeClr val="bg2"/>
          </a:solidFill>
          <a:ln/>
        </p:spPr>
      </p:sp>
      <p:sp>
        <p:nvSpPr>
          <p:cNvPr id="4" name="content-8-rect-2"/>
          <p:cNvSpPr/>
          <p:nvPr/>
        </p:nvSpPr>
        <p:spPr>
          <a:xfrm>
            <a:off x="457200" y="1207008"/>
            <a:ext cx="54864" cy="512064"/>
          </a:xfrm>
          <a:prstGeom prst="rect">
            <a:avLst/>
          </a:prstGeom>
          <a:solidFill>
            <a:schemeClr val="accent1"/>
          </a:solidFill>
          <a:ln/>
        </p:spPr>
      </p:sp>
      <p:sp>
        <p:nvSpPr>
          <p:cNvPr id="5" name="content-8-text-3"/>
          <p:cNvSpPr txBox="1"/>
          <p:nvPr/>
        </p:nvSpPr>
        <p:spPr>
          <a:xfrm>
            <a:off x="603504" y="1234440"/>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Compare</a:t>
            </a:r>
            <a:endParaRPr lang="en-US" sz="1100" dirty="0"/>
          </a:p>
        </p:txBody>
      </p:sp>
      <p:sp>
        <p:nvSpPr>
          <p:cNvPr id="6" name="content-8-text-4"/>
          <p:cNvSpPr txBox="1"/>
          <p:nvPr/>
        </p:nvSpPr>
        <p:spPr>
          <a:xfrm>
            <a:off x="603504" y="1435608"/>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Providers by true total cost, with a short-payment warning</a:t>
            </a:r>
            <a:endParaRPr lang="en-US" sz="900" dirty="0"/>
          </a:p>
        </p:txBody>
      </p:sp>
      <p:sp>
        <p:nvSpPr>
          <p:cNvPr id="7" name="content-8-rect-5"/>
          <p:cNvSpPr/>
          <p:nvPr/>
        </p:nvSpPr>
        <p:spPr>
          <a:xfrm>
            <a:off x="3200400" y="1207008"/>
            <a:ext cx="2651760" cy="512064"/>
          </a:xfrm>
          <a:prstGeom prst="roundRect">
            <a:avLst>
              <a:gd name="adj" fmla="val 14286"/>
            </a:avLst>
          </a:prstGeom>
          <a:solidFill>
            <a:schemeClr val="bg2"/>
          </a:solidFill>
          <a:ln/>
        </p:spPr>
      </p:sp>
      <p:sp>
        <p:nvSpPr>
          <p:cNvPr id="8" name="content-8-rect-6"/>
          <p:cNvSpPr/>
          <p:nvPr/>
        </p:nvSpPr>
        <p:spPr>
          <a:xfrm>
            <a:off x="3200400" y="1207008"/>
            <a:ext cx="54864" cy="512064"/>
          </a:xfrm>
          <a:prstGeom prst="rect">
            <a:avLst/>
          </a:prstGeom>
          <a:solidFill>
            <a:schemeClr val="accent1"/>
          </a:solidFill>
          <a:ln/>
        </p:spPr>
      </p:sp>
      <p:sp>
        <p:nvSpPr>
          <p:cNvPr id="9" name="content-8-text-7"/>
          <p:cNvSpPr txBox="1"/>
          <p:nvPr/>
        </p:nvSpPr>
        <p:spPr>
          <a:xfrm>
            <a:off x="3346704" y="1234440"/>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Plan the date</a:t>
            </a:r>
            <a:endParaRPr lang="en-US" sz="1100" dirty="0"/>
          </a:p>
        </p:txBody>
      </p:sp>
      <p:sp>
        <p:nvSpPr>
          <p:cNvPr id="10" name="content-8-text-8"/>
          <p:cNvSpPr txBox="1"/>
          <p:nvPr/>
        </p:nvSpPr>
        <p:spPr>
          <a:xfrm>
            <a:off x="3346704" y="1435608"/>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Two calendars and a latest send-by date</a:t>
            </a:r>
            <a:endParaRPr lang="en-US" sz="900" dirty="0"/>
          </a:p>
        </p:txBody>
      </p:sp>
      <p:sp>
        <p:nvSpPr>
          <p:cNvPr id="11" name="content-8-rect-9"/>
          <p:cNvSpPr/>
          <p:nvPr/>
        </p:nvSpPr>
        <p:spPr>
          <a:xfrm>
            <a:off x="457200" y="1792224"/>
            <a:ext cx="2651760" cy="512064"/>
          </a:xfrm>
          <a:prstGeom prst="roundRect">
            <a:avLst>
              <a:gd name="adj" fmla="val 14286"/>
            </a:avLst>
          </a:prstGeom>
          <a:solidFill>
            <a:schemeClr val="bg2"/>
          </a:solidFill>
          <a:ln/>
        </p:spPr>
      </p:sp>
      <p:sp>
        <p:nvSpPr>
          <p:cNvPr id="12" name="content-8-rect-10"/>
          <p:cNvSpPr/>
          <p:nvPr/>
        </p:nvSpPr>
        <p:spPr>
          <a:xfrm>
            <a:off x="457200" y="1792224"/>
            <a:ext cx="54864" cy="512064"/>
          </a:xfrm>
          <a:prstGeom prst="rect">
            <a:avLst/>
          </a:prstGeom>
          <a:solidFill>
            <a:schemeClr val="accent1"/>
          </a:solidFill>
          <a:ln/>
        </p:spPr>
      </p:sp>
      <p:sp>
        <p:nvSpPr>
          <p:cNvPr id="13" name="content-8-text-11"/>
          <p:cNvSpPr txBox="1"/>
          <p:nvPr/>
        </p:nvSpPr>
        <p:spPr>
          <a:xfrm>
            <a:off x="603504" y="1819656"/>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Send plan</a:t>
            </a:r>
            <a:endParaRPr lang="en-US" sz="1100" dirty="0"/>
          </a:p>
        </p:txBody>
      </p:sp>
      <p:sp>
        <p:nvSpPr>
          <p:cNvPr id="14" name="content-8-text-12"/>
          <p:cNvSpPr txBox="1"/>
          <p:nvPr/>
        </p:nvSpPr>
        <p:spPr>
          <a:xfrm>
            <a:off x="603504" y="2020824"/>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Monthly, quarterly or all at once: the cheapest way</a:t>
            </a:r>
            <a:endParaRPr lang="en-US" sz="900" dirty="0"/>
          </a:p>
        </p:txBody>
      </p:sp>
      <p:sp>
        <p:nvSpPr>
          <p:cNvPr id="15" name="content-8-rect-13"/>
          <p:cNvSpPr/>
          <p:nvPr/>
        </p:nvSpPr>
        <p:spPr>
          <a:xfrm>
            <a:off x="3200400" y="1792224"/>
            <a:ext cx="2651760" cy="512064"/>
          </a:xfrm>
          <a:prstGeom prst="roundRect">
            <a:avLst>
              <a:gd name="adj" fmla="val 14286"/>
            </a:avLst>
          </a:prstGeom>
          <a:solidFill>
            <a:schemeClr val="bg2"/>
          </a:solidFill>
          <a:ln/>
        </p:spPr>
      </p:sp>
      <p:sp>
        <p:nvSpPr>
          <p:cNvPr id="16" name="content-8-rect-14"/>
          <p:cNvSpPr/>
          <p:nvPr/>
        </p:nvSpPr>
        <p:spPr>
          <a:xfrm>
            <a:off x="3200400" y="1792224"/>
            <a:ext cx="54864" cy="512064"/>
          </a:xfrm>
          <a:prstGeom prst="rect">
            <a:avLst/>
          </a:prstGeom>
          <a:solidFill>
            <a:schemeClr val="accent1"/>
          </a:solidFill>
          <a:ln/>
        </p:spPr>
      </p:sp>
      <p:sp>
        <p:nvSpPr>
          <p:cNvPr id="17" name="content-8-text-15"/>
          <p:cNvSpPr txBox="1"/>
          <p:nvPr/>
        </p:nvSpPr>
        <p:spPr>
          <a:xfrm>
            <a:off x="3346704" y="1819656"/>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Stress test</a:t>
            </a:r>
            <a:endParaRPr lang="en-US" sz="1100" dirty="0"/>
          </a:p>
        </p:txBody>
      </p:sp>
      <p:sp>
        <p:nvSpPr>
          <p:cNvPr id="18" name="content-8-text-16"/>
          <p:cNvSpPr txBox="1"/>
          <p:nvPr/>
        </p:nvSpPr>
        <p:spPr>
          <a:xfrm>
            <a:off x="3346704" y="2020824"/>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The same payment if the taka drops 5 to 20%</a:t>
            </a:r>
            <a:endParaRPr lang="en-US" sz="900" dirty="0"/>
          </a:p>
        </p:txBody>
      </p:sp>
      <p:sp>
        <p:nvSpPr>
          <p:cNvPr id="19" name="content-8-rect-17"/>
          <p:cNvSpPr/>
          <p:nvPr/>
        </p:nvSpPr>
        <p:spPr>
          <a:xfrm>
            <a:off x="457200" y="2377440"/>
            <a:ext cx="2651760" cy="512064"/>
          </a:xfrm>
          <a:prstGeom prst="roundRect">
            <a:avLst>
              <a:gd name="adj" fmla="val 14286"/>
            </a:avLst>
          </a:prstGeom>
          <a:solidFill>
            <a:schemeClr val="bg2"/>
          </a:solidFill>
          <a:ln/>
        </p:spPr>
      </p:sp>
      <p:sp>
        <p:nvSpPr>
          <p:cNvPr id="20" name="content-8-rect-18"/>
          <p:cNvSpPr/>
          <p:nvPr/>
        </p:nvSpPr>
        <p:spPr>
          <a:xfrm>
            <a:off x="457200" y="2377440"/>
            <a:ext cx="54864" cy="512064"/>
          </a:xfrm>
          <a:prstGeom prst="rect">
            <a:avLst/>
          </a:prstGeom>
          <a:solidFill>
            <a:schemeClr val="accent1"/>
          </a:solidFill>
          <a:ln/>
        </p:spPr>
      </p:sp>
      <p:sp>
        <p:nvSpPr>
          <p:cNvPr id="21" name="content-8-text-19"/>
          <p:cNvSpPr txBox="1"/>
          <p:nvPr/>
        </p:nvSpPr>
        <p:spPr>
          <a:xfrm>
            <a:off x="603504" y="2404872"/>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Documents</a:t>
            </a:r>
            <a:endParaRPr lang="en-US" sz="1100" dirty="0"/>
          </a:p>
        </p:txBody>
      </p:sp>
      <p:sp>
        <p:nvSpPr>
          <p:cNvPr id="22" name="content-8-text-20"/>
          <p:cNvSpPr txBox="1"/>
          <p:nvPr/>
        </p:nvSpPr>
        <p:spPr>
          <a:xfrm>
            <a:off x="603504" y="2606040"/>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What the bank may ask for, by destination</a:t>
            </a:r>
            <a:endParaRPr lang="en-US" sz="900" dirty="0"/>
          </a:p>
        </p:txBody>
      </p:sp>
      <p:sp>
        <p:nvSpPr>
          <p:cNvPr id="23" name="content-8-rect-21"/>
          <p:cNvSpPr/>
          <p:nvPr/>
        </p:nvSpPr>
        <p:spPr>
          <a:xfrm>
            <a:off x="3200400" y="2377440"/>
            <a:ext cx="2651760" cy="512064"/>
          </a:xfrm>
          <a:prstGeom prst="roundRect">
            <a:avLst>
              <a:gd name="adj" fmla="val 14286"/>
            </a:avLst>
          </a:prstGeom>
          <a:solidFill>
            <a:schemeClr val="bg2"/>
          </a:solidFill>
          <a:ln/>
        </p:spPr>
      </p:sp>
      <p:sp>
        <p:nvSpPr>
          <p:cNvPr id="24" name="content-8-rect-22"/>
          <p:cNvSpPr/>
          <p:nvPr/>
        </p:nvSpPr>
        <p:spPr>
          <a:xfrm>
            <a:off x="3200400" y="2377440"/>
            <a:ext cx="54864" cy="512064"/>
          </a:xfrm>
          <a:prstGeom prst="rect">
            <a:avLst/>
          </a:prstGeom>
          <a:solidFill>
            <a:schemeClr val="accent1"/>
          </a:solidFill>
          <a:ln/>
        </p:spPr>
      </p:sp>
      <p:sp>
        <p:nvSpPr>
          <p:cNvPr id="25" name="content-8-text-23"/>
          <p:cNvSpPr txBox="1"/>
          <p:nvPr/>
        </p:nvSpPr>
        <p:spPr>
          <a:xfrm>
            <a:off x="3346704" y="2404872"/>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Recipients</a:t>
            </a:r>
            <a:endParaRPr lang="en-US" sz="1100" dirty="0"/>
          </a:p>
        </p:txBody>
      </p:sp>
      <p:sp>
        <p:nvSpPr>
          <p:cNvPr id="26" name="content-8-text-24"/>
          <p:cNvSpPr txBox="1"/>
          <p:nvPr/>
        </p:nvSpPr>
        <p:spPr>
          <a:xfrm>
            <a:off x="3346704" y="2606040"/>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Allowlisted with a fresh MFA code first</a:t>
            </a:r>
            <a:endParaRPr lang="en-US" sz="900" dirty="0"/>
          </a:p>
        </p:txBody>
      </p:sp>
      <p:sp>
        <p:nvSpPr>
          <p:cNvPr id="27" name="content-8-rect-25"/>
          <p:cNvSpPr/>
          <p:nvPr/>
        </p:nvSpPr>
        <p:spPr>
          <a:xfrm>
            <a:off x="457200" y="2962656"/>
            <a:ext cx="2651760" cy="512064"/>
          </a:xfrm>
          <a:prstGeom prst="roundRect">
            <a:avLst>
              <a:gd name="adj" fmla="val 14286"/>
            </a:avLst>
          </a:prstGeom>
          <a:solidFill>
            <a:schemeClr val="bg2"/>
          </a:solidFill>
          <a:ln/>
        </p:spPr>
      </p:sp>
      <p:sp>
        <p:nvSpPr>
          <p:cNvPr id="28" name="content-8-rect-26"/>
          <p:cNvSpPr/>
          <p:nvPr/>
        </p:nvSpPr>
        <p:spPr>
          <a:xfrm>
            <a:off x="457200" y="2962656"/>
            <a:ext cx="54864" cy="512064"/>
          </a:xfrm>
          <a:prstGeom prst="rect">
            <a:avLst/>
          </a:prstGeom>
          <a:solidFill>
            <a:schemeClr val="accent1"/>
          </a:solidFill>
          <a:ln/>
        </p:spPr>
      </p:sp>
      <p:sp>
        <p:nvSpPr>
          <p:cNvPr id="29" name="content-8-text-27"/>
          <p:cNvSpPr txBox="1"/>
          <p:nvPr/>
        </p:nvSpPr>
        <p:spPr>
          <a:xfrm>
            <a:off x="603504" y="2990088"/>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Approve</a:t>
            </a:r>
            <a:endParaRPr lang="en-US" sz="1100" dirty="0"/>
          </a:p>
        </p:txBody>
      </p:sp>
      <p:sp>
        <p:nvSpPr>
          <p:cNvPr id="30" name="content-8-text-28"/>
          <p:cNvSpPr txBox="1"/>
          <p:nvPr/>
        </p:nvSpPr>
        <p:spPr>
          <a:xfrm>
            <a:off x="603504" y="3191256"/>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One MFA code bound to this payment. Only the parent.</a:t>
            </a:r>
            <a:endParaRPr lang="en-US" sz="900" dirty="0"/>
          </a:p>
        </p:txBody>
      </p:sp>
      <p:sp>
        <p:nvSpPr>
          <p:cNvPr id="31" name="content-8-rect-29"/>
          <p:cNvSpPr/>
          <p:nvPr/>
        </p:nvSpPr>
        <p:spPr>
          <a:xfrm>
            <a:off x="3200400" y="2962656"/>
            <a:ext cx="2651760" cy="512064"/>
          </a:xfrm>
          <a:prstGeom prst="roundRect">
            <a:avLst>
              <a:gd name="adj" fmla="val 14286"/>
            </a:avLst>
          </a:prstGeom>
          <a:solidFill>
            <a:schemeClr val="bg2"/>
          </a:solidFill>
          <a:ln/>
        </p:spPr>
      </p:sp>
      <p:sp>
        <p:nvSpPr>
          <p:cNvPr id="32" name="content-8-rect-30"/>
          <p:cNvSpPr/>
          <p:nvPr/>
        </p:nvSpPr>
        <p:spPr>
          <a:xfrm>
            <a:off x="3200400" y="2962656"/>
            <a:ext cx="54864" cy="512064"/>
          </a:xfrm>
          <a:prstGeom prst="rect">
            <a:avLst/>
          </a:prstGeom>
          <a:solidFill>
            <a:schemeClr val="accent1"/>
          </a:solidFill>
          <a:ln/>
        </p:spPr>
      </p:sp>
      <p:sp>
        <p:nvSpPr>
          <p:cNvPr id="33" name="content-8-text-31"/>
          <p:cNvSpPr txBox="1"/>
          <p:nvPr/>
        </p:nvSpPr>
        <p:spPr>
          <a:xfrm>
            <a:off x="3346704" y="2990088"/>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Track and report</a:t>
            </a:r>
            <a:endParaRPr lang="en-US" sz="1100" dirty="0"/>
          </a:p>
        </p:txBody>
      </p:sp>
      <p:sp>
        <p:nvSpPr>
          <p:cNvPr id="34" name="content-8-text-32"/>
          <p:cNvSpPr txBox="1"/>
          <p:nvPr/>
        </p:nvSpPr>
        <p:spPr>
          <a:xfrm>
            <a:off x="3346704" y="3191256"/>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To SETTLED, then a sealed compliance report</a:t>
            </a:r>
            <a:endParaRPr lang="en-US" sz="900" dirty="0"/>
          </a:p>
        </p:txBody>
      </p:sp>
      <p:sp>
        <p:nvSpPr>
          <p:cNvPr id="35" name="content-8-rect-33"/>
          <p:cNvSpPr/>
          <p:nvPr/>
        </p:nvSpPr>
        <p:spPr>
          <a:xfrm>
            <a:off x="457200" y="3547872"/>
            <a:ext cx="2651760" cy="512064"/>
          </a:xfrm>
          <a:prstGeom prst="roundRect">
            <a:avLst>
              <a:gd name="adj" fmla="val 14286"/>
            </a:avLst>
          </a:prstGeom>
          <a:solidFill>
            <a:schemeClr val="bg2"/>
          </a:solidFill>
          <a:ln/>
        </p:spPr>
      </p:sp>
      <p:sp>
        <p:nvSpPr>
          <p:cNvPr id="36" name="content-8-rect-34"/>
          <p:cNvSpPr/>
          <p:nvPr/>
        </p:nvSpPr>
        <p:spPr>
          <a:xfrm>
            <a:off x="457200" y="3547872"/>
            <a:ext cx="54864" cy="512064"/>
          </a:xfrm>
          <a:prstGeom prst="rect">
            <a:avLst/>
          </a:prstGeom>
          <a:solidFill>
            <a:schemeClr val="accent1"/>
          </a:solidFill>
          <a:ln/>
        </p:spPr>
      </p:sp>
      <p:sp>
        <p:nvSpPr>
          <p:cNvPr id="37" name="content-8-text-35"/>
          <p:cNvSpPr txBox="1"/>
          <p:nvPr/>
        </p:nvSpPr>
        <p:spPr>
          <a:xfrm>
            <a:off x="603504" y="3575304"/>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Smart escrow</a:t>
            </a:r>
            <a:endParaRPr lang="en-US" sz="1100" dirty="0"/>
          </a:p>
        </p:txBody>
      </p:sp>
      <p:sp>
        <p:nvSpPr>
          <p:cNvPr id="38" name="content-8-text-36"/>
          <p:cNvSpPr txBox="1"/>
          <p:nvPr/>
        </p:nvSpPr>
        <p:spPr>
          <a:xfrm>
            <a:off x="603504" y="3776472"/>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Tranches paid on dates, on a simulated chain</a:t>
            </a:r>
            <a:endParaRPr lang="en-US" sz="900" dirty="0"/>
          </a:p>
        </p:txBody>
      </p:sp>
      <p:sp>
        <p:nvSpPr>
          <p:cNvPr id="39" name="content-8-rect-37"/>
          <p:cNvSpPr/>
          <p:nvPr/>
        </p:nvSpPr>
        <p:spPr>
          <a:xfrm>
            <a:off x="3200400" y="3547872"/>
            <a:ext cx="2651760" cy="512064"/>
          </a:xfrm>
          <a:prstGeom prst="roundRect">
            <a:avLst>
              <a:gd name="adj" fmla="val 14286"/>
            </a:avLst>
          </a:prstGeom>
          <a:solidFill>
            <a:schemeClr val="bg2"/>
          </a:solidFill>
          <a:ln/>
        </p:spPr>
      </p:sp>
      <p:sp>
        <p:nvSpPr>
          <p:cNvPr id="40" name="content-8-rect-38"/>
          <p:cNvSpPr/>
          <p:nvPr/>
        </p:nvSpPr>
        <p:spPr>
          <a:xfrm>
            <a:off x="3200400" y="3547872"/>
            <a:ext cx="54864" cy="512064"/>
          </a:xfrm>
          <a:prstGeom prst="rect">
            <a:avLst/>
          </a:prstGeom>
          <a:solidFill>
            <a:schemeClr val="accent1"/>
          </a:solidFill>
          <a:ln/>
        </p:spPr>
      </p:sp>
      <p:sp>
        <p:nvSpPr>
          <p:cNvPr id="41" name="content-8-text-39"/>
          <p:cNvSpPr txBox="1"/>
          <p:nvPr/>
        </p:nvSpPr>
        <p:spPr>
          <a:xfrm>
            <a:off x="3346704" y="3575304"/>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Bank network</a:t>
            </a:r>
            <a:endParaRPr lang="en-US" sz="1100" dirty="0"/>
          </a:p>
        </p:txBody>
      </p:sp>
      <p:sp>
        <p:nvSpPr>
          <p:cNvPr id="42" name="content-8-text-40"/>
          <p:cNvSpPr txBox="1"/>
          <p:nvPr/>
        </p:nvSpPr>
        <p:spPr>
          <a:xfrm>
            <a:off x="3346704" y="3776472"/>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The simulated hops of an international transfer</a:t>
            </a:r>
            <a:endParaRPr lang="en-US" sz="900" dirty="0"/>
          </a:p>
        </p:txBody>
      </p:sp>
      <p:sp>
        <p:nvSpPr>
          <p:cNvPr id="43" name="content-8-rect-41"/>
          <p:cNvSpPr/>
          <p:nvPr/>
        </p:nvSpPr>
        <p:spPr>
          <a:xfrm>
            <a:off x="457200" y="4133088"/>
            <a:ext cx="2651760" cy="512064"/>
          </a:xfrm>
          <a:prstGeom prst="roundRect">
            <a:avLst>
              <a:gd name="adj" fmla="val 14286"/>
            </a:avLst>
          </a:prstGeom>
          <a:solidFill>
            <a:schemeClr val="bg2"/>
          </a:solidFill>
          <a:ln/>
        </p:spPr>
      </p:sp>
      <p:sp>
        <p:nvSpPr>
          <p:cNvPr id="44" name="content-8-rect-42"/>
          <p:cNvSpPr/>
          <p:nvPr/>
        </p:nvSpPr>
        <p:spPr>
          <a:xfrm>
            <a:off x="457200" y="4133088"/>
            <a:ext cx="54864" cy="512064"/>
          </a:xfrm>
          <a:prstGeom prst="rect">
            <a:avLst/>
          </a:prstGeom>
          <a:solidFill>
            <a:schemeClr val="accent1"/>
          </a:solidFill>
          <a:ln/>
        </p:spPr>
      </p:sp>
      <p:sp>
        <p:nvSpPr>
          <p:cNvPr id="45" name="content-8-text-43"/>
          <p:cNvSpPr txBox="1"/>
          <p:nvPr/>
        </p:nvSpPr>
        <p:spPr>
          <a:xfrm>
            <a:off x="603504" y="4160520"/>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Assistant</a:t>
            </a:r>
            <a:endParaRPr lang="en-US" sz="1100" dirty="0"/>
          </a:p>
        </p:txBody>
      </p:sp>
      <p:sp>
        <p:nvSpPr>
          <p:cNvPr id="46" name="content-8-text-44"/>
          <p:cNvSpPr txBox="1"/>
          <p:nvPr/>
        </p:nvSpPr>
        <p:spPr>
          <a:xfrm>
            <a:off x="603504" y="4361688"/>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One sentence in, a plan out. It never approves.</a:t>
            </a:r>
            <a:endParaRPr lang="en-US" sz="900" dirty="0"/>
          </a:p>
        </p:txBody>
      </p:sp>
      <p:sp>
        <p:nvSpPr>
          <p:cNvPr id="47" name="content-8-rect-45"/>
          <p:cNvSpPr/>
          <p:nvPr/>
        </p:nvSpPr>
        <p:spPr>
          <a:xfrm>
            <a:off x="3200400" y="4133088"/>
            <a:ext cx="2651760" cy="512064"/>
          </a:xfrm>
          <a:prstGeom prst="roundRect">
            <a:avLst>
              <a:gd name="adj" fmla="val 14286"/>
            </a:avLst>
          </a:prstGeom>
          <a:solidFill>
            <a:schemeClr val="bg2"/>
          </a:solidFill>
          <a:ln/>
        </p:spPr>
      </p:sp>
      <p:sp>
        <p:nvSpPr>
          <p:cNvPr id="48" name="content-8-rect-46"/>
          <p:cNvSpPr/>
          <p:nvPr/>
        </p:nvSpPr>
        <p:spPr>
          <a:xfrm>
            <a:off x="3200400" y="4133088"/>
            <a:ext cx="54864" cy="512064"/>
          </a:xfrm>
          <a:prstGeom prst="rect">
            <a:avLst/>
          </a:prstGeom>
          <a:solidFill>
            <a:schemeClr val="accent1"/>
          </a:solidFill>
          <a:ln/>
        </p:spPr>
      </p:sp>
      <p:sp>
        <p:nvSpPr>
          <p:cNvPr id="49" name="content-8-text-47"/>
          <p:cNvSpPr txBox="1"/>
          <p:nvPr/>
        </p:nvSpPr>
        <p:spPr>
          <a:xfrm>
            <a:off x="3346704" y="4160520"/>
            <a:ext cx="2450592" cy="201168"/>
          </a:xfrm>
          <a:prstGeom prst="rect">
            <a:avLst/>
          </a:prstGeom>
          <a:noFill/>
          <a:ln/>
        </p:spPr>
        <p:txBody>
          <a:bodyPr wrap="square" lIns="0" tIns="0" rIns="0" bIns="0" rtlCol="0" anchor="ctr"/>
          <a:lstStyle/>
          <a:p>
            <a:pPr algn="l" indent="0" marL="0">
              <a:buNone/>
            </a:pPr>
            <a:r>
              <a:rPr lang="en-US" sz="1100" b="1" dirty="0">
                <a:solidFill>
                  <a:schemeClr val="tx1"/>
                </a:solidFill>
              </a:rPr>
              <a:t>The bank's question</a:t>
            </a:r>
            <a:endParaRPr lang="en-US" sz="1100" dirty="0"/>
          </a:p>
        </p:txBody>
      </p:sp>
      <p:sp>
        <p:nvSpPr>
          <p:cNvPr id="50" name="content-8-text-48"/>
          <p:cNvSpPr txBox="1"/>
          <p:nvPr/>
        </p:nvSpPr>
        <p:spPr>
          <a:xfrm>
            <a:off x="3346704" y="4361688"/>
            <a:ext cx="2450592" cy="274320"/>
          </a:xfrm>
          <a:prstGeom prst="rect">
            <a:avLst/>
          </a:prstGeom>
          <a:noFill/>
          <a:ln/>
        </p:spPr>
        <p:txBody>
          <a:bodyPr wrap="square" lIns="0" tIns="0" rIns="0" bIns="0" rtlCol="0" anchor="t"/>
          <a:lstStyle/>
          <a:p>
            <a:pPr algn="l" indent="0" marL="0">
              <a:buNone/>
            </a:pPr>
            <a:r>
              <a:rPr lang="en-US" sz="900" dirty="0">
                <a:solidFill>
                  <a:schemeClr val="tx2"/>
                </a:solidFill>
              </a:rPr>
              <a:t>Answer a reviewer when a payment is flagged</a:t>
            </a:r>
            <a:endParaRPr lang="en-US" sz="900" dirty="0"/>
          </a:p>
        </p:txBody>
      </p:sp>
      <p:sp>
        <p:nvSpPr>
          <p:cNvPr id="51" name="content-8-rect-49"/>
          <p:cNvSpPr/>
          <p:nvPr/>
        </p:nvSpPr>
        <p:spPr>
          <a:xfrm>
            <a:off x="6144768" y="1207008"/>
            <a:ext cx="2615184" cy="3060954"/>
          </a:xfrm>
          <a:prstGeom prst="roundRect">
            <a:avLst>
              <a:gd name="adj" fmla="val 2098"/>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2" name="content-8-image-50" descr="The payment screen: approval summary, approve with MFA, and the status tracker">    </p:cNvPr>
          <p:cNvPicPr>
            <a:picLocks noChangeAspect="1"/>
          </p:cNvPicPr>
          <p:nvPr/>
        </p:nvPicPr>
        <p:blipFill>
          <a:blip r:embed="rId1"/>
          <a:stretch>
            <a:fillRect/>
          </a:stretch>
        </p:blipFill>
        <p:spPr>
          <a:xfrm>
            <a:off x="6217920" y="1280160"/>
            <a:ext cx="2468880" cy="2914650"/>
          </a:xfrm>
          <a:prstGeom prst="rect">
            <a:avLst/>
          </a:prstGeom>
        </p:spPr>
      </p:pic>
      <p:sp>
        <p:nvSpPr>
          <p:cNvPr id="53" name="content-8-text-51"/>
          <p:cNvSpPr txBox="1"/>
          <p:nvPr/>
        </p:nvSpPr>
        <p:spPr>
          <a:xfrm>
            <a:off x="6126480" y="4322826"/>
            <a:ext cx="2560320" cy="411480"/>
          </a:xfrm>
          <a:prstGeom prst="rect">
            <a:avLst/>
          </a:prstGeom>
          <a:noFill/>
          <a:ln/>
        </p:spPr>
        <p:txBody>
          <a:bodyPr wrap="square" lIns="0" tIns="0" rIns="0" bIns="0" rtlCol="0" anchor="t"/>
          <a:lstStyle/>
          <a:p>
            <a:pPr algn="l" indent="0" marL="0">
              <a:buNone/>
            </a:pPr>
            <a:r>
              <a:rPr lang="en-US" sz="950" dirty="0">
                <a:solidFill>
                  <a:schemeClr val="tx2"/>
                </a:solidFill>
              </a:rPr>
              <a:t>The approval screen: summary, one MFA code, status tracker. Sandbox, synthetic data.</a:t>
            </a:r>
            <a:endParaRPr lang="en-US" sz="950" dirty="0"/>
          </a:p>
        </p:txBody>
      </p:sp>
      <p:sp>
        <p:nvSpPr>
          <p:cNvPr id="54" name="content-8-text-52"/>
          <p:cNvSpPr txBox="1"/>
          <p:nvPr/>
        </p:nvSpPr>
        <p:spPr>
          <a:xfrm>
            <a:off x="457200" y="4754880"/>
            <a:ext cx="8229600" cy="274320"/>
          </a:xfrm>
          <a:prstGeom prst="rect">
            <a:avLst/>
          </a:prstGeom>
          <a:noFill/>
          <a:ln/>
        </p:spPr>
        <p:txBody>
          <a:bodyPr wrap="square" lIns="0" tIns="0" rIns="0" bIns="0" rtlCol="0" anchor="t"/>
          <a:lstStyle/>
          <a:p>
            <a:pPr algn="l" indent="0" marL="0">
              <a:buNone/>
            </a:pPr>
            <a:r>
              <a:rPr lang="en-US" sz="950" dirty="0">
                <a:solidFill>
                  <a:schemeClr val="tx2"/>
                </a:solidFill>
              </a:rPr>
              <a:t>Every screen carries the sandbox banner, and every unverified rule a Not verified badge. Each screen has axe accessibility checks; reduced motion is respected.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guide for the student</a:t>
            </a:r>
            <a:endParaRPr lang="en-US" sz="3600" dirty="0"/>
          </a:p>
        </p:txBody>
      </p:sp>
      <p:sp>
        <p:nvSpPr>
          <p:cNvPr id="3" name="content-9-rect-1"/>
          <p:cNvSpPr/>
          <p:nvPr/>
        </p:nvSpPr>
        <p:spPr>
          <a:xfrm>
            <a:off x="384048" y="1161288"/>
            <a:ext cx="4992624" cy="2872359"/>
          </a:xfrm>
          <a:prstGeom prst="roundRect">
            <a:avLst>
              <a:gd name="adj" fmla="val 191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9-image-2" descr="The live student guide: a monthly budget and the cities that fit it">    </p:cNvPr>
          <p:cNvPicPr>
            <a:picLocks noChangeAspect="1"/>
          </p:cNvPicPr>
          <p:nvPr/>
        </p:nvPicPr>
        <p:blipFill>
          <a:blip r:embed="rId1"/>
          <a:stretch>
            <a:fillRect/>
          </a:stretch>
        </p:blipFill>
        <p:spPr>
          <a:xfrm>
            <a:off x="457200" y="1234440"/>
            <a:ext cx="4846320" cy="2726055"/>
          </a:xfrm>
          <a:prstGeom prst="rect">
            <a:avLst/>
          </a:prstGeom>
        </p:spPr>
      </p:pic>
      <p:sp>
        <p:nvSpPr>
          <p:cNvPr id="5" name="content-9-text-3"/>
          <p:cNvSpPr txBox="1"/>
          <p:nvPr/>
        </p:nvSpPr>
        <p:spPr>
          <a:xfrm>
            <a:off x="457200" y="4088511"/>
            <a:ext cx="4846320" cy="457200"/>
          </a:xfrm>
          <a:prstGeom prst="rect">
            <a:avLst/>
          </a:prstGeom>
          <a:noFill/>
          <a:ln/>
        </p:spPr>
        <p:txBody>
          <a:bodyPr wrap="square" lIns="0" tIns="0" rIns="0" bIns="0" rtlCol="0" anchor="t"/>
          <a:lstStyle/>
          <a:p>
            <a:pPr algn="l" indent="0" marL="0">
              <a:buNone/>
            </a:pPr>
            <a:r>
              <a:rPr lang="en-US" sz="1000" dirty="0">
                <a:solidFill>
                  <a:schemeClr val="tx2"/>
                </a:solidFill>
              </a:rPr>
              <a:t>Live, studyroute.bot-keep.xyz, 19 Oct 2026: type a budget or drag the slider and the list refits.</a:t>
            </a:r>
            <a:endParaRPr lang="en-US" sz="1000" dirty="0"/>
          </a:p>
        </p:txBody>
      </p:sp>
      <p:sp>
        <p:nvSpPr>
          <p:cNvPr id="6" name="content-9-rect-4"/>
          <p:cNvSpPr/>
          <p:nvPr/>
        </p:nvSpPr>
        <p:spPr>
          <a:xfrm>
            <a:off x="5532120" y="1234440"/>
            <a:ext cx="3154680" cy="813816"/>
          </a:xfrm>
          <a:prstGeom prst="roundRect">
            <a:avLst>
              <a:gd name="adj" fmla="val 8989"/>
            </a:avLst>
          </a:prstGeom>
          <a:solidFill>
            <a:schemeClr val="bg2"/>
          </a:solidFill>
          <a:ln/>
        </p:spPr>
      </p:sp>
      <p:sp>
        <p:nvSpPr>
          <p:cNvPr id="7" name="content-9-rect-5"/>
          <p:cNvSpPr/>
          <p:nvPr/>
        </p:nvSpPr>
        <p:spPr>
          <a:xfrm>
            <a:off x="5532120" y="1234440"/>
            <a:ext cx="64008" cy="813816"/>
          </a:xfrm>
          <a:prstGeom prst="rect">
            <a:avLst/>
          </a:prstGeom>
          <a:solidFill>
            <a:schemeClr val="accent1"/>
          </a:solidFill>
          <a:ln/>
        </p:spPr>
      </p:sp>
      <p:sp>
        <p:nvSpPr>
          <p:cNvPr id="8" name="content-9-text-6"/>
          <p:cNvSpPr txBox="1"/>
          <p:nvPr/>
        </p:nvSpPr>
        <p:spPr>
          <a:xfrm>
            <a:off x="5696712" y="1271016"/>
            <a:ext cx="2926080" cy="237744"/>
          </a:xfrm>
          <a:prstGeom prst="rect">
            <a:avLst/>
          </a:prstGeom>
          <a:noFill/>
          <a:ln/>
        </p:spPr>
        <p:txBody>
          <a:bodyPr wrap="square" lIns="0" tIns="0" rIns="0" bIns="0" rtlCol="0" anchor="ctr"/>
          <a:lstStyle/>
          <a:p>
            <a:pPr algn="l" indent="0" marL="0">
              <a:buNone/>
            </a:pPr>
            <a:r>
              <a:rPr lang="en-US" sz="1150" b="1" dirty="0">
                <a:solidFill>
                  <a:schemeClr val="tx1"/>
                </a:solidFill>
              </a:rPr>
              <a:t>Budget finder</a:t>
            </a:r>
            <a:endParaRPr lang="en-US" sz="1150" dirty="0"/>
          </a:p>
        </p:txBody>
      </p:sp>
      <p:sp>
        <p:nvSpPr>
          <p:cNvPr id="9" name="content-9-text-7"/>
          <p:cNvSpPr txBox="1"/>
          <p:nvPr/>
        </p:nvSpPr>
        <p:spPr>
          <a:xfrm>
            <a:off x="5696712" y="1508760"/>
            <a:ext cx="2926080" cy="530352"/>
          </a:xfrm>
          <a:prstGeom prst="rect">
            <a:avLst/>
          </a:prstGeom>
          <a:noFill/>
          <a:ln/>
        </p:spPr>
        <p:txBody>
          <a:bodyPr wrap="square" lIns="0" tIns="0" rIns="0" bIns="0" rtlCol="0" anchor="t"/>
          <a:lstStyle/>
          <a:p>
            <a:pPr algn="l" indent="0" marL="0">
              <a:buNone/>
            </a:pPr>
            <a:r>
              <a:rPr lang="en-US" sz="950" dirty="0">
                <a:solidFill>
                  <a:schemeClr val="tx2"/>
                </a:solidFill>
              </a:rPr>
              <a:t>Set a monthly budget in taka. Twenty cities show rent, a month in local money and in taka, and what is left.</a:t>
            </a:r>
            <a:endParaRPr lang="en-US" sz="950" dirty="0"/>
          </a:p>
        </p:txBody>
      </p:sp>
      <p:sp>
        <p:nvSpPr>
          <p:cNvPr id="10" name="content-9-rect-8"/>
          <p:cNvSpPr/>
          <p:nvPr/>
        </p:nvSpPr>
        <p:spPr>
          <a:xfrm>
            <a:off x="5532120" y="2121408"/>
            <a:ext cx="3154680" cy="813816"/>
          </a:xfrm>
          <a:prstGeom prst="roundRect">
            <a:avLst>
              <a:gd name="adj" fmla="val 8989"/>
            </a:avLst>
          </a:prstGeom>
          <a:solidFill>
            <a:schemeClr val="bg2"/>
          </a:solidFill>
          <a:ln/>
        </p:spPr>
      </p:sp>
      <p:sp>
        <p:nvSpPr>
          <p:cNvPr id="11" name="content-9-rect-9"/>
          <p:cNvSpPr/>
          <p:nvPr/>
        </p:nvSpPr>
        <p:spPr>
          <a:xfrm>
            <a:off x="5532120" y="2121408"/>
            <a:ext cx="64008" cy="813816"/>
          </a:xfrm>
          <a:prstGeom prst="rect">
            <a:avLst/>
          </a:prstGeom>
          <a:solidFill>
            <a:schemeClr val="accent1"/>
          </a:solidFill>
          <a:ln/>
        </p:spPr>
      </p:sp>
      <p:sp>
        <p:nvSpPr>
          <p:cNvPr id="12" name="content-9-text-10"/>
          <p:cNvSpPr txBox="1"/>
          <p:nvPr/>
        </p:nvSpPr>
        <p:spPr>
          <a:xfrm>
            <a:off x="5696712" y="2157984"/>
            <a:ext cx="2926080" cy="237744"/>
          </a:xfrm>
          <a:prstGeom prst="rect">
            <a:avLst/>
          </a:prstGeom>
          <a:noFill/>
          <a:ln/>
        </p:spPr>
        <p:txBody>
          <a:bodyPr wrap="square" lIns="0" tIns="0" rIns="0" bIns="0" rtlCol="0" anchor="ctr"/>
          <a:lstStyle/>
          <a:p>
            <a:pPr algn="l" indent="0" marL="0">
              <a:buNone/>
            </a:pPr>
            <a:r>
              <a:rPr lang="en-US" sz="1150" b="1" dirty="0">
                <a:solidFill>
                  <a:schemeClr val="tx1"/>
                </a:solidFill>
              </a:rPr>
              <a:t>City details</a:t>
            </a:r>
            <a:endParaRPr lang="en-US" sz="1150" dirty="0"/>
          </a:p>
        </p:txBody>
      </p:sp>
      <p:sp>
        <p:nvSpPr>
          <p:cNvPr id="13" name="content-9-text-11"/>
          <p:cNvSpPr txBox="1"/>
          <p:nvPr/>
        </p:nvSpPr>
        <p:spPr>
          <a:xfrm>
            <a:off x="5696712" y="2395728"/>
            <a:ext cx="2926080" cy="530352"/>
          </a:xfrm>
          <a:prstGeom prst="rect">
            <a:avLst/>
          </a:prstGeom>
          <a:noFill/>
          <a:ln/>
        </p:spPr>
        <p:txBody>
          <a:bodyPr wrap="square" lIns="0" tIns="0" rIns="0" bIns="0" rtlCol="0" anchor="t"/>
          <a:lstStyle/>
          <a:p>
            <a:pPr algn="l" indent="0" marL="0">
              <a:buNone/>
            </a:pPr>
            <a:r>
              <a:rPr lang="en-US" sz="950" dirty="0">
                <a:solidFill>
                  <a:schemeClr val="tx2"/>
                </a:solidFill>
              </a:rPr>
              <a:t>Rent, food, transport, bills, phone, study and leisure. Rounded up, so a month is never shown cheaper than it is.</a:t>
            </a:r>
            <a:endParaRPr lang="en-US" sz="950" dirty="0"/>
          </a:p>
        </p:txBody>
      </p:sp>
      <p:sp>
        <p:nvSpPr>
          <p:cNvPr id="14" name="content-9-rect-12"/>
          <p:cNvSpPr/>
          <p:nvPr/>
        </p:nvSpPr>
        <p:spPr>
          <a:xfrm>
            <a:off x="5532120" y="3008376"/>
            <a:ext cx="3154680" cy="813816"/>
          </a:xfrm>
          <a:prstGeom prst="roundRect">
            <a:avLst>
              <a:gd name="adj" fmla="val 8989"/>
            </a:avLst>
          </a:prstGeom>
          <a:solidFill>
            <a:schemeClr val="bg2"/>
          </a:solidFill>
          <a:ln/>
        </p:spPr>
      </p:sp>
      <p:sp>
        <p:nvSpPr>
          <p:cNvPr id="15" name="content-9-rect-13"/>
          <p:cNvSpPr/>
          <p:nvPr/>
        </p:nvSpPr>
        <p:spPr>
          <a:xfrm>
            <a:off x="5532120" y="3008376"/>
            <a:ext cx="64008" cy="813816"/>
          </a:xfrm>
          <a:prstGeom prst="rect">
            <a:avLst/>
          </a:prstGeom>
          <a:solidFill>
            <a:schemeClr val="accent1"/>
          </a:solidFill>
          <a:ln/>
        </p:spPr>
      </p:sp>
      <p:sp>
        <p:nvSpPr>
          <p:cNvPr id="16" name="content-9-text-14"/>
          <p:cNvSpPr txBox="1"/>
          <p:nvPr/>
        </p:nvSpPr>
        <p:spPr>
          <a:xfrm>
            <a:off x="5696712" y="3044952"/>
            <a:ext cx="2926080" cy="237744"/>
          </a:xfrm>
          <a:prstGeom prst="rect">
            <a:avLst/>
          </a:prstGeom>
          <a:noFill/>
          <a:ln/>
        </p:spPr>
        <p:txBody>
          <a:bodyPr wrap="square" lIns="0" tIns="0" rIns="0" bIns="0" rtlCol="0" anchor="ctr"/>
          <a:lstStyle/>
          <a:p>
            <a:pPr algn="l" indent="0" marL="0">
              <a:buNone/>
            </a:pPr>
            <a:r>
              <a:rPr lang="en-US" sz="1150" b="1" dirty="0">
                <a:solidFill>
                  <a:schemeClr val="tx1"/>
                </a:solidFill>
              </a:rPr>
              <a:t>Arrival checklist</a:t>
            </a:r>
            <a:endParaRPr lang="en-US" sz="1150" dirty="0"/>
          </a:p>
        </p:txBody>
      </p:sp>
      <p:sp>
        <p:nvSpPr>
          <p:cNvPr id="17" name="content-9-text-15"/>
          <p:cNvSpPr txBox="1"/>
          <p:nvPr/>
        </p:nvSpPr>
        <p:spPr>
          <a:xfrm>
            <a:off x="5696712" y="3282696"/>
            <a:ext cx="2926080" cy="530352"/>
          </a:xfrm>
          <a:prstGeom prst="rect">
            <a:avLst/>
          </a:prstGeom>
          <a:noFill/>
          <a:ln/>
        </p:spPr>
        <p:txBody>
          <a:bodyPr wrap="square" lIns="0" tIns="0" rIns="0" bIns="0" rtlCol="0" anchor="t"/>
          <a:lstStyle/>
          <a:p>
            <a:pPr algn="l" indent="0" marL="0">
              <a:buNone/>
            </a:pPr>
            <a:r>
              <a:rPr lang="en-US" sz="950" dirty="0">
                <a:solidFill>
                  <a:schemeClr val="tx2"/>
                </a:solidFill>
              </a:rPr>
              <a:t>By country: before you fly, in the first week, in the first month. Ticks stay in your browser.</a:t>
            </a:r>
            <a:endParaRPr lang="en-US" sz="950" dirty="0"/>
          </a:p>
        </p:txBody>
      </p:sp>
      <p:sp>
        <p:nvSpPr>
          <p:cNvPr id="18" name="content-9-rect-16"/>
          <p:cNvSpPr/>
          <p:nvPr/>
        </p:nvSpPr>
        <p:spPr>
          <a:xfrm>
            <a:off x="5532120" y="3895344"/>
            <a:ext cx="3154680" cy="813816"/>
          </a:xfrm>
          <a:prstGeom prst="roundRect">
            <a:avLst>
              <a:gd name="adj" fmla="val 8989"/>
            </a:avLst>
          </a:prstGeom>
          <a:solidFill>
            <a:schemeClr val="bg2"/>
          </a:solidFill>
          <a:ln/>
        </p:spPr>
      </p:sp>
      <p:sp>
        <p:nvSpPr>
          <p:cNvPr id="19" name="content-9-rect-17"/>
          <p:cNvSpPr/>
          <p:nvPr/>
        </p:nvSpPr>
        <p:spPr>
          <a:xfrm>
            <a:off x="5532120" y="3895344"/>
            <a:ext cx="64008" cy="813816"/>
          </a:xfrm>
          <a:prstGeom prst="rect">
            <a:avLst/>
          </a:prstGeom>
          <a:solidFill>
            <a:schemeClr val="accent3"/>
          </a:solidFill>
          <a:ln/>
        </p:spPr>
      </p:sp>
      <p:sp>
        <p:nvSpPr>
          <p:cNvPr id="20" name="content-9-text-18"/>
          <p:cNvSpPr txBox="1"/>
          <p:nvPr/>
        </p:nvSpPr>
        <p:spPr>
          <a:xfrm>
            <a:off x="5696712" y="3931920"/>
            <a:ext cx="2926080" cy="237744"/>
          </a:xfrm>
          <a:prstGeom prst="rect">
            <a:avLst/>
          </a:prstGeom>
          <a:noFill/>
          <a:ln/>
        </p:spPr>
        <p:txBody>
          <a:bodyPr wrap="square" lIns="0" tIns="0" rIns="0" bIns="0" rtlCol="0" anchor="ctr"/>
          <a:lstStyle/>
          <a:p>
            <a:pPr algn="l" indent="0" marL="0">
              <a:buNone/>
            </a:pPr>
            <a:r>
              <a:rPr lang="en-US" sz="1150" b="1" dirty="0">
                <a:solidFill>
                  <a:schemeClr val="tx1"/>
                </a:solidFill>
              </a:rPr>
              <a:t>Look and ask, not approve</a:t>
            </a:r>
            <a:endParaRPr lang="en-US" sz="1150" dirty="0"/>
          </a:p>
        </p:txBody>
      </p:sp>
      <p:sp>
        <p:nvSpPr>
          <p:cNvPr id="21" name="content-9-text-19"/>
          <p:cNvSpPr txBox="1"/>
          <p:nvPr/>
        </p:nvSpPr>
        <p:spPr>
          <a:xfrm>
            <a:off x="5696712" y="4169664"/>
            <a:ext cx="2926080" cy="530352"/>
          </a:xfrm>
          <a:prstGeom prst="rect">
            <a:avLst/>
          </a:prstGeom>
          <a:noFill/>
          <a:ln/>
        </p:spPr>
        <p:txBody>
          <a:bodyPr wrap="square" lIns="0" tIns="0" rIns="0" bIns="0" rtlCol="0" anchor="t"/>
          <a:lstStyle/>
          <a:p>
            <a:pPr algn="l" indent="0" marL="0">
              <a:buNone/>
            </a:pPr>
            <a:r>
              <a:rPr lang="en-US" sz="950" dirty="0">
                <a:solidFill>
                  <a:schemeClr val="tx2"/>
                </a:solidFill>
              </a:rPr>
              <a:t>The student sees the household's payments and can ask the assistant, for example the rent in Manchester. Only the parent approves.</a:t>
            </a:r>
            <a:endParaRPr lang="en-US" sz="950" dirty="0"/>
          </a:p>
        </p:txBody>
      </p:sp>
      <p:sp>
        <p:nvSpPr>
          <p:cNvPr id="22" name="content-9-text-20"/>
          <p:cNvSpPr txBox="1"/>
          <p:nvPr/>
        </p:nvSpPr>
        <p:spPr>
          <a:xfrm>
            <a:off x="457200" y="4864608"/>
            <a:ext cx="8229600" cy="201168"/>
          </a:xfrm>
          <a:prstGeom prst="rect">
            <a:avLst/>
          </a:prstGeom>
          <a:noFill/>
          <a:ln/>
        </p:spPr>
        <p:txBody>
          <a:bodyPr wrap="square" lIns="0" tIns="0" rIns="0" bIns="0" rtlCol="0" anchor="t"/>
          <a:lstStyle/>
          <a:p>
            <a:pPr algn="l" indent="0" marL="0">
              <a:buNone/>
            </a:pPr>
            <a:r>
              <a:rPr lang="en-US" sz="1000" dirty="0">
                <a:solidFill>
                  <a:schemeClr val="tx2"/>
                </a:solidFill>
              </a:rPr>
              <a:t>City costs are invented for the sandbox, and every figure carries a Not verified badge. Indicative. Confirm with your AD bank.</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10-text-1"/>
          <p:cNvSpPr txBox="1"/>
          <p:nvPr/>
        </p:nvSpPr>
        <p:spPr>
          <a:xfrm>
            <a:off x="457200" y="1060704"/>
            <a:ext cx="8229600" cy="274320"/>
          </a:xfrm>
          <a:prstGeom prst="rect">
            <a:avLst/>
          </a:prstGeom>
          <a:noFill/>
          <a:ln/>
        </p:spPr>
        <p:txBody>
          <a:bodyPr wrap="square" lIns="0" tIns="0" rIns="0" bIns="0" rtlCol="0" anchor="t"/>
          <a:lstStyle/>
          <a:p>
            <a:pPr algn="l" indent="0" marL="0">
              <a:buNone/>
            </a:pPr>
            <a:r>
              <a:rPr lang="en-US" sz="1300" b="1" dirty="0">
                <a:solidFill>
                  <a:schemeClr val="accent1"/>
                </a:solidFill>
              </a:rPr>
              <a:t>Our thesis: AI can participate only if it cannot be the financial authority.</a:t>
            </a:r>
            <a:endParaRPr lang="en-US" sz="1300" dirty="0"/>
          </a:p>
        </p:txBody>
      </p:sp>
      <p:sp>
        <p:nvSpPr>
          <p:cNvPr id="4" name="content-10-rect-2"/>
          <p:cNvSpPr/>
          <p:nvPr/>
        </p:nvSpPr>
        <p:spPr>
          <a:xfrm>
            <a:off x="457200" y="1435608"/>
            <a:ext cx="1051560" cy="594360"/>
          </a:xfrm>
          <a:prstGeom prst="roundRect">
            <a:avLst>
              <a:gd name="adj" fmla="val 12308"/>
            </a:avLst>
          </a:prstGeom>
          <a:solidFill>
            <a:schemeClr val="tx1"/>
          </a:solidFill>
          <a:ln/>
        </p:spPr>
      </p:sp>
      <p:sp>
        <p:nvSpPr>
          <p:cNvPr id="5" name="content-10-text-3"/>
          <p:cNvSpPr txBox="1"/>
          <p:nvPr/>
        </p:nvSpPr>
        <p:spPr>
          <a:xfrm>
            <a:off x="502920" y="1435608"/>
            <a:ext cx="960120" cy="59436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6" name="content-10-rect-4"/>
          <p:cNvSpPr/>
          <p:nvPr/>
        </p:nvSpPr>
        <p:spPr>
          <a:xfrm>
            <a:off x="1645920" y="1435608"/>
            <a:ext cx="1051560" cy="594360"/>
          </a:xfrm>
          <a:prstGeom prst="roundRect">
            <a:avLst>
              <a:gd name="adj" fmla="val 12308"/>
            </a:avLst>
          </a:prstGeom>
          <a:solidFill>
            <a:schemeClr val="tx1"/>
          </a:solidFill>
          <a:ln/>
        </p:spPr>
      </p:sp>
      <p:sp>
        <p:nvSpPr>
          <p:cNvPr id="7" name="content-10-text-5"/>
          <p:cNvSpPr txBox="1"/>
          <p:nvPr/>
        </p:nvSpPr>
        <p:spPr>
          <a:xfrm>
            <a:off x="1691640" y="1435608"/>
            <a:ext cx="960120" cy="59436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8" name="content-10-rect-6"/>
          <p:cNvSpPr/>
          <p:nvPr/>
        </p:nvSpPr>
        <p:spPr>
          <a:xfrm>
            <a:off x="2834640" y="1435608"/>
            <a:ext cx="1051560" cy="594360"/>
          </a:xfrm>
          <a:prstGeom prst="roundRect">
            <a:avLst>
              <a:gd name="adj" fmla="val 12308"/>
            </a:avLst>
          </a:prstGeom>
          <a:solidFill>
            <a:schemeClr val="tx1"/>
          </a:solidFill>
          <a:ln/>
        </p:spPr>
      </p:sp>
      <p:sp>
        <p:nvSpPr>
          <p:cNvPr id="9" name="content-10-text-7"/>
          <p:cNvSpPr txBox="1"/>
          <p:nvPr/>
        </p:nvSpPr>
        <p:spPr>
          <a:xfrm>
            <a:off x="2880360" y="1435608"/>
            <a:ext cx="960120" cy="59436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10" name="content-10-rect-8"/>
          <p:cNvSpPr/>
          <p:nvPr/>
        </p:nvSpPr>
        <p:spPr>
          <a:xfrm>
            <a:off x="4023360" y="1435608"/>
            <a:ext cx="1051560" cy="594360"/>
          </a:xfrm>
          <a:prstGeom prst="roundRect">
            <a:avLst>
              <a:gd name="adj" fmla="val 12308"/>
            </a:avLst>
          </a:prstGeom>
          <a:solidFill>
            <a:schemeClr val="accent2"/>
          </a:solidFill>
          <a:ln/>
        </p:spPr>
      </p:sp>
      <p:sp>
        <p:nvSpPr>
          <p:cNvPr id="11" name="content-10-text-9"/>
          <p:cNvSpPr txBox="1"/>
          <p:nvPr/>
        </p:nvSpPr>
        <p:spPr>
          <a:xfrm>
            <a:off x="4069080" y="1435608"/>
            <a:ext cx="960120" cy="59436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2" name="content-10-rect-10"/>
          <p:cNvSpPr/>
          <p:nvPr/>
        </p:nvSpPr>
        <p:spPr>
          <a:xfrm>
            <a:off x="5212080" y="1435608"/>
            <a:ext cx="1051560" cy="594360"/>
          </a:xfrm>
          <a:prstGeom prst="roundRect">
            <a:avLst>
              <a:gd name="adj" fmla="val 12308"/>
            </a:avLst>
          </a:prstGeom>
          <a:solidFill>
            <a:schemeClr val="tx1"/>
          </a:solidFill>
          <a:ln/>
        </p:spPr>
      </p:sp>
      <p:sp>
        <p:nvSpPr>
          <p:cNvPr id="13" name="content-10-text-11"/>
          <p:cNvSpPr txBox="1"/>
          <p:nvPr/>
        </p:nvSpPr>
        <p:spPr>
          <a:xfrm>
            <a:off x="5257800" y="1435608"/>
            <a:ext cx="960120" cy="59436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4" name="content-10-rect-12"/>
          <p:cNvSpPr/>
          <p:nvPr/>
        </p:nvSpPr>
        <p:spPr>
          <a:xfrm>
            <a:off x="6400800" y="1435608"/>
            <a:ext cx="1051560" cy="594360"/>
          </a:xfrm>
          <a:prstGeom prst="roundRect">
            <a:avLst>
              <a:gd name="adj" fmla="val 12308"/>
            </a:avLst>
          </a:prstGeom>
          <a:solidFill>
            <a:schemeClr val="tx1"/>
          </a:solidFill>
          <a:ln/>
        </p:spPr>
      </p:sp>
      <p:sp>
        <p:nvSpPr>
          <p:cNvPr id="15" name="content-10-text-13"/>
          <p:cNvSpPr txBox="1"/>
          <p:nvPr/>
        </p:nvSpPr>
        <p:spPr>
          <a:xfrm>
            <a:off x="6446520" y="1435608"/>
            <a:ext cx="960120" cy="59436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6" name="content-10-rect-14"/>
          <p:cNvSpPr/>
          <p:nvPr/>
        </p:nvSpPr>
        <p:spPr>
          <a:xfrm>
            <a:off x="7589520" y="1435608"/>
            <a:ext cx="1051560" cy="594360"/>
          </a:xfrm>
          <a:prstGeom prst="roundRect">
            <a:avLst>
              <a:gd name="adj" fmla="val 12308"/>
            </a:avLst>
          </a:prstGeom>
          <a:solidFill>
            <a:schemeClr val="tx1"/>
          </a:solidFill>
          <a:ln/>
        </p:spPr>
      </p:sp>
      <p:sp>
        <p:nvSpPr>
          <p:cNvPr id="17" name="content-10-text-15"/>
          <p:cNvSpPr txBox="1"/>
          <p:nvPr/>
        </p:nvSpPr>
        <p:spPr>
          <a:xfrm>
            <a:off x="7635240" y="1435608"/>
            <a:ext cx="960120" cy="59436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8" name="content-10-text-16"/>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9" name="content-10-rect-17"/>
          <p:cNvSpPr/>
          <p:nvPr/>
        </p:nvSpPr>
        <p:spPr>
          <a:xfrm>
            <a:off x="457200" y="2514600"/>
            <a:ext cx="2651760" cy="2194560"/>
          </a:xfrm>
          <a:prstGeom prst="roundRect">
            <a:avLst>
              <a:gd name="adj" fmla="val 3333"/>
            </a:avLst>
          </a:prstGeom>
          <a:solidFill>
            <a:schemeClr val="bg2"/>
          </a:solidFill>
          <a:ln/>
        </p:spPr>
      </p:sp>
      <p:sp>
        <p:nvSpPr>
          <p:cNvPr id="20" name="content-10-text-18"/>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1" name="content-10-text-19"/>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2" name="content-10-rect-20"/>
          <p:cNvSpPr/>
          <p:nvPr/>
        </p:nvSpPr>
        <p:spPr>
          <a:xfrm>
            <a:off x="3246120" y="2514600"/>
            <a:ext cx="2651760" cy="2194560"/>
          </a:xfrm>
          <a:prstGeom prst="roundRect">
            <a:avLst>
              <a:gd name="adj" fmla="val 3333"/>
            </a:avLst>
          </a:prstGeom>
          <a:solidFill>
            <a:schemeClr val="bg2"/>
          </a:solidFill>
          <a:ln/>
        </p:spPr>
      </p:sp>
      <p:sp>
        <p:nvSpPr>
          <p:cNvPr id="23" name="content-10-text-21"/>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4" name="content-10-text-22"/>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5" name="content-10-rect-23"/>
          <p:cNvSpPr/>
          <p:nvPr/>
        </p:nvSpPr>
        <p:spPr>
          <a:xfrm>
            <a:off x="6035040" y="2514600"/>
            <a:ext cx="2651760" cy="2194560"/>
          </a:xfrm>
          <a:prstGeom prst="roundRect">
            <a:avLst>
              <a:gd name="adj" fmla="val 3333"/>
            </a:avLst>
          </a:prstGeom>
          <a:solidFill>
            <a:schemeClr val="bg2"/>
          </a:solidFill>
          <a:ln/>
        </p:spPr>
      </p:sp>
      <p:sp>
        <p:nvSpPr>
          <p:cNvPr id="26" name="content-10-text-24"/>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7" name="content-10-text-25"/>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sp>
        <p:nvSpPr>
          <p:cNvPr id="3" name="content-11-text-1"/>
          <p:cNvSpPr txBox="1"/>
          <p:nvPr/>
        </p:nvSpPr>
        <p:spPr>
          <a:xfrm>
            <a:off x="457200" y="1078992"/>
            <a:ext cx="8229600" cy="292608"/>
          </a:xfrm>
          <a:prstGeom prst="rect">
            <a:avLst/>
          </a:prstGeom>
          <a:noFill/>
          <a:ln/>
        </p:spPr>
        <p:txBody>
          <a:bodyPr wrap="square" lIns="0" tIns="0" rIns="0" bIns="0" rtlCol="0" anchor="t"/>
          <a:lstStyle/>
          <a:p>
            <a:pPr algn="l" indent="0" marL="0">
              <a:buNone/>
            </a:pPr>
            <a:r>
              <a:rPr lang="en-US" sz="950" b="1" dirty="0">
                <a:solidFill>
                  <a:schemeClr val="accent1"/>
                </a:solidFill>
              </a:rPr>
              <a:t>We measured the models against baselines we ran, and publish the modest results because the envelope, not the benchmark, is the contribution.</a:t>
            </a:r>
            <a:endParaRPr lang="en-US" sz="950" dirty="0"/>
          </a:p>
        </p:txBody>
      </p:sp>
      <p:graphicFrame>
        <p:nvGraphicFramePr>
          <p:cNvPr id="12" name="content-11-table-2"/>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4389120"/>
                <a:gridCol w="1920240"/>
                <a:gridCol w="1920240"/>
              </a:tblGrid>
              <a:tr h="283464">
                <a:tc>
                  <a:txBody>
                    <a:bodyPr/>
                    <a:lstStyle/>
                    <a:p>
                      <a:pPr algn="l" indent="0" marL="0">
                        <a:buNone/>
                      </a:pPr>
                      <a:r>
                        <a:rPr lang="en-US" sz="1100" b="1" dirty="0">
                          <a:solidFill>
                            <a:schemeClr val="bg1"/>
                          </a:solidFill>
                        </a:rPr>
                        <a:t>On 113 frozen messages</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100" b="1" dirty="0">
                          <a:solidFill>
                            <a:schemeClr val="bg1"/>
                          </a:solidFill>
                        </a:rPr>
                        <a:t>Rules</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100" b="1" dirty="0">
                          <a:solidFill>
                            <a:schemeClr val="bg1"/>
                          </a:solidFill>
                        </a:rPr>
                        <a:t>Agent</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283464">
                <a:tc>
                  <a:txBody>
                    <a:bodyPr/>
                    <a:lstStyle/>
                    <a:p>
                      <a:pPr algn="l" indent="0" marL="0">
                        <a:buNone/>
                      </a:pPr>
                      <a:r>
                        <a:rPr lang="en-US" sz="1100" dirty="0">
                          <a:solidFill>
                            <a:schemeClr val="tx1"/>
                          </a:solidFill>
                        </a:rPr>
                        <a:t>Right intent</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61.1%</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accent1"/>
                          </a:solidFill>
                        </a:rPr>
                        <a:t>88.5%</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283464">
                <a:tc>
                  <a:txBody>
                    <a:bodyPr/>
                    <a:lstStyle/>
                    <a:p>
                      <a:pPr algn="l" indent="0" marL="0">
                        <a:buNone/>
                      </a:pPr>
                      <a:r>
                        <a:rPr lang="en-US" sz="1100" dirty="0">
                          <a:solidFill>
                            <a:schemeClr val="tx1"/>
                          </a:solidFill>
                        </a:rPr>
                        <a:t>Plan read exactly</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100" dirty="0">
                          <a:solidFill>
                            <a:schemeClr val="tx1"/>
                          </a:solidFill>
                        </a:rPr>
                        <a:t>57.6%</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100" b="1" dirty="0">
                          <a:solidFill>
                            <a:schemeClr val="accent1"/>
                          </a:solidFill>
                        </a:rPr>
                        <a:t>100%</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283464">
                <a:tc>
                  <a:txBody>
                    <a:bodyPr/>
                    <a:lstStyle/>
                    <a:p>
                      <a:pPr algn="l" indent="0" marL="0">
                        <a:buNone/>
                      </a:pPr>
                      <a:r>
                        <a:rPr lang="en-US" sz="1100" dirty="0">
                          <a:solidFill>
                            <a:schemeClr val="tx1"/>
                          </a:solidFill>
                        </a:rPr>
                        <a:t>Attacks blocked</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28.6%</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accent1"/>
                          </a:solidFill>
                        </a:rPr>
                        <a:t>92.9%</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283464">
                <a:tc>
                  <a:txBody>
                    <a:bodyPr/>
                    <a:lstStyle/>
                    <a:p>
                      <a:pPr algn="l" indent="0" marL="0">
                        <a:buNone/>
                      </a:pPr>
                      <a:r>
                        <a:rPr lang="en-US" sz="1100" dirty="0">
                          <a:solidFill>
                            <a:schemeClr val="tx1"/>
                          </a:solidFill>
                        </a:rPr>
                        <a:t>Harmless blocked</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100" dirty="0">
                          <a:solidFill>
                            <a:schemeClr val="tx1"/>
                          </a:solidFill>
                        </a:rPr>
                        <a:t>2%</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100" b="1" dirty="0">
                          <a:solidFill>
                            <a:schemeClr val="tx1"/>
                          </a:solidFill>
                        </a:rPr>
                        <a:t>2%</a:t>
                      </a:r>
                      <a:endParaRPr lang="en-US" sz="11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5" name="content-11-text-3"/>
          <p:cNvSpPr txBox="1"/>
          <p:nvPr/>
        </p:nvSpPr>
        <p:spPr>
          <a:xfrm>
            <a:off x="457200" y="2971800"/>
            <a:ext cx="8229600" cy="384048"/>
          </a:xfrm>
          <a:prstGeom prst="rect">
            <a:avLst/>
          </a:prstGeom>
          <a:noFill/>
          <a:ln/>
        </p:spPr>
        <p:txBody>
          <a:bodyPr wrap="square" lIns="0" tIns="0" rIns="0" bIns="0" rtlCol="0" anchor="t"/>
          <a:lstStyle/>
          <a:p>
            <a:pPr algn="l" indent="0" marL="0">
              <a:buNone/>
            </a:pPr>
            <a:r>
              <a:rPr lang="en-US" sz="1000" dirty="0">
                <a:solidFill>
                  <a:schemeClr val="tx2"/>
                </a:solidFill>
              </a:rPr>
              <a:t>Written by hand after the model was frozen, now reproduced; not a new blind study. A small sample: about plus or minus 7 points. Real bank questions: rules 40.1%, agent 95.1%.</a:t>
            </a:r>
            <a:endParaRPr lang="en-US" sz="1000" dirty="0"/>
          </a:p>
        </p:txBody>
      </p:sp>
      <p:sp>
        <p:nvSpPr>
          <p:cNvPr id="6" name="content-11-rect-4"/>
          <p:cNvSpPr/>
          <p:nvPr/>
        </p:nvSpPr>
        <p:spPr>
          <a:xfrm>
            <a:off x="457200" y="3502152"/>
            <a:ext cx="2651760" cy="1353312"/>
          </a:xfrm>
          <a:prstGeom prst="roundRect">
            <a:avLst>
              <a:gd name="adj" fmla="val 5405"/>
            </a:avLst>
          </a:prstGeom>
          <a:solidFill>
            <a:schemeClr val="bg2"/>
          </a:solidFill>
          <a:ln/>
        </p:spPr>
      </p:sp>
      <p:sp>
        <p:nvSpPr>
          <p:cNvPr id="7" name="content-11-text-5"/>
          <p:cNvSpPr txBox="1"/>
          <p:nvPr/>
        </p:nvSpPr>
        <p:spPr>
          <a:xfrm>
            <a:off x="566928" y="3538728"/>
            <a:ext cx="2432304" cy="256032"/>
          </a:xfrm>
          <a:prstGeom prst="rect">
            <a:avLst/>
          </a:prstGeom>
          <a:noFill/>
          <a:ln/>
        </p:spPr>
        <p:txBody>
          <a:bodyPr wrap="square" lIns="0" tIns="0" rIns="0" bIns="0" rtlCol="0" anchor="t"/>
          <a:lstStyle/>
          <a:p>
            <a:pPr algn="l" indent="0" marL="0">
              <a:buNone/>
            </a:pPr>
            <a:r>
              <a:rPr lang="en-US" sz="1100" b="1" dirty="0">
                <a:solidFill>
                  <a:schemeClr val="accent1"/>
                </a:solidFill>
              </a:rPr>
              <a:t>What it does</a:t>
            </a:r>
            <a:endParaRPr lang="en-US" sz="1100" dirty="0"/>
          </a:p>
        </p:txBody>
      </p:sp>
      <p:sp>
        <p:nvSpPr>
          <p:cNvPr id="8" name="content-11-text-6"/>
          <p:cNvSpPr txBox="1"/>
          <p:nvPr/>
        </p:nvSpPr>
        <p:spPr>
          <a:xfrm>
            <a:off x="566928" y="3831336"/>
            <a:ext cx="2432304" cy="987552"/>
          </a:xfrm>
          <a:prstGeom prst="rect">
            <a:avLst/>
          </a:prstGeom>
          <a:noFill/>
          <a:ln/>
        </p:spPr>
        <p:txBody>
          <a:bodyPr wrap="square" lIns="0" tIns="0" rIns="0" bIns="0" rtlCol="0" anchor="t"/>
          <a:lstStyle/>
          <a:p>
            <a:pPr algn="l" indent="0" marL="0">
              <a:buNone/>
            </a:pPr>
            <a:r>
              <a:rPr lang="en-US" sz="94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940" dirty="0"/>
          </a:p>
        </p:txBody>
      </p:sp>
      <p:sp>
        <p:nvSpPr>
          <p:cNvPr id="9" name="content-11-rect-7"/>
          <p:cNvSpPr/>
          <p:nvPr/>
        </p:nvSpPr>
        <p:spPr>
          <a:xfrm>
            <a:off x="3246120" y="3502152"/>
            <a:ext cx="2651760" cy="1353312"/>
          </a:xfrm>
          <a:prstGeom prst="roundRect">
            <a:avLst>
              <a:gd name="adj" fmla="val 5405"/>
            </a:avLst>
          </a:prstGeom>
          <a:solidFill>
            <a:schemeClr val="bg2"/>
          </a:solidFill>
          <a:ln/>
        </p:spPr>
      </p:sp>
      <p:sp>
        <p:nvSpPr>
          <p:cNvPr id="10" name="content-11-text-8"/>
          <p:cNvSpPr txBox="1"/>
          <p:nvPr/>
        </p:nvSpPr>
        <p:spPr>
          <a:xfrm>
            <a:off x="3355848" y="3538728"/>
            <a:ext cx="2432304" cy="256032"/>
          </a:xfrm>
          <a:prstGeom prst="rect">
            <a:avLst/>
          </a:prstGeom>
          <a:noFill/>
          <a:ln/>
        </p:spPr>
        <p:txBody>
          <a:bodyPr wrap="square" lIns="0" tIns="0" rIns="0" bIns="0" rtlCol="0" anchor="t"/>
          <a:lstStyle/>
          <a:p>
            <a:pPr algn="l" indent="0" marL="0">
              <a:buNone/>
            </a:pPr>
            <a:r>
              <a:rPr lang="en-US" sz="1100" b="1" dirty="0">
                <a:solidFill>
                  <a:schemeClr val="accent1"/>
                </a:solidFill>
              </a:rPr>
              <a:t>Reinforcement learning</a:t>
            </a:r>
            <a:endParaRPr lang="en-US" sz="1100" dirty="0"/>
          </a:p>
        </p:txBody>
      </p:sp>
      <p:sp>
        <p:nvSpPr>
          <p:cNvPr id="11" name="content-11-text-9"/>
          <p:cNvSpPr txBox="1"/>
          <p:nvPr/>
        </p:nvSpPr>
        <p:spPr>
          <a:xfrm>
            <a:off x="3355848" y="3831336"/>
            <a:ext cx="2432304" cy="987552"/>
          </a:xfrm>
          <a:prstGeom prst="rect">
            <a:avLst/>
          </a:prstGeom>
          <a:noFill/>
          <a:ln/>
        </p:spPr>
        <p:txBody>
          <a:bodyPr wrap="square" lIns="0" tIns="0" rIns="0" bIns="0" rtlCol="0" anchor="t"/>
          <a:lstStyle/>
          <a:p>
            <a:pPr algn="l" indent="0" marL="0">
              <a:buNone/>
            </a:pPr>
            <a:r>
              <a:rPr lang="en-US" sz="94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940" dirty="0"/>
          </a:p>
        </p:txBody>
      </p:sp>
      <p:sp>
        <p:nvSpPr>
          <p:cNvPr id="12" name="content-11-rect-10"/>
          <p:cNvSpPr/>
          <p:nvPr/>
        </p:nvSpPr>
        <p:spPr>
          <a:xfrm>
            <a:off x="6035040" y="3502152"/>
            <a:ext cx="2651760" cy="1353312"/>
          </a:xfrm>
          <a:prstGeom prst="roundRect">
            <a:avLst>
              <a:gd name="adj" fmla="val 5405"/>
            </a:avLst>
          </a:prstGeom>
          <a:solidFill>
            <a:schemeClr val="bg2"/>
          </a:solidFill>
          <a:ln/>
        </p:spPr>
      </p:sp>
      <p:sp>
        <p:nvSpPr>
          <p:cNvPr id="13" name="content-11-text-11"/>
          <p:cNvSpPr txBox="1"/>
          <p:nvPr/>
        </p:nvSpPr>
        <p:spPr>
          <a:xfrm>
            <a:off x="6144768" y="3538728"/>
            <a:ext cx="2432304" cy="256032"/>
          </a:xfrm>
          <a:prstGeom prst="rect">
            <a:avLst/>
          </a:prstGeom>
          <a:noFill/>
          <a:ln/>
        </p:spPr>
        <p:txBody>
          <a:bodyPr wrap="square" lIns="0" tIns="0" rIns="0" bIns="0" rtlCol="0" anchor="t"/>
          <a:lstStyle/>
          <a:p>
            <a:pPr algn="l" indent="0" marL="0">
              <a:buNone/>
            </a:pPr>
            <a:r>
              <a:rPr lang="en-US" sz="1100" b="1" dirty="0">
                <a:solidFill>
                  <a:schemeClr val="accent1"/>
                </a:solidFill>
              </a:rPr>
              <a:t>Also trained, and the limits</a:t>
            </a:r>
            <a:endParaRPr lang="en-US" sz="1100" dirty="0"/>
          </a:p>
        </p:txBody>
      </p:sp>
      <p:sp>
        <p:nvSpPr>
          <p:cNvPr id="14" name="content-11-text-12"/>
          <p:cNvSpPr txBox="1"/>
          <p:nvPr/>
        </p:nvSpPr>
        <p:spPr>
          <a:xfrm>
            <a:off x="6144768" y="3831336"/>
            <a:ext cx="2432304" cy="987552"/>
          </a:xfrm>
          <a:prstGeom prst="rect">
            <a:avLst/>
          </a:prstGeom>
          <a:noFill/>
          <a:ln/>
        </p:spPr>
        <p:txBody>
          <a:bodyPr wrap="square" lIns="0" tIns="0" rIns="0" bIns="0" rtlCol="0" anchor="t"/>
          <a:lstStyle/>
          <a:p>
            <a:pPr algn="l" indent="0" marL="0">
              <a:buNone/>
            </a:pPr>
            <a:r>
              <a:rPr lang="en-US" sz="940" dirty="0">
                <a:solidFill>
                  <a:schemeClr val="tx1"/>
                </a:solidFill>
              </a:rPr>
              <a:t>A language model rewords answers: 99.8% of its figures are the engine's; a failed check shows the engine's text. A risk model puts 63.2% of flagged payments in its top 1% (random: 1.2%). A person authorizes every payment. Synthetic data.</a:t>
            </a:r>
            <a:endParaRPr lang="en-US" sz="9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Models against baselines</a:t>
            </a:r>
            <a:endParaRPr lang="en-US" sz="3600" dirty="0"/>
          </a:p>
        </p:txBody>
      </p:sp>
      <p:sp>
        <p:nvSpPr>
          <p:cNvPr id="3" name="content-12-rect-1"/>
          <p:cNvSpPr/>
          <p:nvPr/>
        </p:nvSpPr>
        <p:spPr>
          <a:xfrm>
            <a:off x="457200" y="1234440"/>
            <a:ext cx="4846320" cy="3154680"/>
          </a:xfrm>
          <a:prstGeom prst="roundRect">
            <a:avLst>
              <a:gd name="adj" fmla="val 2319"/>
            </a:avLst>
          </a:prstGeom>
          <a:solidFill>
            <a:schemeClr val="bg2"/>
          </a:solidFill>
          <a:ln/>
        </p:spPr>
      </p:sp>
      <p:sp>
        <p:nvSpPr>
          <p:cNvPr id="4" name="content-12-text-2"/>
          <p:cNvSpPr txBox="1"/>
          <p:nvPr/>
        </p:nvSpPr>
        <p:spPr>
          <a:xfrm>
            <a:off x="640080" y="1298448"/>
            <a:ext cx="4480560" cy="365760"/>
          </a:xfrm>
          <a:prstGeom prst="rect">
            <a:avLst/>
          </a:prstGeom>
          <a:noFill/>
          <a:ln/>
        </p:spPr>
        <p:txBody>
          <a:bodyPr wrap="square" lIns="0" tIns="0" rIns="0" bIns="0" rtlCol="0" anchor="ctr"/>
          <a:lstStyle/>
          <a:p>
            <a:pPr algn="l" indent="0" marL="0">
              <a:buNone/>
            </a:pPr>
            <a:r>
              <a:rPr lang="en-US" sz="1300" b="1" dirty="0">
                <a:solidFill>
                  <a:schemeClr val="tx1"/>
                </a:solidFill>
              </a:rPr>
              <a:t>Reader on 113 frozen messages (higher is better)</a:t>
            </a:r>
            <a:endParaRPr lang="en-US" sz="1300" dirty="0"/>
          </a:p>
        </p:txBody>
      </p:sp>
      <p:sp>
        <p:nvSpPr>
          <p:cNvPr id="5" name="content-12-text-3"/>
          <p:cNvSpPr txBox="1"/>
          <p:nvPr/>
        </p:nvSpPr>
        <p:spPr>
          <a:xfrm>
            <a:off x="640080" y="1783080"/>
            <a:ext cx="1325880" cy="658368"/>
          </a:xfrm>
          <a:prstGeom prst="rect">
            <a:avLst/>
          </a:prstGeom>
          <a:noFill/>
          <a:ln/>
        </p:spPr>
        <p:txBody>
          <a:bodyPr wrap="square" lIns="0" tIns="0" rIns="0" bIns="0" rtlCol="0" anchor="ctr"/>
          <a:lstStyle/>
          <a:p>
            <a:pPr algn="l" indent="0" marL="0">
              <a:buNone/>
            </a:pPr>
            <a:r>
              <a:rPr lang="en-US" sz="1200" dirty="0">
                <a:solidFill>
                  <a:schemeClr val="tx1"/>
                </a:solidFill>
              </a:rPr>
              <a:t>Right intent</a:t>
            </a:r>
            <a:endParaRPr lang="en-US" sz="1200" dirty="0"/>
          </a:p>
        </p:txBody>
      </p:sp>
      <p:sp>
        <p:nvSpPr>
          <p:cNvPr id="6" name="content-12-rect-4"/>
          <p:cNvSpPr/>
          <p:nvPr/>
        </p:nvSpPr>
        <p:spPr>
          <a:xfrm>
            <a:off x="2057400" y="1851660"/>
            <a:ext cx="1535464" cy="237744"/>
          </a:xfrm>
          <a:prstGeom prst="roundRect">
            <a:avLst>
              <a:gd name="adj" fmla="val 11538"/>
            </a:avLst>
          </a:prstGeom>
          <a:solidFill>
            <a:schemeClr val="accent5"/>
          </a:solidFill>
          <a:ln/>
        </p:spPr>
      </p:sp>
      <p:sp>
        <p:nvSpPr>
          <p:cNvPr id="7" name="content-12-text-5"/>
          <p:cNvSpPr txBox="1"/>
          <p:nvPr/>
        </p:nvSpPr>
        <p:spPr>
          <a:xfrm>
            <a:off x="3666016" y="1851660"/>
            <a:ext cx="731520" cy="237744"/>
          </a:xfrm>
          <a:prstGeom prst="rect">
            <a:avLst/>
          </a:prstGeom>
          <a:noFill/>
          <a:ln/>
        </p:spPr>
        <p:txBody>
          <a:bodyPr wrap="square" lIns="0" tIns="0" rIns="0" bIns="0" rtlCol="0" anchor="ctr"/>
          <a:lstStyle/>
          <a:p>
            <a:pPr algn="l" indent="0" marL="0">
              <a:buNone/>
            </a:pPr>
            <a:r>
              <a:rPr lang="en-US" sz="1100" b="1" dirty="0">
                <a:solidFill>
                  <a:schemeClr val="tx1"/>
                </a:solidFill>
              </a:rPr>
              <a:t>61.1%</a:t>
            </a:r>
            <a:endParaRPr lang="en-US" sz="1100" dirty="0"/>
          </a:p>
        </p:txBody>
      </p:sp>
      <p:sp>
        <p:nvSpPr>
          <p:cNvPr id="8" name="content-12-rect-6"/>
          <p:cNvSpPr/>
          <p:nvPr/>
        </p:nvSpPr>
        <p:spPr>
          <a:xfrm>
            <a:off x="2057400" y="2135124"/>
            <a:ext cx="2225310" cy="237744"/>
          </a:xfrm>
          <a:prstGeom prst="roundRect">
            <a:avLst>
              <a:gd name="adj" fmla="val 11538"/>
            </a:avLst>
          </a:prstGeom>
          <a:solidFill>
            <a:schemeClr val="accent1"/>
          </a:solidFill>
          <a:ln/>
        </p:spPr>
      </p:sp>
      <p:sp>
        <p:nvSpPr>
          <p:cNvPr id="9" name="content-12-text-7"/>
          <p:cNvSpPr txBox="1"/>
          <p:nvPr/>
        </p:nvSpPr>
        <p:spPr>
          <a:xfrm>
            <a:off x="4355862" y="2135124"/>
            <a:ext cx="731520" cy="237744"/>
          </a:xfrm>
          <a:prstGeom prst="rect">
            <a:avLst/>
          </a:prstGeom>
          <a:noFill/>
          <a:ln/>
        </p:spPr>
        <p:txBody>
          <a:bodyPr wrap="square" lIns="0" tIns="0" rIns="0" bIns="0" rtlCol="0" anchor="ctr"/>
          <a:lstStyle/>
          <a:p>
            <a:pPr algn="l" indent="0" marL="0">
              <a:buNone/>
            </a:pPr>
            <a:r>
              <a:rPr lang="en-US" sz="1100" b="1" dirty="0">
                <a:solidFill>
                  <a:schemeClr val="tx1"/>
                </a:solidFill>
              </a:rPr>
              <a:t>88.5%</a:t>
            </a:r>
            <a:endParaRPr lang="en-US" sz="1100" dirty="0"/>
          </a:p>
        </p:txBody>
      </p:sp>
      <p:sp>
        <p:nvSpPr>
          <p:cNvPr id="10" name="content-12-text-8"/>
          <p:cNvSpPr txBox="1"/>
          <p:nvPr/>
        </p:nvSpPr>
        <p:spPr>
          <a:xfrm>
            <a:off x="640080" y="2441448"/>
            <a:ext cx="1325880" cy="658368"/>
          </a:xfrm>
          <a:prstGeom prst="rect">
            <a:avLst/>
          </a:prstGeom>
          <a:noFill/>
          <a:ln/>
        </p:spPr>
        <p:txBody>
          <a:bodyPr wrap="square" lIns="0" tIns="0" rIns="0" bIns="0" rtlCol="0" anchor="ctr"/>
          <a:lstStyle/>
          <a:p>
            <a:pPr algn="l" indent="0" marL="0">
              <a:buNone/>
            </a:pPr>
            <a:r>
              <a:rPr lang="en-US" sz="1200" dirty="0">
                <a:solidFill>
                  <a:schemeClr val="tx1"/>
                </a:solidFill>
              </a:rPr>
              <a:t>Plan read exactly</a:t>
            </a:r>
            <a:endParaRPr lang="en-US" sz="1200" dirty="0"/>
          </a:p>
        </p:txBody>
      </p:sp>
      <p:sp>
        <p:nvSpPr>
          <p:cNvPr id="11" name="content-12-rect-9"/>
          <p:cNvSpPr/>
          <p:nvPr/>
        </p:nvSpPr>
        <p:spPr>
          <a:xfrm>
            <a:off x="2057400" y="2510028"/>
            <a:ext cx="1447800" cy="237744"/>
          </a:xfrm>
          <a:prstGeom prst="roundRect">
            <a:avLst>
              <a:gd name="adj" fmla="val 11538"/>
            </a:avLst>
          </a:prstGeom>
          <a:solidFill>
            <a:schemeClr val="accent5"/>
          </a:solidFill>
          <a:ln/>
        </p:spPr>
      </p:sp>
      <p:sp>
        <p:nvSpPr>
          <p:cNvPr id="12" name="content-12-text-10"/>
          <p:cNvSpPr txBox="1"/>
          <p:nvPr/>
        </p:nvSpPr>
        <p:spPr>
          <a:xfrm>
            <a:off x="3578352" y="2510028"/>
            <a:ext cx="731520" cy="237744"/>
          </a:xfrm>
          <a:prstGeom prst="rect">
            <a:avLst/>
          </a:prstGeom>
          <a:noFill/>
          <a:ln/>
        </p:spPr>
        <p:txBody>
          <a:bodyPr wrap="square" lIns="0" tIns="0" rIns="0" bIns="0" rtlCol="0" anchor="ctr"/>
          <a:lstStyle/>
          <a:p>
            <a:pPr algn="l" indent="0" marL="0">
              <a:buNone/>
            </a:pPr>
            <a:r>
              <a:rPr lang="en-US" sz="1100" b="1" dirty="0">
                <a:solidFill>
                  <a:schemeClr val="tx1"/>
                </a:solidFill>
              </a:rPr>
              <a:t>57.6%</a:t>
            </a:r>
            <a:endParaRPr lang="en-US" sz="1100" dirty="0"/>
          </a:p>
        </p:txBody>
      </p:sp>
      <p:sp>
        <p:nvSpPr>
          <p:cNvPr id="13" name="content-12-rect-11"/>
          <p:cNvSpPr/>
          <p:nvPr/>
        </p:nvSpPr>
        <p:spPr>
          <a:xfrm>
            <a:off x="2057400" y="2793492"/>
            <a:ext cx="2514600" cy="237744"/>
          </a:xfrm>
          <a:prstGeom prst="roundRect">
            <a:avLst>
              <a:gd name="adj" fmla="val 11538"/>
            </a:avLst>
          </a:prstGeom>
          <a:solidFill>
            <a:schemeClr val="accent1"/>
          </a:solidFill>
          <a:ln/>
        </p:spPr>
      </p:sp>
      <p:sp>
        <p:nvSpPr>
          <p:cNvPr id="14" name="content-12-text-12"/>
          <p:cNvSpPr txBox="1"/>
          <p:nvPr/>
        </p:nvSpPr>
        <p:spPr>
          <a:xfrm>
            <a:off x="4645152" y="2793492"/>
            <a:ext cx="731520" cy="237744"/>
          </a:xfrm>
          <a:prstGeom prst="rect">
            <a:avLst/>
          </a:prstGeom>
          <a:noFill/>
          <a:ln/>
        </p:spPr>
        <p:txBody>
          <a:bodyPr wrap="square" lIns="0" tIns="0" rIns="0" bIns="0" rtlCol="0" anchor="ctr"/>
          <a:lstStyle/>
          <a:p>
            <a:pPr algn="l" indent="0" marL="0">
              <a:buNone/>
            </a:pPr>
            <a:r>
              <a:rPr lang="en-US" sz="1100" b="1" dirty="0">
                <a:solidFill>
                  <a:schemeClr val="tx1"/>
                </a:solidFill>
              </a:rPr>
              <a:t>100%</a:t>
            </a:r>
            <a:endParaRPr lang="en-US" sz="1100" dirty="0"/>
          </a:p>
        </p:txBody>
      </p:sp>
      <p:sp>
        <p:nvSpPr>
          <p:cNvPr id="15" name="content-12-text-13"/>
          <p:cNvSpPr txBox="1"/>
          <p:nvPr/>
        </p:nvSpPr>
        <p:spPr>
          <a:xfrm>
            <a:off x="640080" y="3099816"/>
            <a:ext cx="1325880" cy="658368"/>
          </a:xfrm>
          <a:prstGeom prst="rect">
            <a:avLst/>
          </a:prstGeom>
          <a:noFill/>
          <a:ln/>
        </p:spPr>
        <p:txBody>
          <a:bodyPr wrap="square" lIns="0" tIns="0" rIns="0" bIns="0" rtlCol="0" anchor="ctr"/>
          <a:lstStyle/>
          <a:p>
            <a:pPr algn="l" indent="0" marL="0">
              <a:buNone/>
            </a:pPr>
            <a:r>
              <a:rPr lang="en-US" sz="1200" dirty="0">
                <a:solidFill>
                  <a:schemeClr val="tx1"/>
                </a:solidFill>
              </a:rPr>
              <a:t>Attacks blocked</a:t>
            </a:r>
            <a:endParaRPr lang="en-US" sz="1200" dirty="0"/>
          </a:p>
        </p:txBody>
      </p:sp>
      <p:sp>
        <p:nvSpPr>
          <p:cNvPr id="16" name="content-12-rect-14"/>
          <p:cNvSpPr/>
          <p:nvPr/>
        </p:nvSpPr>
        <p:spPr>
          <a:xfrm>
            <a:off x="2057400" y="3168396"/>
            <a:ext cx="718457" cy="237744"/>
          </a:xfrm>
          <a:prstGeom prst="roundRect">
            <a:avLst>
              <a:gd name="adj" fmla="val 11538"/>
            </a:avLst>
          </a:prstGeom>
          <a:solidFill>
            <a:schemeClr val="accent5"/>
          </a:solidFill>
          <a:ln/>
        </p:spPr>
      </p:sp>
      <p:sp>
        <p:nvSpPr>
          <p:cNvPr id="17" name="content-12-text-15"/>
          <p:cNvSpPr txBox="1"/>
          <p:nvPr/>
        </p:nvSpPr>
        <p:spPr>
          <a:xfrm>
            <a:off x="2849009" y="3168396"/>
            <a:ext cx="731520" cy="237744"/>
          </a:xfrm>
          <a:prstGeom prst="rect">
            <a:avLst/>
          </a:prstGeom>
          <a:noFill/>
          <a:ln/>
        </p:spPr>
        <p:txBody>
          <a:bodyPr wrap="square" lIns="0" tIns="0" rIns="0" bIns="0" rtlCol="0" anchor="ctr"/>
          <a:lstStyle/>
          <a:p>
            <a:pPr algn="l" indent="0" marL="0">
              <a:buNone/>
            </a:pPr>
            <a:r>
              <a:rPr lang="en-US" sz="1100" b="1" dirty="0">
                <a:solidFill>
                  <a:schemeClr val="tx1"/>
                </a:solidFill>
              </a:rPr>
              <a:t>28.6%</a:t>
            </a:r>
            <a:endParaRPr lang="en-US" sz="1100" dirty="0"/>
          </a:p>
        </p:txBody>
      </p:sp>
      <p:sp>
        <p:nvSpPr>
          <p:cNvPr id="18" name="content-12-rect-16"/>
          <p:cNvSpPr/>
          <p:nvPr/>
        </p:nvSpPr>
        <p:spPr>
          <a:xfrm>
            <a:off x="2057400" y="3451860"/>
            <a:ext cx="2334986" cy="237744"/>
          </a:xfrm>
          <a:prstGeom prst="roundRect">
            <a:avLst>
              <a:gd name="adj" fmla="val 11538"/>
            </a:avLst>
          </a:prstGeom>
          <a:solidFill>
            <a:schemeClr val="accent1"/>
          </a:solidFill>
          <a:ln/>
        </p:spPr>
      </p:sp>
      <p:sp>
        <p:nvSpPr>
          <p:cNvPr id="19" name="content-12-text-17"/>
          <p:cNvSpPr txBox="1"/>
          <p:nvPr/>
        </p:nvSpPr>
        <p:spPr>
          <a:xfrm>
            <a:off x="4465538" y="3451860"/>
            <a:ext cx="731520" cy="237744"/>
          </a:xfrm>
          <a:prstGeom prst="rect">
            <a:avLst/>
          </a:prstGeom>
          <a:noFill/>
          <a:ln/>
        </p:spPr>
        <p:txBody>
          <a:bodyPr wrap="square" lIns="0" tIns="0" rIns="0" bIns="0" rtlCol="0" anchor="ctr"/>
          <a:lstStyle/>
          <a:p>
            <a:pPr algn="l" indent="0" marL="0">
              <a:buNone/>
            </a:pPr>
            <a:r>
              <a:rPr lang="en-US" sz="1100" b="1" dirty="0">
                <a:solidFill>
                  <a:schemeClr val="tx1"/>
                </a:solidFill>
              </a:rPr>
              <a:t>92.9%</a:t>
            </a:r>
            <a:endParaRPr lang="en-US" sz="1100" dirty="0"/>
          </a:p>
        </p:txBody>
      </p:sp>
      <p:sp>
        <p:nvSpPr>
          <p:cNvPr id="20" name="content-12-rect-18"/>
          <p:cNvSpPr/>
          <p:nvPr/>
        </p:nvSpPr>
        <p:spPr>
          <a:xfrm>
            <a:off x="640080" y="3895344"/>
            <a:ext cx="146304" cy="146304"/>
          </a:xfrm>
          <a:prstGeom prst="rect">
            <a:avLst/>
          </a:prstGeom>
          <a:solidFill>
            <a:schemeClr val="accent5"/>
          </a:solidFill>
          <a:ln/>
        </p:spPr>
      </p:sp>
      <p:sp>
        <p:nvSpPr>
          <p:cNvPr id="21" name="content-12-text-19"/>
          <p:cNvSpPr txBox="1"/>
          <p:nvPr/>
        </p:nvSpPr>
        <p:spPr>
          <a:xfrm>
            <a:off x="859536" y="3840480"/>
            <a:ext cx="1325880" cy="256032"/>
          </a:xfrm>
          <a:prstGeom prst="rect">
            <a:avLst/>
          </a:prstGeom>
          <a:noFill/>
          <a:ln/>
        </p:spPr>
        <p:txBody>
          <a:bodyPr wrap="square" lIns="0" tIns="0" rIns="0" bIns="0" rtlCol="0" anchor="ctr"/>
          <a:lstStyle/>
          <a:p>
            <a:pPr algn="l" indent="0" marL="0">
              <a:buNone/>
            </a:pPr>
            <a:r>
              <a:rPr lang="en-US" sz="1000" dirty="0">
                <a:solidFill>
                  <a:schemeClr val="tx2"/>
                </a:solidFill>
              </a:rPr>
              <a:t>Old rules</a:t>
            </a:r>
            <a:endParaRPr lang="en-US" sz="1000" dirty="0"/>
          </a:p>
        </p:txBody>
      </p:sp>
      <p:sp>
        <p:nvSpPr>
          <p:cNvPr id="22" name="content-12-rect-20"/>
          <p:cNvSpPr/>
          <p:nvPr/>
        </p:nvSpPr>
        <p:spPr>
          <a:xfrm>
            <a:off x="2194560" y="3895344"/>
            <a:ext cx="146304" cy="146304"/>
          </a:xfrm>
          <a:prstGeom prst="rect">
            <a:avLst/>
          </a:prstGeom>
          <a:solidFill>
            <a:schemeClr val="accent1"/>
          </a:solidFill>
          <a:ln/>
        </p:spPr>
      </p:sp>
      <p:sp>
        <p:nvSpPr>
          <p:cNvPr id="23" name="content-12-text-21"/>
          <p:cNvSpPr txBox="1"/>
          <p:nvPr/>
        </p:nvSpPr>
        <p:spPr>
          <a:xfrm>
            <a:off x="2414016" y="3840480"/>
            <a:ext cx="1325880" cy="256032"/>
          </a:xfrm>
          <a:prstGeom prst="rect">
            <a:avLst/>
          </a:prstGeom>
          <a:noFill/>
          <a:ln/>
        </p:spPr>
        <p:txBody>
          <a:bodyPr wrap="square" lIns="0" tIns="0" rIns="0" bIns="0" rtlCol="0" anchor="ctr"/>
          <a:lstStyle/>
          <a:p>
            <a:pPr algn="l" indent="0" marL="0">
              <a:buNone/>
            </a:pPr>
            <a:r>
              <a:rPr lang="en-US" sz="1000" dirty="0">
                <a:solidFill>
                  <a:schemeClr val="tx2"/>
                </a:solidFill>
              </a:rPr>
              <a:t>Trained reader</a:t>
            </a:r>
            <a:endParaRPr lang="en-US" sz="1000" dirty="0"/>
          </a:p>
        </p:txBody>
      </p:sp>
      <p:sp>
        <p:nvSpPr>
          <p:cNvPr id="24" name="content-12-rect-22"/>
          <p:cNvSpPr/>
          <p:nvPr/>
        </p:nvSpPr>
        <p:spPr>
          <a:xfrm>
            <a:off x="5486400" y="1234440"/>
            <a:ext cx="3200400" cy="1463040"/>
          </a:xfrm>
          <a:prstGeom prst="roundRect">
            <a:avLst>
              <a:gd name="adj" fmla="val 5000"/>
            </a:avLst>
          </a:prstGeom>
          <a:solidFill>
            <a:schemeClr val="bg2"/>
          </a:solidFill>
          <a:ln/>
        </p:spPr>
      </p:sp>
      <p:sp>
        <p:nvSpPr>
          <p:cNvPr id="25" name="content-12-text-23"/>
          <p:cNvSpPr txBox="1"/>
          <p:nvPr/>
        </p:nvSpPr>
        <p:spPr>
          <a:xfrm>
            <a:off x="5623560" y="1280160"/>
            <a:ext cx="2926080" cy="457200"/>
          </a:xfrm>
          <a:prstGeom prst="rect">
            <a:avLst/>
          </a:prstGeom>
          <a:noFill/>
          <a:ln/>
        </p:spPr>
        <p:txBody>
          <a:bodyPr wrap="square" lIns="0" tIns="0" rIns="0" bIns="0" rtlCol="0" anchor="ctr"/>
          <a:lstStyle/>
          <a:p>
            <a:pPr algn="l" indent="0" marL="0">
              <a:buNone/>
            </a:pPr>
            <a:r>
              <a:rPr lang="en-US" sz="1200" b="1" dirty="0">
                <a:solidFill>
                  <a:schemeClr val="tx1"/>
                </a:solidFill>
              </a:rPr>
              <a:t>Router: flagged payments found in its top 1%</a:t>
            </a:r>
            <a:endParaRPr lang="en-US" sz="1200" dirty="0"/>
          </a:p>
        </p:txBody>
      </p:sp>
      <p:sp>
        <p:nvSpPr>
          <p:cNvPr id="26" name="content-12-text-24"/>
          <p:cNvSpPr txBox="1"/>
          <p:nvPr/>
        </p:nvSpPr>
        <p:spPr>
          <a:xfrm>
            <a:off x="5623560" y="1783080"/>
            <a:ext cx="777240" cy="411480"/>
          </a:xfrm>
          <a:prstGeom prst="rect">
            <a:avLst/>
          </a:prstGeom>
          <a:noFill/>
          <a:ln/>
        </p:spPr>
        <p:txBody>
          <a:bodyPr wrap="square" lIns="0" tIns="0" rIns="0" bIns="0" rtlCol="0" anchor="ctr"/>
          <a:lstStyle/>
          <a:p>
            <a:pPr algn="l" indent="0" marL="0">
              <a:buNone/>
            </a:pPr>
            <a:r>
              <a:rPr lang="en-US" sz="1100" dirty="0">
                <a:solidFill>
                  <a:schemeClr val="tx1"/>
                </a:solidFill>
              </a:rPr>
              <a:t>Random</a:t>
            </a:r>
            <a:endParaRPr lang="en-US" sz="1100" dirty="0"/>
          </a:p>
        </p:txBody>
      </p:sp>
      <p:sp>
        <p:nvSpPr>
          <p:cNvPr id="27" name="content-12-rect-25"/>
          <p:cNvSpPr/>
          <p:nvPr/>
        </p:nvSpPr>
        <p:spPr>
          <a:xfrm>
            <a:off x="6492240" y="1869948"/>
            <a:ext cx="36576" cy="237744"/>
          </a:xfrm>
          <a:prstGeom prst="roundRect">
            <a:avLst>
              <a:gd name="adj" fmla="val 75000"/>
            </a:avLst>
          </a:prstGeom>
          <a:solidFill>
            <a:schemeClr val="accent5"/>
          </a:solidFill>
          <a:ln/>
        </p:spPr>
      </p:sp>
      <p:sp>
        <p:nvSpPr>
          <p:cNvPr id="28" name="content-12-text-26"/>
          <p:cNvSpPr txBox="1"/>
          <p:nvPr/>
        </p:nvSpPr>
        <p:spPr>
          <a:xfrm>
            <a:off x="6601968" y="1869948"/>
            <a:ext cx="731520" cy="237744"/>
          </a:xfrm>
          <a:prstGeom prst="rect">
            <a:avLst/>
          </a:prstGeom>
          <a:noFill/>
          <a:ln/>
        </p:spPr>
        <p:txBody>
          <a:bodyPr wrap="square" lIns="0" tIns="0" rIns="0" bIns="0" rtlCol="0" anchor="ctr"/>
          <a:lstStyle/>
          <a:p>
            <a:pPr algn="l" indent="0" marL="0">
              <a:buNone/>
            </a:pPr>
            <a:r>
              <a:rPr lang="en-US" sz="1000" b="1" dirty="0">
                <a:solidFill>
                  <a:schemeClr val="tx1"/>
                </a:solidFill>
              </a:rPr>
              <a:t>1.2%</a:t>
            </a:r>
            <a:endParaRPr lang="en-US" sz="1000" dirty="0"/>
          </a:p>
        </p:txBody>
      </p:sp>
      <p:sp>
        <p:nvSpPr>
          <p:cNvPr id="29" name="content-12-text-27"/>
          <p:cNvSpPr txBox="1"/>
          <p:nvPr/>
        </p:nvSpPr>
        <p:spPr>
          <a:xfrm>
            <a:off x="5623560" y="2194560"/>
            <a:ext cx="777240" cy="411480"/>
          </a:xfrm>
          <a:prstGeom prst="rect">
            <a:avLst/>
          </a:prstGeom>
          <a:noFill/>
          <a:ln/>
        </p:spPr>
        <p:txBody>
          <a:bodyPr wrap="square" lIns="0" tIns="0" rIns="0" bIns="0" rtlCol="0" anchor="ctr"/>
          <a:lstStyle/>
          <a:p>
            <a:pPr algn="l" indent="0" marL="0">
              <a:buNone/>
            </a:pPr>
            <a:r>
              <a:rPr lang="en-US" sz="1100" dirty="0">
                <a:solidFill>
                  <a:schemeClr val="tx1"/>
                </a:solidFill>
              </a:rPr>
              <a:t>Router</a:t>
            </a:r>
            <a:endParaRPr lang="en-US" sz="1100" dirty="0"/>
          </a:p>
        </p:txBody>
      </p:sp>
      <p:sp>
        <p:nvSpPr>
          <p:cNvPr id="30" name="content-12-rect-28"/>
          <p:cNvSpPr/>
          <p:nvPr/>
        </p:nvSpPr>
        <p:spPr>
          <a:xfrm>
            <a:off x="6492240" y="2281428"/>
            <a:ext cx="953838" cy="237744"/>
          </a:xfrm>
          <a:prstGeom prst="roundRect">
            <a:avLst>
              <a:gd name="adj" fmla="val 11538"/>
            </a:avLst>
          </a:prstGeom>
          <a:solidFill>
            <a:schemeClr val="accent1"/>
          </a:solidFill>
          <a:ln/>
        </p:spPr>
      </p:sp>
      <p:sp>
        <p:nvSpPr>
          <p:cNvPr id="31" name="content-12-text-29"/>
          <p:cNvSpPr txBox="1"/>
          <p:nvPr/>
        </p:nvSpPr>
        <p:spPr>
          <a:xfrm>
            <a:off x="7519230" y="2281428"/>
            <a:ext cx="731520" cy="237744"/>
          </a:xfrm>
          <a:prstGeom prst="rect">
            <a:avLst/>
          </a:prstGeom>
          <a:noFill/>
          <a:ln/>
        </p:spPr>
        <p:txBody>
          <a:bodyPr wrap="square" lIns="0" tIns="0" rIns="0" bIns="0" rtlCol="0" anchor="ctr"/>
          <a:lstStyle/>
          <a:p>
            <a:pPr algn="l" indent="0" marL="0">
              <a:buNone/>
            </a:pPr>
            <a:r>
              <a:rPr lang="en-US" sz="1000" b="1" dirty="0">
                <a:solidFill>
                  <a:schemeClr val="tx1"/>
                </a:solidFill>
              </a:rPr>
              <a:t>63.2%</a:t>
            </a:r>
            <a:endParaRPr lang="en-US" sz="1000" dirty="0"/>
          </a:p>
        </p:txBody>
      </p:sp>
      <p:sp>
        <p:nvSpPr>
          <p:cNvPr id="32" name="content-12-rect-30"/>
          <p:cNvSpPr/>
          <p:nvPr/>
        </p:nvSpPr>
        <p:spPr>
          <a:xfrm>
            <a:off x="5486400" y="2834640"/>
            <a:ext cx="3200400" cy="1554480"/>
          </a:xfrm>
          <a:prstGeom prst="roundRect">
            <a:avLst>
              <a:gd name="adj" fmla="val 4706"/>
            </a:avLst>
          </a:prstGeom>
          <a:solidFill>
            <a:schemeClr val="bg2"/>
          </a:solidFill>
          <a:ln/>
        </p:spPr>
      </p:sp>
      <p:sp>
        <p:nvSpPr>
          <p:cNvPr id="33" name="content-12-text-31"/>
          <p:cNvSpPr txBox="1"/>
          <p:nvPr/>
        </p:nvSpPr>
        <p:spPr>
          <a:xfrm>
            <a:off x="5623560" y="2880360"/>
            <a:ext cx="2926080" cy="457200"/>
          </a:xfrm>
          <a:prstGeom prst="rect">
            <a:avLst/>
          </a:prstGeom>
          <a:noFill/>
          <a:ln/>
        </p:spPr>
        <p:txBody>
          <a:bodyPr wrap="square" lIns="0" tIns="0" rIns="0" bIns="0" rtlCol="0" anchor="ctr"/>
          <a:lstStyle/>
          <a:p>
            <a:pPr algn="l" indent="0" marL="0">
              <a:buNone/>
            </a:pPr>
            <a:r>
              <a:rPr lang="en-US" sz="1200" b="1" dirty="0">
                <a:solidFill>
                  <a:schemeClr val="tx1"/>
                </a:solidFill>
              </a:rPr>
              <a:t>Dialogue policy: wrong plans (lower is better)</a:t>
            </a:r>
            <a:endParaRPr lang="en-US" sz="1200" dirty="0"/>
          </a:p>
        </p:txBody>
      </p:sp>
      <p:sp>
        <p:nvSpPr>
          <p:cNvPr id="34" name="content-12-text-32"/>
          <p:cNvSpPr txBox="1"/>
          <p:nvPr/>
        </p:nvSpPr>
        <p:spPr>
          <a:xfrm>
            <a:off x="5623560" y="3383280"/>
            <a:ext cx="777240" cy="411480"/>
          </a:xfrm>
          <a:prstGeom prst="rect">
            <a:avLst/>
          </a:prstGeom>
          <a:noFill/>
          <a:ln/>
        </p:spPr>
        <p:txBody>
          <a:bodyPr wrap="square" lIns="0" tIns="0" rIns="0" bIns="0" rtlCol="0" anchor="ctr"/>
          <a:lstStyle/>
          <a:p>
            <a:pPr algn="l" indent="0" marL="0">
              <a:buNone/>
            </a:pPr>
            <a:r>
              <a:rPr lang="en-US" sz="1100" dirty="0">
                <a:solidFill>
                  <a:schemeClr val="tx1"/>
                </a:solidFill>
              </a:rPr>
              <a:t>Before</a:t>
            </a:r>
            <a:endParaRPr lang="en-US" sz="1100" dirty="0"/>
          </a:p>
        </p:txBody>
      </p:sp>
      <p:sp>
        <p:nvSpPr>
          <p:cNvPr id="35" name="content-12-rect-33"/>
          <p:cNvSpPr/>
          <p:nvPr/>
        </p:nvSpPr>
        <p:spPr>
          <a:xfrm>
            <a:off x="6492240" y="3470148"/>
            <a:ext cx="1068705" cy="237744"/>
          </a:xfrm>
          <a:prstGeom prst="roundRect">
            <a:avLst>
              <a:gd name="adj" fmla="val 11538"/>
            </a:avLst>
          </a:prstGeom>
          <a:solidFill>
            <a:schemeClr val="accent5"/>
          </a:solidFill>
          <a:ln/>
        </p:spPr>
      </p:sp>
      <p:sp>
        <p:nvSpPr>
          <p:cNvPr id="36" name="content-12-text-34"/>
          <p:cNvSpPr txBox="1"/>
          <p:nvPr/>
        </p:nvSpPr>
        <p:spPr>
          <a:xfrm>
            <a:off x="7634097" y="3470148"/>
            <a:ext cx="731520" cy="237744"/>
          </a:xfrm>
          <a:prstGeom prst="rect">
            <a:avLst/>
          </a:prstGeom>
          <a:noFill/>
          <a:ln/>
        </p:spPr>
        <p:txBody>
          <a:bodyPr wrap="square" lIns="0" tIns="0" rIns="0" bIns="0" rtlCol="0" anchor="ctr"/>
          <a:lstStyle/>
          <a:p>
            <a:pPr algn="l" indent="0" marL="0">
              <a:buNone/>
            </a:pPr>
            <a:r>
              <a:rPr lang="en-US" sz="1000" b="1" dirty="0">
                <a:solidFill>
                  <a:schemeClr val="tx1"/>
                </a:solidFill>
              </a:rPr>
              <a:t>2.8%</a:t>
            </a:r>
            <a:endParaRPr lang="en-US" sz="1000" dirty="0"/>
          </a:p>
        </p:txBody>
      </p:sp>
      <p:sp>
        <p:nvSpPr>
          <p:cNvPr id="37" name="content-12-text-35"/>
          <p:cNvSpPr txBox="1"/>
          <p:nvPr/>
        </p:nvSpPr>
        <p:spPr>
          <a:xfrm>
            <a:off x="5623560" y="3794760"/>
            <a:ext cx="777240" cy="411480"/>
          </a:xfrm>
          <a:prstGeom prst="rect">
            <a:avLst/>
          </a:prstGeom>
          <a:noFill/>
          <a:ln/>
        </p:spPr>
        <p:txBody>
          <a:bodyPr wrap="square" lIns="0" tIns="0" rIns="0" bIns="0" rtlCol="0" anchor="ctr"/>
          <a:lstStyle/>
          <a:p>
            <a:pPr algn="l" indent="0" marL="0">
              <a:buNone/>
            </a:pPr>
            <a:r>
              <a:rPr lang="en-US" sz="1100" dirty="0">
                <a:solidFill>
                  <a:schemeClr val="tx1"/>
                </a:solidFill>
              </a:rPr>
              <a:t>Learned</a:t>
            </a:r>
            <a:endParaRPr lang="en-US" sz="1100" dirty="0"/>
          </a:p>
        </p:txBody>
      </p:sp>
      <p:sp>
        <p:nvSpPr>
          <p:cNvPr id="38" name="content-12-rect-36"/>
          <p:cNvSpPr/>
          <p:nvPr/>
        </p:nvSpPr>
        <p:spPr>
          <a:xfrm>
            <a:off x="6492240" y="3881628"/>
            <a:ext cx="314325" cy="237744"/>
          </a:xfrm>
          <a:prstGeom prst="roundRect">
            <a:avLst>
              <a:gd name="adj" fmla="val 11538"/>
            </a:avLst>
          </a:prstGeom>
          <a:solidFill>
            <a:schemeClr val="accent1"/>
          </a:solidFill>
          <a:ln/>
        </p:spPr>
      </p:sp>
      <p:sp>
        <p:nvSpPr>
          <p:cNvPr id="39" name="content-12-text-37"/>
          <p:cNvSpPr txBox="1"/>
          <p:nvPr/>
        </p:nvSpPr>
        <p:spPr>
          <a:xfrm>
            <a:off x="6879717" y="3881628"/>
            <a:ext cx="731520" cy="237744"/>
          </a:xfrm>
          <a:prstGeom prst="rect">
            <a:avLst/>
          </a:prstGeom>
          <a:noFill/>
          <a:ln/>
        </p:spPr>
        <p:txBody>
          <a:bodyPr wrap="square" lIns="0" tIns="0" rIns="0" bIns="0" rtlCol="0" anchor="ctr"/>
          <a:lstStyle/>
          <a:p>
            <a:pPr algn="l" indent="0" marL="0">
              <a:buNone/>
            </a:pPr>
            <a:r>
              <a:rPr lang="en-US" sz="1000" b="1" dirty="0">
                <a:solidFill>
                  <a:schemeClr val="tx1"/>
                </a:solidFill>
              </a:rPr>
              <a:t>0.8%</a:t>
            </a:r>
            <a:endParaRPr lang="en-US" sz="1000" dirty="0"/>
          </a:p>
        </p:txBody>
      </p:sp>
      <p:sp>
        <p:nvSpPr>
          <p:cNvPr id="40" name="content-12-text-38"/>
          <p:cNvSpPr txBox="1"/>
          <p:nvPr/>
        </p:nvSpPr>
        <p:spPr>
          <a:xfrm>
            <a:off x="5623560" y="4160520"/>
            <a:ext cx="2926080" cy="228600"/>
          </a:xfrm>
          <a:prstGeom prst="rect">
            <a:avLst/>
          </a:prstGeom>
          <a:noFill/>
          <a:ln/>
        </p:spPr>
        <p:txBody>
          <a:bodyPr wrap="square" lIns="0" tIns="0" rIns="0" bIns="0" rtlCol="0" anchor="t"/>
          <a:lstStyle/>
          <a:p>
            <a:pPr algn="l" indent="0" marL="0">
              <a:buNone/>
            </a:pPr>
            <a:r>
              <a:rPr lang="en-US" sz="900" dirty="0">
                <a:solidFill>
                  <a:schemeClr val="tx2"/>
                </a:solidFill>
              </a:rPr>
              <a:t>1.17 questions on average, up from 0.44</a:t>
            </a:r>
            <a:endParaRPr lang="en-US" sz="900" dirty="0"/>
          </a:p>
        </p:txBody>
      </p:sp>
      <p:sp>
        <p:nvSpPr>
          <p:cNvPr id="41" name="content-12-text-39"/>
          <p:cNvSpPr txBox="1"/>
          <p:nvPr/>
        </p:nvSpPr>
        <p:spPr>
          <a:xfrm>
            <a:off x="457200" y="4526280"/>
            <a:ext cx="8229600" cy="457200"/>
          </a:xfrm>
          <a:prstGeom prst="rect">
            <a:avLst/>
          </a:prstGeom>
          <a:noFill/>
          <a:ln/>
        </p:spPr>
        <p:txBody>
          <a:bodyPr wrap="square" lIns="0" tIns="0" rIns="0" bIns="0" rtlCol="0" anchor="t"/>
          <a:lstStyle/>
          <a:p>
            <a:pPr algn="l" indent="0" marL="0">
              <a:buNone/>
            </a:pPr>
            <a:r>
              <a:rPr lang="en-US" sz="1050" dirty="0">
                <a:solidFill>
                  <a:schemeClr val="tx2"/>
                </a:solidFill>
              </a:rPr>
              <a:t>Small samples; simulated parents; synthetic data. As a plain yes or no the router is modest: flagging nothing is already 99.8% accurate, so we show how it orders payments.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Risk score, human decision</a:t>
            </a:r>
            <a:endParaRPr lang="en-US" sz="3600" dirty="0"/>
          </a:p>
        </p:txBody>
      </p:sp>
      <p:sp>
        <p:nvSpPr>
          <p:cNvPr id="3" name="content-13-rect-1"/>
          <p:cNvSpPr/>
          <p:nvPr/>
        </p:nvSpPr>
        <p:spPr>
          <a:xfrm>
            <a:off x="384048" y="1161288"/>
            <a:ext cx="5266944" cy="1874520"/>
          </a:xfrm>
          <a:prstGeom prst="roundRect">
            <a:avLst>
              <a:gd name="adj" fmla="val 2927"/>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13-image-2" descr="The parent's view: AI risk score 99 out of 100 with the four factors">    </p:cNvPr>
          <p:cNvPicPr>
            <a:picLocks noChangeAspect="1"/>
          </p:cNvPicPr>
          <p:nvPr/>
        </p:nvPicPr>
        <p:blipFill>
          <a:blip r:embed="rId1"/>
          <a:stretch>
            <a:fillRect/>
          </a:stretch>
        </p:blipFill>
        <p:spPr>
          <a:xfrm>
            <a:off x="457200" y="1234440"/>
            <a:ext cx="5120640" cy="1728216"/>
          </a:xfrm>
          <a:prstGeom prst="rect">
            <a:avLst/>
          </a:prstGeom>
        </p:spPr>
      </p:pic>
      <p:sp>
        <p:nvSpPr>
          <p:cNvPr id="5" name="content-13-text-3"/>
          <p:cNvSpPr txBox="1"/>
          <p:nvPr/>
        </p:nvSpPr>
        <p:spPr>
          <a:xfrm>
            <a:off x="457200" y="3072384"/>
            <a:ext cx="5120640" cy="274320"/>
          </a:xfrm>
          <a:prstGeom prst="rect">
            <a:avLst/>
          </a:prstGeom>
          <a:noFill/>
          <a:ln/>
        </p:spPr>
        <p:txBody>
          <a:bodyPr wrap="square" lIns="0" tIns="0" rIns="0" bIns="0" rtlCol="0" anchor="t"/>
          <a:lstStyle/>
          <a:p>
            <a:pPr algn="l" indent="0" marL="0">
              <a:buNone/>
            </a:pPr>
            <a:r>
              <a:rPr lang="en-US" sz="1000" dirty="0">
                <a:solidFill>
                  <a:schemeClr val="tx2"/>
                </a:solidFill>
              </a:rPr>
              <a:t>The parent's view: score 99 of 100, medium risk, the four factors and a warning.</a:t>
            </a:r>
            <a:endParaRPr lang="en-US" sz="1000" dirty="0"/>
          </a:p>
        </p:txBody>
      </p:sp>
      <p:sp>
        <p:nvSpPr>
          <p:cNvPr id="6" name="content-13-rect-4"/>
          <p:cNvSpPr/>
          <p:nvPr/>
        </p:nvSpPr>
        <p:spPr>
          <a:xfrm>
            <a:off x="384048" y="3328416"/>
            <a:ext cx="2615184" cy="1453896"/>
          </a:xfrm>
          <a:prstGeom prst="roundRect">
            <a:avLst>
              <a:gd name="adj" fmla="val 3774"/>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3-image-5" descr="The bank reviewer's decision: yes, ask for more or no, signed with MFA">    </p:cNvPr>
          <p:cNvPicPr>
            <a:picLocks noChangeAspect="1"/>
          </p:cNvPicPr>
          <p:nvPr/>
        </p:nvPicPr>
        <p:blipFill>
          <a:blip r:embed="rId2"/>
          <a:stretch>
            <a:fillRect/>
          </a:stretch>
        </p:blipFill>
        <p:spPr>
          <a:xfrm>
            <a:off x="457200" y="3401568"/>
            <a:ext cx="2468880" cy="1307592"/>
          </a:xfrm>
          <a:prstGeom prst="rect">
            <a:avLst/>
          </a:prstGeom>
        </p:spPr>
      </p:pic>
      <p:sp>
        <p:nvSpPr>
          <p:cNvPr id="8" name="content-13-text-6"/>
          <p:cNvSpPr txBox="1"/>
          <p:nvPr/>
        </p:nvSpPr>
        <p:spPr>
          <a:xfrm>
            <a:off x="3154680" y="3474720"/>
            <a:ext cx="2423160" cy="1188720"/>
          </a:xfrm>
          <a:prstGeom prst="rect">
            <a:avLst/>
          </a:prstGeom>
          <a:noFill/>
          <a:ln/>
        </p:spPr>
        <p:txBody>
          <a:bodyPr wrap="square" lIns="0" tIns="0" rIns="0" bIns="0" rtlCol="0" anchor="t"/>
          <a:lstStyle/>
          <a:p>
            <a:pPr algn="l" indent="0" marL="0">
              <a:buNone/>
            </a:pPr>
            <a:r>
              <a:rPr lang="en-US" sz="1000" dirty="0">
                <a:solidFill>
                  <a:schemeClr val="tx2"/>
                </a:solidFill>
              </a:rPr>
              <a:t>The bank reviewer's view: three answers, signed with a fresh MFA code. The AI cannot choose for them.</a:t>
            </a:r>
            <a:endParaRPr lang="en-US" sz="1000" dirty="0"/>
          </a:p>
        </p:txBody>
      </p:sp>
      <p:sp>
        <p:nvSpPr>
          <p:cNvPr id="9" name="content-13-rect-7"/>
          <p:cNvSpPr/>
          <p:nvPr/>
        </p:nvSpPr>
        <p:spPr>
          <a:xfrm>
            <a:off x="5852160" y="1234440"/>
            <a:ext cx="2834640" cy="813816"/>
          </a:xfrm>
          <a:prstGeom prst="roundRect">
            <a:avLst>
              <a:gd name="adj" fmla="val 8989"/>
            </a:avLst>
          </a:prstGeom>
          <a:solidFill>
            <a:schemeClr val="bg2"/>
          </a:solidFill>
          <a:ln/>
        </p:spPr>
      </p:sp>
      <p:sp>
        <p:nvSpPr>
          <p:cNvPr id="10" name="content-13-rect-8"/>
          <p:cNvSpPr/>
          <p:nvPr/>
        </p:nvSpPr>
        <p:spPr>
          <a:xfrm>
            <a:off x="5852160" y="1234440"/>
            <a:ext cx="64008" cy="813816"/>
          </a:xfrm>
          <a:prstGeom prst="rect">
            <a:avLst/>
          </a:prstGeom>
          <a:solidFill>
            <a:schemeClr val="accent1"/>
          </a:solidFill>
          <a:ln/>
        </p:spPr>
      </p:sp>
      <p:sp>
        <p:nvSpPr>
          <p:cNvPr id="11" name="content-13-text-9"/>
          <p:cNvSpPr txBox="1"/>
          <p:nvPr/>
        </p:nvSpPr>
        <p:spPr>
          <a:xfrm>
            <a:off x="6016752" y="1271016"/>
            <a:ext cx="2606040" cy="237744"/>
          </a:xfrm>
          <a:prstGeom prst="rect">
            <a:avLst/>
          </a:prstGeom>
          <a:noFill/>
          <a:ln/>
        </p:spPr>
        <p:txBody>
          <a:bodyPr wrap="square" lIns="0" tIns="0" rIns="0" bIns="0" rtlCol="0" anchor="ctr"/>
          <a:lstStyle/>
          <a:p>
            <a:pPr algn="l" indent="0" marL="0">
              <a:buNone/>
            </a:pPr>
            <a:r>
              <a:rPr lang="en-US" sz="1150" b="1" dirty="0">
                <a:solidFill>
                  <a:schemeClr val="tx1"/>
                </a:solidFill>
              </a:rPr>
              <a:t>1  Score</a:t>
            </a:r>
            <a:endParaRPr lang="en-US" sz="1150" dirty="0"/>
          </a:p>
        </p:txBody>
      </p:sp>
      <p:sp>
        <p:nvSpPr>
          <p:cNvPr id="12" name="content-13-text-10"/>
          <p:cNvSpPr txBox="1"/>
          <p:nvPr/>
        </p:nvSpPr>
        <p:spPr>
          <a:xfrm>
            <a:off x="6016752" y="1508760"/>
            <a:ext cx="2606040" cy="530352"/>
          </a:xfrm>
          <a:prstGeom prst="rect">
            <a:avLst/>
          </a:prstGeom>
          <a:noFill/>
          <a:ln/>
        </p:spPr>
        <p:txBody>
          <a:bodyPr wrap="square" lIns="0" tIns="0" rIns="0" bIns="0" rtlCol="0" anchor="t"/>
          <a:lstStyle/>
          <a:p>
            <a:pPr algn="l" indent="0" marL="0">
              <a:buNone/>
            </a:pPr>
            <a:r>
              <a:rPr lang="en-US" sz="900" dirty="0">
                <a:solidFill>
                  <a:schemeClr val="tx2"/>
                </a:solidFill>
              </a:rPr>
              <a:t>A small neural network rates each payment 0 to 100 from four factors: amount, frequency, timeline and person.</a:t>
            </a:r>
            <a:endParaRPr lang="en-US" sz="900" dirty="0"/>
          </a:p>
        </p:txBody>
      </p:sp>
      <p:sp>
        <p:nvSpPr>
          <p:cNvPr id="13" name="content-13-rect-11"/>
          <p:cNvSpPr/>
          <p:nvPr/>
        </p:nvSpPr>
        <p:spPr>
          <a:xfrm>
            <a:off x="5852160" y="2121408"/>
            <a:ext cx="2834640" cy="813816"/>
          </a:xfrm>
          <a:prstGeom prst="roundRect">
            <a:avLst>
              <a:gd name="adj" fmla="val 8989"/>
            </a:avLst>
          </a:prstGeom>
          <a:solidFill>
            <a:schemeClr val="bg2"/>
          </a:solidFill>
          <a:ln/>
        </p:spPr>
      </p:sp>
      <p:sp>
        <p:nvSpPr>
          <p:cNvPr id="14" name="content-13-rect-12"/>
          <p:cNvSpPr/>
          <p:nvPr/>
        </p:nvSpPr>
        <p:spPr>
          <a:xfrm>
            <a:off x="5852160" y="2121408"/>
            <a:ext cx="64008" cy="813816"/>
          </a:xfrm>
          <a:prstGeom prst="rect">
            <a:avLst/>
          </a:prstGeom>
          <a:solidFill>
            <a:schemeClr val="accent1"/>
          </a:solidFill>
          <a:ln/>
        </p:spPr>
      </p:sp>
      <p:sp>
        <p:nvSpPr>
          <p:cNvPr id="15" name="content-13-text-13"/>
          <p:cNvSpPr txBox="1"/>
          <p:nvPr/>
        </p:nvSpPr>
        <p:spPr>
          <a:xfrm>
            <a:off x="6016752" y="2157984"/>
            <a:ext cx="2606040" cy="237744"/>
          </a:xfrm>
          <a:prstGeom prst="rect">
            <a:avLst/>
          </a:prstGeom>
          <a:noFill/>
          <a:ln/>
        </p:spPr>
        <p:txBody>
          <a:bodyPr wrap="square" lIns="0" tIns="0" rIns="0" bIns="0" rtlCol="0" anchor="ctr"/>
          <a:lstStyle/>
          <a:p>
            <a:pPr algn="l" indent="0" marL="0">
              <a:buNone/>
            </a:pPr>
            <a:r>
              <a:rPr lang="en-US" sz="1150" b="1" dirty="0">
                <a:solidFill>
                  <a:schemeClr val="tx1"/>
                </a:solidFill>
              </a:rPr>
              <a:t>2  Route</a:t>
            </a:r>
            <a:endParaRPr lang="en-US" sz="1150" dirty="0"/>
          </a:p>
        </p:txBody>
      </p:sp>
      <p:sp>
        <p:nvSpPr>
          <p:cNvPr id="16" name="content-13-text-14"/>
          <p:cNvSpPr txBox="1"/>
          <p:nvPr/>
        </p:nvSpPr>
        <p:spPr>
          <a:xfrm>
            <a:off x="6016752" y="2395728"/>
            <a:ext cx="2606040" cy="530352"/>
          </a:xfrm>
          <a:prstGeom prst="rect">
            <a:avLst/>
          </a:prstGeom>
          <a:noFill/>
          <a:ln/>
        </p:spPr>
        <p:txBody>
          <a:bodyPr wrap="square" lIns="0" tIns="0" rIns="0" bIns="0" rtlCol="0" anchor="t"/>
          <a:lstStyle/>
          <a:p>
            <a:pPr algn="l" indent="0" marL="0">
              <a:buNone/>
            </a:pPr>
            <a:r>
              <a:rPr lang="en-US" sz="900" dirty="0">
                <a:solidFill>
                  <a:schemeClr val="tx2"/>
                </a:solidFill>
              </a:rPr>
              <a:t>Low: no warning, nobody waits. Medium or high: a warning, and a person at the bank looks.</a:t>
            </a:r>
            <a:endParaRPr lang="en-US" sz="900" dirty="0"/>
          </a:p>
        </p:txBody>
      </p:sp>
      <p:sp>
        <p:nvSpPr>
          <p:cNvPr id="17" name="content-13-rect-15"/>
          <p:cNvSpPr/>
          <p:nvPr/>
        </p:nvSpPr>
        <p:spPr>
          <a:xfrm>
            <a:off x="5852160" y="3008376"/>
            <a:ext cx="2834640" cy="813816"/>
          </a:xfrm>
          <a:prstGeom prst="roundRect">
            <a:avLst>
              <a:gd name="adj" fmla="val 8989"/>
            </a:avLst>
          </a:prstGeom>
          <a:solidFill>
            <a:schemeClr val="bg2"/>
          </a:solidFill>
          <a:ln/>
        </p:spPr>
      </p:sp>
      <p:sp>
        <p:nvSpPr>
          <p:cNvPr id="18" name="content-13-rect-16"/>
          <p:cNvSpPr/>
          <p:nvPr/>
        </p:nvSpPr>
        <p:spPr>
          <a:xfrm>
            <a:off x="5852160" y="3008376"/>
            <a:ext cx="64008" cy="813816"/>
          </a:xfrm>
          <a:prstGeom prst="rect">
            <a:avLst/>
          </a:prstGeom>
          <a:solidFill>
            <a:schemeClr val="accent1"/>
          </a:solidFill>
          <a:ln/>
        </p:spPr>
      </p:sp>
      <p:sp>
        <p:nvSpPr>
          <p:cNvPr id="19" name="content-13-text-17"/>
          <p:cNvSpPr txBox="1"/>
          <p:nvPr/>
        </p:nvSpPr>
        <p:spPr>
          <a:xfrm>
            <a:off x="6016752" y="3044952"/>
            <a:ext cx="2606040" cy="237744"/>
          </a:xfrm>
          <a:prstGeom prst="rect">
            <a:avLst/>
          </a:prstGeom>
          <a:noFill/>
          <a:ln/>
        </p:spPr>
        <p:txBody>
          <a:bodyPr wrap="square" lIns="0" tIns="0" rIns="0" bIns="0" rtlCol="0" anchor="ctr"/>
          <a:lstStyle/>
          <a:p>
            <a:pPr algn="l" indent="0" marL="0">
              <a:buNone/>
            </a:pPr>
            <a:r>
              <a:rPr lang="en-US" sz="1150" b="1" dirty="0">
                <a:solidFill>
                  <a:schemeClr val="tx1"/>
                </a:solidFill>
              </a:rPr>
              <a:t>3  Decide</a:t>
            </a:r>
            <a:endParaRPr lang="en-US" sz="1150" dirty="0"/>
          </a:p>
        </p:txBody>
      </p:sp>
      <p:sp>
        <p:nvSpPr>
          <p:cNvPr id="20" name="content-13-text-18"/>
          <p:cNvSpPr txBox="1"/>
          <p:nvPr/>
        </p:nvSpPr>
        <p:spPr>
          <a:xfrm>
            <a:off x="6016752" y="3282696"/>
            <a:ext cx="2606040" cy="530352"/>
          </a:xfrm>
          <a:prstGeom prst="rect">
            <a:avLst/>
          </a:prstGeom>
          <a:noFill/>
          <a:ln/>
        </p:spPr>
        <p:txBody>
          <a:bodyPr wrap="square" lIns="0" tIns="0" rIns="0" bIns="0" rtlCol="0" anchor="t"/>
          <a:lstStyle/>
          <a:p>
            <a:pPr algn="l" indent="0" marL="0">
              <a:buNone/>
            </a:pPr>
            <a:r>
              <a:rPr lang="en-US" sz="900" dirty="0">
                <a:solidFill>
                  <a:schemeClr val="tx2"/>
                </a:solidFill>
              </a:rPr>
              <a:t>The reviewer answers yes, ask for more or no, signed with a fresh MFA code. The parent still authorizes.</a:t>
            </a:r>
            <a:endParaRPr lang="en-US" sz="900" dirty="0"/>
          </a:p>
        </p:txBody>
      </p:sp>
      <p:sp>
        <p:nvSpPr>
          <p:cNvPr id="21" name="content-13-rect-19"/>
          <p:cNvSpPr/>
          <p:nvPr/>
        </p:nvSpPr>
        <p:spPr>
          <a:xfrm>
            <a:off x="5852160" y="3895344"/>
            <a:ext cx="2834640" cy="813816"/>
          </a:xfrm>
          <a:prstGeom prst="roundRect">
            <a:avLst>
              <a:gd name="adj" fmla="val 8989"/>
            </a:avLst>
          </a:prstGeom>
          <a:solidFill>
            <a:schemeClr val="bg2"/>
          </a:solidFill>
          <a:ln/>
        </p:spPr>
      </p:sp>
      <p:sp>
        <p:nvSpPr>
          <p:cNvPr id="22" name="content-13-rect-20"/>
          <p:cNvSpPr/>
          <p:nvPr/>
        </p:nvSpPr>
        <p:spPr>
          <a:xfrm>
            <a:off x="5852160" y="3895344"/>
            <a:ext cx="64008" cy="813816"/>
          </a:xfrm>
          <a:prstGeom prst="rect">
            <a:avLst/>
          </a:prstGeom>
          <a:solidFill>
            <a:schemeClr val="accent3"/>
          </a:solidFill>
          <a:ln/>
        </p:spPr>
      </p:sp>
      <p:sp>
        <p:nvSpPr>
          <p:cNvPr id="23" name="content-13-text-21"/>
          <p:cNvSpPr txBox="1"/>
          <p:nvPr/>
        </p:nvSpPr>
        <p:spPr>
          <a:xfrm>
            <a:off x="6016752" y="3931920"/>
            <a:ext cx="2606040" cy="237744"/>
          </a:xfrm>
          <a:prstGeom prst="rect">
            <a:avLst/>
          </a:prstGeom>
          <a:noFill/>
          <a:ln/>
        </p:spPr>
        <p:txBody>
          <a:bodyPr wrap="square" lIns="0" tIns="0" rIns="0" bIns="0" rtlCol="0" anchor="ctr"/>
          <a:lstStyle/>
          <a:p>
            <a:pPr algn="l" indent="0" marL="0">
              <a:buNone/>
            </a:pPr>
            <a:r>
              <a:rPr lang="en-US" sz="1150" b="1" dirty="0">
                <a:solidFill>
                  <a:schemeClr val="tx1"/>
                </a:solidFill>
              </a:rPr>
              <a:t>4  Limits</a:t>
            </a:r>
            <a:endParaRPr lang="en-US" sz="1150" dirty="0"/>
          </a:p>
        </p:txBody>
      </p:sp>
      <p:sp>
        <p:nvSpPr>
          <p:cNvPr id="24" name="content-13-text-22"/>
          <p:cNvSpPr txBox="1"/>
          <p:nvPr/>
        </p:nvSpPr>
        <p:spPr>
          <a:xfrm>
            <a:off x="6016752" y="4169664"/>
            <a:ext cx="2606040" cy="530352"/>
          </a:xfrm>
          <a:prstGeom prst="rect">
            <a:avLst/>
          </a:prstGeom>
          <a:noFill/>
          <a:ln/>
        </p:spPr>
        <p:txBody>
          <a:bodyPr wrap="square" lIns="0" tIns="0" rIns="0" bIns="0" rtlCol="0" anchor="t"/>
          <a:lstStyle/>
          <a:p>
            <a:pPr algn="l" indent="0" marL="0">
              <a:buNone/>
            </a:pPr>
            <a:r>
              <a:rPr lang="en-US" sz="900" dirty="0">
                <a:solidFill>
                  <a:schemeClr val="tx2"/>
                </a:solidFill>
              </a:rPr>
              <a:t>It never clears, declines or approves. Its top 1% holds 63.2% of flagged payments (random: 1.2%). Trained on public synthetic data.</a:t>
            </a:r>
            <a:endParaRPr lang="en-US" sz="900" dirty="0"/>
          </a:p>
        </p:txBody>
      </p:sp>
      <p:sp>
        <p:nvSpPr>
          <p:cNvPr id="25" name="content-13-text-23"/>
          <p:cNvSpPr txBox="1"/>
          <p:nvPr/>
        </p:nvSpPr>
        <p:spPr>
          <a:xfrm>
            <a:off x="457200" y="4846320"/>
            <a:ext cx="8229600" cy="228600"/>
          </a:xfrm>
          <a:prstGeom prst="rect">
            <a:avLst/>
          </a:prstGeom>
          <a:noFill/>
          <a:ln/>
        </p:spPr>
        <p:txBody>
          <a:bodyPr wrap="square" lIns="0" tIns="0" rIns="0" bIns="0" rtlCol="0" anchor="t"/>
          <a:lstStyle/>
          <a:p>
            <a:pPr algn="l" indent="0" marL="0">
              <a:buNone/>
            </a:pPr>
            <a:r>
              <a:rPr lang="en-US" sz="900" dirty="0">
                <a:solidFill>
                  <a:schemeClr val="tx2"/>
                </a:solidFill>
              </a:rPr>
              <a:t>Local sandbox screenshots, synthetic data. Indicative. Confirm with your AD bank.</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14-rect-1"/>
          <p:cNvSpPr/>
          <p:nvPr/>
        </p:nvSpPr>
        <p:spPr>
          <a:xfrm>
            <a:off x="457200" y="1234440"/>
            <a:ext cx="4023360" cy="3154680"/>
          </a:xfrm>
          <a:prstGeom prst="roundRect">
            <a:avLst>
              <a:gd name="adj" fmla="val 2319"/>
            </a:avLst>
          </a:prstGeom>
          <a:solidFill>
            <a:schemeClr val="bg2"/>
          </a:solidFill>
          <a:ln/>
        </p:spPr>
      </p:sp>
      <p:sp>
        <p:nvSpPr>
          <p:cNvPr id="4" name="content-14-rect-2"/>
          <p:cNvSpPr/>
          <p:nvPr/>
        </p:nvSpPr>
        <p:spPr>
          <a:xfrm>
            <a:off x="640080" y="1371600"/>
            <a:ext cx="109728" cy="365760"/>
          </a:xfrm>
          <a:prstGeom prst="rect">
            <a:avLst/>
          </a:prstGeom>
          <a:solidFill>
            <a:schemeClr val="accent1"/>
          </a:solidFill>
          <a:ln/>
        </p:spPr>
      </p:sp>
      <p:sp>
        <p:nvSpPr>
          <p:cNvPr id="5" name="content-14-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14-text-4"/>
          <p:cNvSpPr txBox="1"/>
          <p:nvPr/>
        </p:nvSpPr>
        <p:spPr>
          <a:xfrm>
            <a:off x="640080" y="1847088"/>
            <a:ext cx="3657600" cy="2487168"/>
          </a:xfrm>
          <a:prstGeom prst="rect">
            <a:avLst/>
          </a:prstGeom>
          <a:noFill/>
          <a:ln/>
        </p:spPr>
        <p:txBody>
          <a:bodyPr wrap="square" lIns="0" tIns="0" rIns="0" bIns="0" rtlCol="0" anchor="t"/>
          <a:lstStyle/>
          <a:p>
            <a:pPr algn="l" marL="342900" indent="-342900">
              <a:spcAft>
                <a:spcPts val="400"/>
              </a:spcAft>
              <a:buSzPct val="100000"/>
              <a:buChar char="•"/>
            </a:pPr>
            <a:r>
              <a:rPr lang="en-US" sz="1100" dirty="0">
                <a:solidFill>
                  <a:schemeClr val="tx1"/>
                </a:solidFill>
              </a:rPr>
              <a:t>Every number comes from one engine, in integer money. All 24 blueprint scenarios are mapped to tests (counts on the next slides).</a:t>
            </a:r>
            <a:endParaRPr lang="en-US" sz="1100" dirty="0"/>
          </a:p>
          <a:p>
            <a:pPr algn="l" marL="342900" indent="-342900">
              <a:spcAft>
                <a:spcPts val="400"/>
              </a:spcAft>
              <a:buSzPct val="100000"/>
              <a:buChar char="•"/>
            </a:pPr>
            <a:r>
              <a:rPr lang="en-US" sz="1100" dirty="0">
                <a:solidFill>
                  <a:schemeClr val="tx1"/>
                </a:solidFill>
              </a:rPr>
              <a:t>Only a human with a fresh MFA code can approve. The AI has no such permission, and a test enforces the table.</a:t>
            </a:r>
            <a:endParaRPr lang="en-US" sz="1100" dirty="0"/>
          </a:p>
          <a:p>
            <a:pPr algn="l" marL="342900" indent="-342900">
              <a:spcAft>
                <a:spcPts val="400"/>
              </a:spcAft>
              <a:buSzPct val="100000"/>
              <a:buChar char="•"/>
            </a:pPr>
            <a:r>
              <a:rPr lang="en-US" sz="1100" dirty="0">
                <a:solidFill>
                  <a:schemeClr val="tx1"/>
                </a:solidFill>
              </a:rPr>
              <a:t>Edit one audit row and Verify fails at that event. Audit-only rewrites are detected; both logs share SQLite, so a DB owner can rewrite both.</a:t>
            </a:r>
            <a:endParaRPr lang="en-US" sz="1100" dirty="0"/>
          </a:p>
          <a:p>
            <a:pPr algn="l" marL="342900" indent="-342900">
              <a:spcAft>
                <a:spcPts val="400"/>
              </a:spcAft>
              <a:buSzPct val="100000"/>
              <a:buChar char="•"/>
            </a:pPr>
            <a:r>
              <a:rPr lang="en-US" sz="1100" dirty="0">
                <a:solidFill>
                  <a:schemeClr val="tx1"/>
                </a:solidFill>
              </a:rPr>
              <a:t>The Docker stack passed its demo, 48 browser checks and the hardened overlay on 18 Oct; the attack probes defended 146 of 146.</a:t>
            </a:r>
            <a:endParaRPr lang="en-US" sz="1100" dirty="0"/>
          </a:p>
        </p:txBody>
      </p:sp>
      <p:sp>
        <p:nvSpPr>
          <p:cNvPr id="7" name="content-14-rect-5"/>
          <p:cNvSpPr/>
          <p:nvPr/>
        </p:nvSpPr>
        <p:spPr>
          <a:xfrm>
            <a:off x="4663440" y="1234440"/>
            <a:ext cx="4023360" cy="3154680"/>
          </a:xfrm>
          <a:prstGeom prst="roundRect">
            <a:avLst>
              <a:gd name="adj" fmla="val 2319"/>
            </a:avLst>
          </a:prstGeom>
          <a:solidFill>
            <a:schemeClr val="bg2"/>
          </a:solidFill>
          <a:ln/>
        </p:spPr>
      </p:sp>
      <p:sp>
        <p:nvSpPr>
          <p:cNvPr id="8" name="content-14-rect-6"/>
          <p:cNvSpPr/>
          <p:nvPr/>
        </p:nvSpPr>
        <p:spPr>
          <a:xfrm>
            <a:off x="4846320" y="1371600"/>
            <a:ext cx="109728" cy="365760"/>
          </a:xfrm>
          <a:prstGeom prst="rect">
            <a:avLst/>
          </a:prstGeom>
          <a:solidFill>
            <a:schemeClr val="accent3"/>
          </a:solidFill>
          <a:ln/>
        </p:spPr>
      </p:sp>
      <p:sp>
        <p:nvSpPr>
          <p:cNvPr id="9" name="content-14-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14-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Most Bangladesh Bank figures are placeholders marked Not verified; four rules were read in the official circular.</a:t>
            </a:r>
            <a:endParaRPr lang="en-US" sz="1200" dirty="0"/>
          </a:p>
        </p:txBody>
      </p:sp>
      <p:sp>
        <p:nvSpPr>
          <p:cNvPr id="11" name="content-14-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100" dirty="0">
                <a:solidFill>
                  <a:schemeClr val="tx2"/>
                </a:solidFill>
              </a:rPr>
              <a:t>Both lists are in the repository: docs/OPEN_QUESTIONS.md and docs/SECURITY_SELF_ASSESSMENT.md</a:t>
            </a:r>
            <a:endParaRPr lang="en-US" sz="1100" dirty="0"/>
          </a:p>
        </p:txBody>
      </p:sp>
      <p:sp>
        <p:nvSpPr>
          <p:cNvPr id="12" name="content-14-text-10"/>
          <p:cNvSpPr txBox="1"/>
          <p:nvPr/>
        </p:nvSpPr>
        <p:spPr>
          <a:xfrm>
            <a:off x="457200" y="4864608"/>
            <a:ext cx="8229600" cy="201168"/>
          </a:xfrm>
          <a:prstGeom prst="rect">
            <a:avLst/>
          </a:prstGeom>
          <a:noFill/>
          <a:ln/>
        </p:spPr>
        <p:txBody>
          <a:bodyPr wrap="square" lIns="0" tIns="0" rIns="0" bIns="0" rtlCol="0" anchor="t"/>
          <a:lstStyle/>
          <a:p>
            <a:pPr algn="l" indent="0" marL="0">
              <a:buNone/>
            </a:pPr>
            <a:r>
              <a:rPr lang="en-US" sz="1000" dirty="0">
                <a:solidFill>
                  <a:schemeClr val="tx2"/>
                </a:solidFill>
              </a:rPr>
              <a:t>Raw logs and reproduction commands: submission/evidence/, docs/TEST_CASES.md.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Every test we ran</a:t>
            </a:r>
            <a:endParaRPr lang="en-US" sz="3600" dirty="0"/>
          </a:p>
        </p:txBody>
      </p:sp>
      <p:sp>
        <p:nvSpPr>
          <p:cNvPr id="3" name="content-15-rect-1"/>
          <p:cNvSpPr/>
          <p:nvPr/>
        </p:nvSpPr>
        <p:spPr>
          <a:xfrm>
            <a:off x="457200" y="1234440"/>
            <a:ext cx="2103120" cy="960120"/>
          </a:xfrm>
          <a:prstGeom prst="roundRect">
            <a:avLst>
              <a:gd name="adj" fmla="val 7619"/>
            </a:avLst>
          </a:prstGeom>
          <a:solidFill>
            <a:schemeClr val="bg2"/>
          </a:solidFill>
          <a:ln/>
        </p:spPr>
      </p:sp>
      <p:sp>
        <p:nvSpPr>
          <p:cNvPr id="4" name="content-15-text-2"/>
          <p:cNvSpPr txBox="1"/>
          <p:nvPr/>
        </p:nvSpPr>
        <p:spPr>
          <a:xfrm>
            <a:off x="566928" y="1261872"/>
            <a:ext cx="1883664" cy="45720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1,705</a:t>
            </a:r>
            <a:endParaRPr lang="en-US" sz="2400" dirty="0"/>
          </a:p>
        </p:txBody>
      </p:sp>
      <p:sp>
        <p:nvSpPr>
          <p:cNvPr id="5" name="content-15-text-3"/>
          <p:cNvSpPr txBox="1"/>
          <p:nvPr/>
        </p:nvSpPr>
        <p:spPr>
          <a:xfrm>
            <a:off x="566928" y="1737360"/>
            <a:ext cx="1883664" cy="420624"/>
          </a:xfrm>
          <a:prstGeom prst="rect">
            <a:avLst/>
          </a:prstGeom>
          <a:noFill/>
          <a:ln/>
        </p:spPr>
        <p:txBody>
          <a:bodyPr wrap="square" lIns="0" tIns="0" rIns="0" bIns="0" rtlCol="0" anchor="t"/>
          <a:lstStyle/>
          <a:p>
            <a:pPr algn="l" indent="0" marL="0">
              <a:buNone/>
            </a:pPr>
            <a:r>
              <a:rPr lang="en-US" sz="1050" dirty="0">
                <a:solidFill>
                  <a:schemeClr val="tx2"/>
                </a:solidFill>
              </a:rPr>
              <a:t>backend tests, incl. 25 assistant prompts (25 of 25 pass)</a:t>
            </a:r>
            <a:endParaRPr lang="en-US" sz="1050" dirty="0"/>
          </a:p>
        </p:txBody>
      </p:sp>
      <p:sp>
        <p:nvSpPr>
          <p:cNvPr id="6" name="content-15-rect-4"/>
          <p:cNvSpPr/>
          <p:nvPr/>
        </p:nvSpPr>
        <p:spPr>
          <a:xfrm>
            <a:off x="2651760" y="1234440"/>
            <a:ext cx="2103120" cy="960120"/>
          </a:xfrm>
          <a:prstGeom prst="roundRect">
            <a:avLst>
              <a:gd name="adj" fmla="val 7619"/>
            </a:avLst>
          </a:prstGeom>
          <a:solidFill>
            <a:schemeClr val="bg2"/>
          </a:solidFill>
          <a:ln/>
        </p:spPr>
      </p:sp>
      <p:sp>
        <p:nvSpPr>
          <p:cNvPr id="7" name="content-15-text-5"/>
          <p:cNvSpPr txBox="1"/>
          <p:nvPr/>
        </p:nvSpPr>
        <p:spPr>
          <a:xfrm>
            <a:off x="2761488" y="1261872"/>
            <a:ext cx="1883664" cy="45720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463</a:t>
            </a:r>
            <a:endParaRPr lang="en-US" sz="2400" dirty="0"/>
          </a:p>
        </p:txBody>
      </p:sp>
      <p:sp>
        <p:nvSpPr>
          <p:cNvPr id="8" name="content-15-text-6"/>
          <p:cNvSpPr txBox="1"/>
          <p:nvPr/>
        </p:nvSpPr>
        <p:spPr>
          <a:xfrm>
            <a:off x="2761488" y="1737360"/>
            <a:ext cx="1883664" cy="420624"/>
          </a:xfrm>
          <a:prstGeom prst="rect">
            <a:avLst/>
          </a:prstGeom>
          <a:noFill/>
          <a:ln/>
        </p:spPr>
        <p:txBody>
          <a:bodyPr wrap="square" lIns="0" tIns="0" rIns="0" bIns="0" rtlCol="0" anchor="t"/>
          <a:lstStyle/>
          <a:p>
            <a:pPr algn="l" indent="0" marL="0">
              <a:buNone/>
            </a:pPr>
            <a:r>
              <a:rPr lang="en-US" sz="1050" dirty="0">
                <a:solidFill>
                  <a:schemeClr val="tx2"/>
                </a:solidFill>
              </a:rPr>
              <a:t>web tests</a:t>
            </a:r>
            <a:endParaRPr lang="en-US" sz="1050" dirty="0"/>
          </a:p>
        </p:txBody>
      </p:sp>
      <p:sp>
        <p:nvSpPr>
          <p:cNvPr id="9" name="content-15-rect-7"/>
          <p:cNvSpPr/>
          <p:nvPr/>
        </p:nvSpPr>
        <p:spPr>
          <a:xfrm>
            <a:off x="457200" y="2286000"/>
            <a:ext cx="2103120" cy="960120"/>
          </a:xfrm>
          <a:prstGeom prst="roundRect">
            <a:avLst>
              <a:gd name="adj" fmla="val 7619"/>
            </a:avLst>
          </a:prstGeom>
          <a:solidFill>
            <a:schemeClr val="bg2"/>
          </a:solidFill>
          <a:ln/>
        </p:spPr>
      </p:sp>
      <p:sp>
        <p:nvSpPr>
          <p:cNvPr id="10" name="content-15-text-8"/>
          <p:cNvSpPr txBox="1"/>
          <p:nvPr/>
        </p:nvSpPr>
        <p:spPr>
          <a:xfrm>
            <a:off x="566928" y="2313432"/>
            <a:ext cx="1883664" cy="45720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24</a:t>
            </a:r>
            <a:endParaRPr lang="en-US" sz="2400" dirty="0"/>
          </a:p>
        </p:txBody>
      </p:sp>
      <p:sp>
        <p:nvSpPr>
          <p:cNvPr id="11" name="content-15-text-9"/>
          <p:cNvSpPr txBox="1"/>
          <p:nvPr/>
        </p:nvSpPr>
        <p:spPr>
          <a:xfrm>
            <a:off x="566928" y="2788920"/>
            <a:ext cx="1883664" cy="420624"/>
          </a:xfrm>
          <a:prstGeom prst="rect">
            <a:avLst/>
          </a:prstGeom>
          <a:noFill/>
          <a:ln/>
        </p:spPr>
        <p:txBody>
          <a:bodyPr wrap="square" lIns="0" tIns="0" rIns="0" bIns="0" rtlCol="0" anchor="t"/>
          <a:lstStyle/>
          <a:p>
            <a:pPr algn="l" indent="0" marL="0">
              <a:buNone/>
            </a:pPr>
            <a:r>
              <a:rPr lang="en-US" sz="1050" dirty="0">
                <a:solidFill>
                  <a:schemeClr val="tx2"/>
                </a:solidFill>
              </a:rPr>
              <a:t>browser tests</a:t>
            </a:r>
            <a:endParaRPr lang="en-US" sz="1050" dirty="0"/>
          </a:p>
        </p:txBody>
      </p:sp>
      <p:sp>
        <p:nvSpPr>
          <p:cNvPr id="12" name="content-15-rect-10"/>
          <p:cNvSpPr/>
          <p:nvPr/>
        </p:nvSpPr>
        <p:spPr>
          <a:xfrm>
            <a:off x="2651760" y="2286000"/>
            <a:ext cx="2103120" cy="960120"/>
          </a:xfrm>
          <a:prstGeom prst="roundRect">
            <a:avLst>
              <a:gd name="adj" fmla="val 7619"/>
            </a:avLst>
          </a:prstGeom>
          <a:solidFill>
            <a:schemeClr val="bg2"/>
          </a:solidFill>
          <a:ln/>
        </p:spPr>
      </p:sp>
      <p:sp>
        <p:nvSpPr>
          <p:cNvPr id="13" name="content-15-text-11"/>
          <p:cNvSpPr txBox="1"/>
          <p:nvPr/>
        </p:nvSpPr>
        <p:spPr>
          <a:xfrm>
            <a:off x="2761488" y="2313432"/>
            <a:ext cx="1883664" cy="45720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314</a:t>
            </a:r>
            <a:endParaRPr lang="en-US" sz="2400" dirty="0"/>
          </a:p>
        </p:txBody>
      </p:sp>
      <p:sp>
        <p:nvSpPr>
          <p:cNvPr id="14" name="content-15-text-12"/>
          <p:cNvSpPr txBox="1"/>
          <p:nvPr/>
        </p:nvSpPr>
        <p:spPr>
          <a:xfrm>
            <a:off x="2761488" y="2788920"/>
            <a:ext cx="1883664" cy="420624"/>
          </a:xfrm>
          <a:prstGeom prst="rect">
            <a:avLst/>
          </a:prstGeom>
          <a:noFill/>
          <a:ln/>
        </p:spPr>
        <p:txBody>
          <a:bodyPr wrap="square" lIns="0" tIns="0" rIns="0" bIns="0" rtlCol="0" anchor="t"/>
          <a:lstStyle/>
          <a:p>
            <a:pPr algn="l" indent="0" marL="0">
              <a:buNone/>
            </a:pPr>
            <a:r>
              <a:rPr lang="en-US" sz="1050" dirty="0">
                <a:solidFill>
                  <a:schemeClr val="tx2"/>
                </a:solidFill>
              </a:rPr>
              <a:t>security probe records (308 PASS, 6 INFO)</a:t>
            </a:r>
            <a:endParaRPr lang="en-US" sz="1050" dirty="0"/>
          </a:p>
        </p:txBody>
      </p:sp>
      <p:sp>
        <p:nvSpPr>
          <p:cNvPr id="15" name="content-15-rect-13"/>
          <p:cNvSpPr/>
          <p:nvPr/>
        </p:nvSpPr>
        <p:spPr>
          <a:xfrm>
            <a:off x="457200" y="3337560"/>
            <a:ext cx="2103120" cy="960120"/>
          </a:xfrm>
          <a:prstGeom prst="roundRect">
            <a:avLst>
              <a:gd name="adj" fmla="val 7619"/>
            </a:avLst>
          </a:prstGeom>
          <a:solidFill>
            <a:schemeClr val="bg2"/>
          </a:solidFill>
          <a:ln/>
        </p:spPr>
      </p:sp>
      <p:sp>
        <p:nvSpPr>
          <p:cNvPr id="16" name="content-15-text-14"/>
          <p:cNvSpPr txBox="1"/>
          <p:nvPr/>
        </p:nvSpPr>
        <p:spPr>
          <a:xfrm>
            <a:off x="566928" y="3364992"/>
            <a:ext cx="1883664" cy="45720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24 of 24</a:t>
            </a:r>
            <a:endParaRPr lang="en-US" sz="2400" dirty="0"/>
          </a:p>
        </p:txBody>
      </p:sp>
      <p:sp>
        <p:nvSpPr>
          <p:cNvPr id="17" name="content-15-text-15"/>
          <p:cNvSpPr txBox="1"/>
          <p:nvPr/>
        </p:nvSpPr>
        <p:spPr>
          <a:xfrm>
            <a:off x="566928" y="3840480"/>
            <a:ext cx="1883664" cy="420624"/>
          </a:xfrm>
          <a:prstGeom prst="rect">
            <a:avLst/>
          </a:prstGeom>
          <a:noFill/>
          <a:ln/>
        </p:spPr>
        <p:txBody>
          <a:bodyPr wrap="square" lIns="0" tIns="0" rIns="0" bIns="0" rtlCol="0" anchor="t"/>
          <a:lstStyle/>
          <a:p>
            <a:pPr algn="l" indent="0" marL="0">
              <a:buNone/>
            </a:pPr>
            <a:r>
              <a:rPr lang="en-US" sz="1050" dirty="0">
                <a:solidFill>
                  <a:schemeClr val="tx2"/>
                </a:solidFill>
              </a:rPr>
              <a:t>blueprint scenarios mapped to tests</a:t>
            </a:r>
            <a:endParaRPr lang="en-US" sz="1050" dirty="0"/>
          </a:p>
        </p:txBody>
      </p:sp>
      <p:sp>
        <p:nvSpPr>
          <p:cNvPr id="18" name="content-15-rect-16"/>
          <p:cNvSpPr/>
          <p:nvPr/>
        </p:nvSpPr>
        <p:spPr>
          <a:xfrm>
            <a:off x="2651760" y="3337560"/>
            <a:ext cx="2103120" cy="960120"/>
          </a:xfrm>
          <a:prstGeom prst="roundRect">
            <a:avLst>
              <a:gd name="adj" fmla="val 7619"/>
            </a:avLst>
          </a:prstGeom>
          <a:solidFill>
            <a:schemeClr val="bg2"/>
          </a:solidFill>
          <a:ln/>
        </p:spPr>
      </p:sp>
      <p:sp>
        <p:nvSpPr>
          <p:cNvPr id="19" name="content-15-text-17"/>
          <p:cNvSpPr txBox="1"/>
          <p:nvPr/>
        </p:nvSpPr>
        <p:spPr>
          <a:xfrm>
            <a:off x="2761488" y="3364992"/>
            <a:ext cx="1883664" cy="45720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6 of 6</a:t>
            </a:r>
            <a:endParaRPr lang="en-US" sz="2400" dirty="0"/>
          </a:p>
        </p:txBody>
      </p:sp>
      <p:sp>
        <p:nvSpPr>
          <p:cNvPr id="20" name="content-15-text-18"/>
          <p:cNvSpPr txBox="1"/>
          <p:nvPr/>
        </p:nvSpPr>
        <p:spPr>
          <a:xfrm>
            <a:off x="2761488" y="3840480"/>
            <a:ext cx="1883664" cy="420624"/>
          </a:xfrm>
          <a:prstGeom prst="rect">
            <a:avLst/>
          </a:prstGeom>
          <a:noFill/>
          <a:ln/>
        </p:spPr>
        <p:txBody>
          <a:bodyPr wrap="square" lIns="0" tIns="0" rIns="0" bIns="0" rtlCol="0" anchor="t"/>
          <a:lstStyle/>
          <a:p>
            <a:pPr algn="l" indent="0" marL="0">
              <a:buNone/>
            </a:pPr>
            <a:r>
              <a:rPr lang="en-US" sz="1050" dirty="0">
                <a:solidFill>
                  <a:schemeClr val="tx2"/>
                </a:solidFill>
              </a:rPr>
              <a:t>CI jobs green on GitHub</a:t>
            </a:r>
            <a:endParaRPr lang="en-US" sz="1050" dirty="0"/>
          </a:p>
        </p:txBody>
      </p:sp>
      <p:sp>
        <p:nvSpPr>
          <p:cNvPr id="21" name="content-15-rect-19"/>
          <p:cNvSpPr/>
          <p:nvPr/>
        </p:nvSpPr>
        <p:spPr>
          <a:xfrm>
            <a:off x="5001768" y="1161288"/>
            <a:ext cx="3758184" cy="2403729"/>
          </a:xfrm>
          <a:prstGeom prst="roundRect">
            <a:avLst>
              <a:gd name="adj" fmla="val 2282"/>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22" name="content-15-image-20" descr="GitHub Actions: all six CI jobs green on the latest commit">    </p:cNvPr>
          <p:cNvPicPr>
            <a:picLocks noChangeAspect="1"/>
          </p:cNvPicPr>
          <p:nvPr/>
        </p:nvPicPr>
        <p:blipFill>
          <a:blip r:embed="rId1"/>
          <a:stretch>
            <a:fillRect/>
          </a:stretch>
        </p:blipFill>
        <p:spPr>
          <a:xfrm>
            <a:off x="5074920" y="1234440"/>
            <a:ext cx="3611880" cy="2257425"/>
          </a:xfrm>
          <a:prstGeom prst="rect">
            <a:avLst/>
          </a:prstGeom>
        </p:spPr>
      </p:pic>
      <p:sp>
        <p:nvSpPr>
          <p:cNvPr id="23" name="content-15-text-21"/>
          <p:cNvSpPr txBox="1"/>
          <p:nvPr/>
        </p:nvSpPr>
        <p:spPr>
          <a:xfrm>
            <a:off x="5074920" y="3619881"/>
            <a:ext cx="3611880" cy="548640"/>
          </a:xfrm>
          <a:prstGeom prst="rect">
            <a:avLst/>
          </a:prstGeom>
          <a:noFill/>
          <a:ln/>
        </p:spPr>
        <p:txBody>
          <a:bodyPr wrap="square" lIns="0" tIns="0" rIns="0" bIns="0" rtlCol="0" anchor="t"/>
          <a:lstStyle/>
          <a:p>
            <a:pPr algn="l" indent="0" marL="0">
              <a:buNone/>
            </a:pPr>
            <a:r>
              <a:rPr lang="en-US" sz="1000" dirty="0">
                <a:solidFill>
                  <a:schemeClr val="tx2"/>
                </a:solidFill>
              </a:rPr>
              <a:t>GitHub Actions, latest commit: backend, web, contracts, secret-scan, dependency-audit and docker all green.</a:t>
            </a:r>
            <a:endParaRPr lang="en-US" sz="1000" dirty="0"/>
          </a:p>
        </p:txBody>
      </p:sp>
      <p:sp>
        <p:nvSpPr>
          <p:cNvPr id="24" name="content-15-text-22"/>
          <p:cNvSpPr txBox="1"/>
          <p:nvPr/>
        </p:nvSpPr>
        <p:spPr>
          <a:xfrm>
            <a:off x="457200" y="4526280"/>
            <a:ext cx="8229600" cy="457200"/>
          </a:xfrm>
          <a:prstGeom prst="rect">
            <a:avLst/>
          </a:prstGeom>
          <a:noFill/>
          <a:ln/>
        </p:spPr>
        <p:txBody>
          <a:bodyPr wrap="square" lIns="0" tIns="0" rIns="0" bIns="0" rtlCol="0" anchor="t"/>
          <a:lstStyle/>
          <a:p>
            <a:pPr algn="l" indent="0" marL="0">
              <a:buNone/>
            </a:pPr>
            <a:r>
              <a:rPr lang="en-US" sz="1100" dirty="0">
                <a:solidFill>
                  <a:schemeClr val="tx2"/>
                </a:solidFill>
              </a:rPr>
              <a:t>Our own tests: a fresh clone runs the same 1,705. No independent test yet.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6-rect-1"/>
          <p:cNvSpPr/>
          <p:nvPr/>
        </p:nvSpPr>
        <p:spPr>
          <a:xfrm>
            <a:off x="457200" y="1280160"/>
            <a:ext cx="4023360" cy="402336"/>
          </a:xfrm>
          <a:prstGeom prst="roundRect">
            <a:avLst>
              <a:gd name="adj" fmla="val 13636"/>
            </a:avLst>
          </a:prstGeom>
          <a:solidFill>
            <a:schemeClr val="bg2"/>
          </a:solidFill>
          <a:ln/>
        </p:spPr>
      </p:sp>
      <p:sp>
        <p:nvSpPr>
          <p:cNvPr id="4" name="content-16-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6-rect-3"/>
          <p:cNvSpPr/>
          <p:nvPr/>
        </p:nvSpPr>
        <p:spPr>
          <a:xfrm>
            <a:off x="457200" y="1755648"/>
            <a:ext cx="4023360" cy="402336"/>
          </a:xfrm>
          <a:prstGeom prst="roundRect">
            <a:avLst>
              <a:gd name="adj" fmla="val 13636"/>
            </a:avLst>
          </a:prstGeom>
          <a:solidFill>
            <a:schemeClr val="bg2"/>
          </a:solidFill>
          <a:ln/>
        </p:spPr>
      </p:sp>
      <p:sp>
        <p:nvSpPr>
          <p:cNvPr id="6" name="content-16-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6-rect-5"/>
          <p:cNvSpPr/>
          <p:nvPr/>
        </p:nvSpPr>
        <p:spPr>
          <a:xfrm>
            <a:off x="457200" y="2231136"/>
            <a:ext cx="4023360" cy="402336"/>
          </a:xfrm>
          <a:prstGeom prst="roundRect">
            <a:avLst>
              <a:gd name="adj" fmla="val 13636"/>
            </a:avLst>
          </a:prstGeom>
          <a:solidFill>
            <a:schemeClr val="bg2"/>
          </a:solidFill>
          <a:ln/>
        </p:spPr>
      </p:sp>
      <p:sp>
        <p:nvSpPr>
          <p:cNvPr id="8" name="content-16-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6-rect-7"/>
          <p:cNvSpPr/>
          <p:nvPr/>
        </p:nvSpPr>
        <p:spPr>
          <a:xfrm>
            <a:off x="457200" y="2706624"/>
            <a:ext cx="4023360" cy="402336"/>
          </a:xfrm>
          <a:prstGeom prst="roundRect">
            <a:avLst>
              <a:gd name="adj" fmla="val 13636"/>
            </a:avLst>
          </a:prstGeom>
          <a:solidFill>
            <a:schemeClr val="accent1"/>
          </a:solidFill>
          <a:ln/>
        </p:spPr>
      </p:sp>
      <p:sp>
        <p:nvSpPr>
          <p:cNvPr id="10" name="content-16-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6-rect-9"/>
          <p:cNvSpPr/>
          <p:nvPr/>
        </p:nvSpPr>
        <p:spPr>
          <a:xfrm>
            <a:off x="457200" y="3182112"/>
            <a:ext cx="4023360" cy="402336"/>
          </a:xfrm>
          <a:prstGeom prst="roundRect">
            <a:avLst>
              <a:gd name="adj" fmla="val 13636"/>
            </a:avLst>
          </a:prstGeom>
          <a:solidFill>
            <a:schemeClr val="bg2"/>
          </a:solidFill>
          <a:ln/>
        </p:spPr>
      </p:sp>
      <p:sp>
        <p:nvSpPr>
          <p:cNvPr id="12" name="content-16-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6-rect-11"/>
          <p:cNvSpPr/>
          <p:nvPr/>
        </p:nvSpPr>
        <p:spPr>
          <a:xfrm>
            <a:off x="457200" y="3657600"/>
            <a:ext cx="4023360" cy="402336"/>
          </a:xfrm>
          <a:prstGeom prst="roundRect">
            <a:avLst>
              <a:gd name="adj" fmla="val 13636"/>
            </a:avLst>
          </a:prstGeom>
          <a:solidFill>
            <a:schemeClr val="accent3"/>
          </a:solidFill>
          <a:ln/>
        </p:spPr>
      </p:sp>
      <p:sp>
        <p:nvSpPr>
          <p:cNvPr id="14" name="content-16-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6-rect-13"/>
          <p:cNvSpPr/>
          <p:nvPr/>
        </p:nvSpPr>
        <p:spPr>
          <a:xfrm>
            <a:off x="4590288" y="1207008"/>
            <a:ext cx="4169664" cy="1375664"/>
          </a:xfrm>
          <a:prstGeom prst="roundRect">
            <a:avLst>
              <a:gd name="adj" fmla="val 3988"/>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6" name="content-16-image-14" descr="The live audit log: Verify the hash chain says PASS">    </p:cNvPr>
          <p:cNvPicPr>
            <a:picLocks noChangeAspect="1"/>
          </p:cNvPicPr>
          <p:nvPr/>
        </p:nvPicPr>
        <p:blipFill>
          <a:blip r:embed="rId1"/>
          <a:stretch>
            <a:fillRect/>
          </a:stretch>
        </p:blipFill>
        <p:spPr>
          <a:xfrm>
            <a:off x="4663440" y="1280160"/>
            <a:ext cx="4023360" cy="1229360"/>
          </a:xfrm>
          <a:prstGeom prst="rect">
            <a:avLst/>
          </a:prstGeom>
        </p:spPr>
      </p:pic>
      <p:sp>
        <p:nvSpPr>
          <p:cNvPr id="17" name="content-16-text-15"/>
          <p:cNvSpPr txBox="1"/>
          <p:nvPr/>
        </p:nvSpPr>
        <p:spPr>
          <a:xfrm>
            <a:off x="4663440" y="2637536"/>
            <a:ext cx="4023360" cy="411480"/>
          </a:xfrm>
          <a:prstGeom prst="rect">
            <a:avLst/>
          </a:prstGeom>
          <a:noFill/>
          <a:ln/>
        </p:spPr>
        <p:txBody>
          <a:bodyPr wrap="square" lIns="0" tIns="0" rIns="0" bIns="0" rtlCol="0" anchor="t"/>
          <a:lstStyle/>
          <a:p>
            <a:pPr algn="l" indent="0" marL="0">
              <a:buNone/>
            </a:pPr>
            <a:r>
              <a:rPr lang="en-US" sz="1050" dirty="0">
                <a:solidFill>
                  <a:schemeClr val="tx2"/>
                </a:solidFill>
              </a:rPr>
              <a:t>Live, studyroute.bot-keep.xyz, 19 Oct 2026: Verify the hash chain gives PASS on 40 events.</a:t>
            </a:r>
            <a:endParaRPr lang="en-US" sz="1050" dirty="0"/>
          </a:p>
        </p:txBody>
      </p:sp>
      <p:sp>
        <p:nvSpPr>
          <p:cNvPr id="18" name="content-16-rect-16"/>
          <p:cNvSpPr/>
          <p:nvPr/>
        </p:nvSpPr>
        <p:spPr>
          <a:xfrm>
            <a:off x="4663440" y="3063240"/>
            <a:ext cx="4023360" cy="777240"/>
          </a:xfrm>
          <a:prstGeom prst="roundRect">
            <a:avLst>
              <a:gd name="adj" fmla="val 9412"/>
            </a:avLst>
          </a:prstGeom>
          <a:solidFill>
            <a:schemeClr val="bg2"/>
          </a:solidFill>
          <a:ln/>
        </p:spPr>
      </p:sp>
      <p:sp>
        <p:nvSpPr>
          <p:cNvPr id="19" name="content-16-text-17"/>
          <p:cNvSpPr txBox="1"/>
          <p:nvPr/>
        </p:nvSpPr>
        <p:spPr>
          <a:xfrm>
            <a:off x="4800600" y="3108960"/>
            <a:ext cx="3749040" cy="685800"/>
          </a:xfrm>
          <a:prstGeom prst="rect">
            <a:avLst/>
          </a:prstGeom>
          <a:noFill/>
          <a:ln/>
        </p:spPr>
        <p:txBody>
          <a:bodyPr wrap="square" lIns="0" tIns="0" rIns="0" bIns="0" rtlCol="0" anchor="ctr"/>
          <a:lstStyle/>
          <a:p>
            <a:pPr algn="l" indent="0" marL="0">
              <a:buNone/>
            </a:pPr>
            <a:r>
              <a:rPr lang="en-US" sz="1100" b="1" dirty="0">
                <a:solidFill>
                  <a:schemeClr val="tx1"/>
                </a:solidFill>
              </a:rPr>
              <a:t>Tamper test: </a:t>
            </a:r>
            <a:pPr algn="l" indent="0" marL="0">
              <a:buNone/>
            </a:pPr>
            <a:r>
              <a:rPr lang="en-US" sz="1100" dirty="0">
                <a:solidFill>
                  <a:schemeClr val="tx1"/>
                </a:solidFill>
              </a:rPr>
              <a:t>edit one audit row behind the app's back and Verify fails at that event; restore it and Verify passes.</a:t>
            </a:r>
            <a:endParaRPr lang="en-US" sz="1100" dirty="0"/>
          </a:p>
        </p:txBody>
      </p:sp>
      <p:sp>
        <p:nvSpPr>
          <p:cNvPr id="20" name="content-16-rect-18"/>
          <p:cNvSpPr/>
          <p:nvPr/>
        </p:nvSpPr>
        <p:spPr>
          <a:xfrm>
            <a:off x="4663440" y="3931920"/>
            <a:ext cx="4023360" cy="777240"/>
          </a:xfrm>
          <a:prstGeom prst="roundRect">
            <a:avLst>
              <a:gd name="adj" fmla="val 9412"/>
            </a:avLst>
          </a:prstGeom>
          <a:solidFill>
            <a:schemeClr val="bg2"/>
          </a:solidFill>
          <a:ln/>
        </p:spPr>
      </p:sp>
      <p:sp>
        <p:nvSpPr>
          <p:cNvPr id="21" name="content-16-text-19"/>
          <p:cNvSpPr txBox="1"/>
          <p:nvPr/>
        </p:nvSpPr>
        <p:spPr>
          <a:xfrm>
            <a:off x="4800600" y="3977640"/>
            <a:ext cx="3749040" cy="685800"/>
          </a:xfrm>
          <a:prstGeom prst="rect">
            <a:avLst/>
          </a:prstGeom>
          <a:noFill/>
          <a:ln/>
        </p:spPr>
        <p:txBody>
          <a:bodyPr wrap="square" lIns="0" tIns="0" rIns="0" bIns="0" rtlCol="0" anchor="ctr"/>
          <a:lstStyle/>
          <a:p>
            <a:pPr algn="l" indent="0" marL="0">
              <a:buNone/>
            </a:pPr>
            <a:r>
              <a:rPr lang="en-US" sz="1100" b="1" dirty="0">
                <a:solidFill>
                  <a:schemeClr val="tx1"/>
                </a:solidFill>
              </a:rPr>
              <a:t>Also: </a:t>
            </a:r>
            <a:pPr algn="l" indent="0" marL="0">
              <a:buNone/>
            </a:pPr>
            <a:r>
              <a:rPr lang="en-US" sz="1100" dirty="0">
                <a:solidFill>
                  <a:schemeClr val="tx1"/>
                </a:solidFill>
              </a:rPr>
              <a:t>each payment's compliance report carries a hash your browser can recompute. Every threat has a test: docs/SECURITY.md.</a:t>
            </a:r>
            <a:endParaRPr lang="en-US" sz="1100" dirty="0"/>
          </a:p>
        </p:txBody>
      </p:sp>
      <p:sp>
        <p:nvSpPr>
          <p:cNvPr id="22" name="content-16-text-20"/>
          <p:cNvSpPr txBox="1"/>
          <p:nvPr/>
        </p:nvSpPr>
        <p:spPr>
          <a:xfrm>
            <a:off x="457200" y="4864608"/>
            <a:ext cx="8229600" cy="201168"/>
          </a:xfrm>
          <a:prstGeom prst="rect">
            <a:avLst/>
          </a:prstGeom>
          <a:noFill/>
          <a:ln/>
        </p:spPr>
        <p:txBody>
          <a:bodyPr wrap="square" lIns="0" tIns="0" rIns="0" bIns="0" rtlCol="0" anchor="t"/>
          <a:lstStyle/>
          <a:p>
            <a:pPr algn="l" indent="0" marL="0">
              <a:buNone/>
            </a:pPr>
            <a:r>
              <a:rPr lang="en-US" sz="1000" dirty="0">
                <a:solidFill>
                  <a:schemeClr val="tx2"/>
                </a:solidFill>
              </a:rPr>
              <a:t>Raw logs: submission/evidence/.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Attacking our own app</a:t>
            </a:r>
            <a:endParaRPr lang="en-US" sz="3600" dirty="0"/>
          </a:p>
        </p:txBody>
      </p:sp>
      <p:sp>
        <p:nvSpPr>
          <p:cNvPr id="3" name="content-17-rect-1"/>
          <p:cNvSpPr/>
          <p:nvPr/>
        </p:nvSpPr>
        <p:spPr>
          <a:xfrm>
            <a:off x="457200" y="1234440"/>
            <a:ext cx="4754880" cy="3200400"/>
          </a:xfrm>
          <a:prstGeom prst="roundRect">
            <a:avLst>
              <a:gd name="adj" fmla="val 2286"/>
            </a:avLst>
          </a:prstGeom>
          <a:solidFill>
            <a:schemeClr val="bg2"/>
          </a:solidFill>
          <a:ln/>
        </p:spPr>
      </p:sp>
      <p:sp>
        <p:nvSpPr>
          <p:cNvPr id="4" name="content-17-text-2"/>
          <p:cNvSpPr txBox="1"/>
          <p:nvPr/>
        </p:nvSpPr>
        <p:spPr>
          <a:xfrm>
            <a:off x="640080" y="1298448"/>
            <a:ext cx="4389120" cy="365760"/>
          </a:xfrm>
          <a:prstGeom prst="rect">
            <a:avLst/>
          </a:prstGeom>
          <a:noFill/>
          <a:ln/>
        </p:spPr>
        <p:txBody>
          <a:bodyPr wrap="square" lIns="0" tIns="0" rIns="0" bIns="0" rtlCol="0" anchor="ctr"/>
          <a:lstStyle/>
          <a:p>
            <a:pPr algn="l" indent="0" marL="0">
              <a:buNone/>
            </a:pPr>
            <a:r>
              <a:rPr lang="en-US" sz="1300" b="1" dirty="0">
                <a:solidFill>
                  <a:schemeClr val="tx1"/>
                </a:solidFill>
              </a:rPr>
              <a:t>Recorded checks by tool (all pass)</a:t>
            </a:r>
            <a:endParaRPr lang="en-US" sz="1300" dirty="0"/>
          </a:p>
        </p:txBody>
      </p:sp>
      <p:sp>
        <p:nvSpPr>
          <p:cNvPr id="5" name="content-17-text-3"/>
          <p:cNvSpPr txBox="1"/>
          <p:nvPr/>
        </p:nvSpPr>
        <p:spPr>
          <a:xfrm>
            <a:off x="640080" y="1737360"/>
            <a:ext cx="1874520" cy="393192"/>
          </a:xfrm>
          <a:prstGeom prst="rect">
            <a:avLst/>
          </a:prstGeom>
          <a:noFill/>
          <a:ln/>
        </p:spPr>
        <p:txBody>
          <a:bodyPr wrap="square" lIns="0" tIns="0" rIns="0" bIns="0" rtlCol="0" anchor="ctr"/>
          <a:lstStyle/>
          <a:p>
            <a:pPr algn="l" indent="0" marL="0">
              <a:buNone/>
            </a:pPr>
            <a:r>
              <a:rPr lang="en-US" sz="1100" dirty="0">
                <a:solidFill>
                  <a:schemeClr val="tx1"/>
                </a:solidFill>
              </a:rPr>
              <a:t>Access control, injection</a:t>
            </a:r>
            <a:endParaRPr lang="en-US" sz="1100" dirty="0"/>
          </a:p>
        </p:txBody>
      </p:sp>
      <p:sp>
        <p:nvSpPr>
          <p:cNvPr id="6" name="content-17-rect-4"/>
          <p:cNvSpPr/>
          <p:nvPr/>
        </p:nvSpPr>
        <p:spPr>
          <a:xfrm>
            <a:off x="2606040" y="1824228"/>
            <a:ext cx="1920240" cy="219456"/>
          </a:xfrm>
          <a:prstGeom prst="roundRect">
            <a:avLst>
              <a:gd name="adj" fmla="val 12500"/>
            </a:avLst>
          </a:prstGeom>
          <a:solidFill>
            <a:schemeClr val="accent1"/>
          </a:solidFill>
          <a:ln/>
        </p:spPr>
      </p:sp>
      <p:sp>
        <p:nvSpPr>
          <p:cNvPr id="7" name="content-17-text-5"/>
          <p:cNvSpPr txBox="1"/>
          <p:nvPr/>
        </p:nvSpPr>
        <p:spPr>
          <a:xfrm>
            <a:off x="4599432" y="1824228"/>
            <a:ext cx="685800" cy="219456"/>
          </a:xfrm>
          <a:prstGeom prst="rect">
            <a:avLst/>
          </a:prstGeom>
          <a:noFill/>
          <a:ln/>
        </p:spPr>
        <p:txBody>
          <a:bodyPr wrap="square" lIns="0" tIns="0" rIns="0" bIns="0" rtlCol="0" anchor="ctr"/>
          <a:lstStyle/>
          <a:p>
            <a:pPr algn="l" indent="0" marL="0">
              <a:buNone/>
            </a:pPr>
            <a:r>
              <a:rPr lang="en-US" sz="1000" b="1" dirty="0">
                <a:solidFill>
                  <a:schemeClr val="tx1"/>
                </a:solidFill>
              </a:rPr>
              <a:t>146</a:t>
            </a:r>
            <a:endParaRPr lang="en-US" sz="1000" dirty="0"/>
          </a:p>
        </p:txBody>
      </p:sp>
      <p:sp>
        <p:nvSpPr>
          <p:cNvPr id="8" name="content-17-text-6"/>
          <p:cNvSpPr txBox="1"/>
          <p:nvPr/>
        </p:nvSpPr>
        <p:spPr>
          <a:xfrm>
            <a:off x="640080" y="2130552"/>
            <a:ext cx="1874520" cy="393192"/>
          </a:xfrm>
          <a:prstGeom prst="rect">
            <a:avLst/>
          </a:prstGeom>
          <a:noFill/>
          <a:ln/>
        </p:spPr>
        <p:txBody>
          <a:bodyPr wrap="square" lIns="0" tIns="0" rIns="0" bIns="0" rtlCol="0" anchor="ctr"/>
          <a:lstStyle/>
          <a:p>
            <a:pPr algn="l" indent="0" marL="0">
              <a:buNone/>
            </a:pPr>
            <a:r>
              <a:rPr lang="en-US" sz="1100" dirty="0">
                <a:solidFill>
                  <a:schemeClr val="tx1"/>
                </a:solidFill>
              </a:rPr>
              <a:t>Browser, CSP, XSS</a:t>
            </a:r>
            <a:endParaRPr lang="en-US" sz="1100" dirty="0"/>
          </a:p>
        </p:txBody>
      </p:sp>
      <p:sp>
        <p:nvSpPr>
          <p:cNvPr id="9" name="content-17-rect-7"/>
          <p:cNvSpPr/>
          <p:nvPr/>
        </p:nvSpPr>
        <p:spPr>
          <a:xfrm>
            <a:off x="2606040" y="2217420"/>
            <a:ext cx="631312" cy="219456"/>
          </a:xfrm>
          <a:prstGeom prst="roundRect">
            <a:avLst>
              <a:gd name="adj" fmla="val 12500"/>
            </a:avLst>
          </a:prstGeom>
          <a:solidFill>
            <a:schemeClr val="accent1"/>
          </a:solidFill>
          <a:ln/>
        </p:spPr>
      </p:sp>
      <p:sp>
        <p:nvSpPr>
          <p:cNvPr id="10" name="content-17-text-8"/>
          <p:cNvSpPr txBox="1"/>
          <p:nvPr/>
        </p:nvSpPr>
        <p:spPr>
          <a:xfrm>
            <a:off x="3310504" y="2217420"/>
            <a:ext cx="685800" cy="219456"/>
          </a:xfrm>
          <a:prstGeom prst="rect">
            <a:avLst/>
          </a:prstGeom>
          <a:noFill/>
          <a:ln/>
        </p:spPr>
        <p:txBody>
          <a:bodyPr wrap="square" lIns="0" tIns="0" rIns="0" bIns="0" rtlCol="0" anchor="ctr"/>
          <a:lstStyle/>
          <a:p>
            <a:pPr algn="l" indent="0" marL="0">
              <a:buNone/>
            </a:pPr>
            <a:r>
              <a:rPr lang="en-US" sz="1000" b="1" dirty="0">
                <a:solidFill>
                  <a:schemeClr val="tx1"/>
                </a:solidFill>
              </a:rPr>
              <a:t>48</a:t>
            </a:r>
            <a:endParaRPr lang="en-US" sz="1000" dirty="0"/>
          </a:p>
        </p:txBody>
      </p:sp>
      <p:sp>
        <p:nvSpPr>
          <p:cNvPr id="11" name="content-17-text-9"/>
          <p:cNvSpPr txBox="1"/>
          <p:nvPr/>
        </p:nvSpPr>
        <p:spPr>
          <a:xfrm>
            <a:off x="640080" y="2523744"/>
            <a:ext cx="1874520" cy="393192"/>
          </a:xfrm>
          <a:prstGeom prst="rect">
            <a:avLst/>
          </a:prstGeom>
          <a:noFill/>
          <a:ln/>
        </p:spPr>
        <p:txBody>
          <a:bodyPr wrap="square" lIns="0" tIns="0" rIns="0" bIns="0" rtlCol="0" anchor="ctr"/>
          <a:lstStyle/>
          <a:p>
            <a:pPr algn="l" indent="0" marL="0">
              <a:buNone/>
            </a:pPr>
            <a:r>
              <a:rPr lang="en-US" sz="1100" dirty="0">
                <a:solidFill>
                  <a:schemeClr val="tx1"/>
                </a:solidFill>
              </a:rPr>
              <a:t>Leak canaries (+2 info)</a:t>
            </a:r>
            <a:endParaRPr lang="en-US" sz="1100" dirty="0"/>
          </a:p>
        </p:txBody>
      </p:sp>
      <p:sp>
        <p:nvSpPr>
          <p:cNvPr id="12" name="content-17-rect-10"/>
          <p:cNvSpPr/>
          <p:nvPr/>
        </p:nvSpPr>
        <p:spPr>
          <a:xfrm>
            <a:off x="2606040" y="2610612"/>
            <a:ext cx="657616" cy="219456"/>
          </a:xfrm>
          <a:prstGeom prst="roundRect">
            <a:avLst>
              <a:gd name="adj" fmla="val 12500"/>
            </a:avLst>
          </a:prstGeom>
          <a:solidFill>
            <a:schemeClr val="accent1"/>
          </a:solidFill>
          <a:ln/>
        </p:spPr>
      </p:sp>
      <p:sp>
        <p:nvSpPr>
          <p:cNvPr id="13" name="content-17-text-11"/>
          <p:cNvSpPr txBox="1"/>
          <p:nvPr/>
        </p:nvSpPr>
        <p:spPr>
          <a:xfrm>
            <a:off x="3336808" y="2610612"/>
            <a:ext cx="685800" cy="219456"/>
          </a:xfrm>
          <a:prstGeom prst="rect">
            <a:avLst/>
          </a:prstGeom>
          <a:noFill/>
          <a:ln/>
        </p:spPr>
        <p:txBody>
          <a:bodyPr wrap="square" lIns="0" tIns="0" rIns="0" bIns="0" rtlCol="0" anchor="ctr"/>
          <a:lstStyle/>
          <a:p>
            <a:pPr algn="l" indent="0" marL="0">
              <a:buNone/>
            </a:pPr>
            <a:r>
              <a:rPr lang="en-US" sz="1000" b="1" dirty="0">
                <a:solidFill>
                  <a:schemeClr val="tx1"/>
                </a:solidFill>
              </a:rPr>
              <a:t>50</a:t>
            </a:r>
            <a:endParaRPr lang="en-US" sz="1000" dirty="0"/>
          </a:p>
        </p:txBody>
      </p:sp>
      <p:sp>
        <p:nvSpPr>
          <p:cNvPr id="14" name="content-17-text-12"/>
          <p:cNvSpPr txBox="1"/>
          <p:nvPr/>
        </p:nvSpPr>
        <p:spPr>
          <a:xfrm>
            <a:off x="640080" y="2916936"/>
            <a:ext cx="1874520" cy="393192"/>
          </a:xfrm>
          <a:prstGeom prst="rect">
            <a:avLst/>
          </a:prstGeom>
          <a:noFill/>
          <a:ln/>
        </p:spPr>
        <p:txBody>
          <a:bodyPr wrap="square" lIns="0" tIns="0" rIns="0" bIns="0" rtlCol="0" anchor="ctr"/>
          <a:lstStyle/>
          <a:p>
            <a:pPr algn="l" indent="0" marL="0">
              <a:buNone/>
            </a:pPr>
            <a:r>
              <a:rPr lang="en-US" sz="1100" dirty="0">
                <a:solidFill>
                  <a:schemeClr val="tx1"/>
                </a:solidFill>
              </a:rPr>
              <a:t>Hostile assistant prompts</a:t>
            </a:r>
            <a:endParaRPr lang="en-US" sz="1100" dirty="0"/>
          </a:p>
        </p:txBody>
      </p:sp>
      <p:sp>
        <p:nvSpPr>
          <p:cNvPr id="15" name="content-17-rect-13"/>
          <p:cNvSpPr/>
          <p:nvPr/>
        </p:nvSpPr>
        <p:spPr>
          <a:xfrm>
            <a:off x="2606040" y="3003804"/>
            <a:ext cx="552398" cy="219456"/>
          </a:xfrm>
          <a:prstGeom prst="roundRect">
            <a:avLst>
              <a:gd name="adj" fmla="val 12500"/>
            </a:avLst>
          </a:prstGeom>
          <a:solidFill>
            <a:schemeClr val="accent1"/>
          </a:solidFill>
          <a:ln/>
        </p:spPr>
      </p:sp>
      <p:sp>
        <p:nvSpPr>
          <p:cNvPr id="16" name="content-17-text-14"/>
          <p:cNvSpPr txBox="1"/>
          <p:nvPr/>
        </p:nvSpPr>
        <p:spPr>
          <a:xfrm>
            <a:off x="3231590" y="3003804"/>
            <a:ext cx="685800" cy="219456"/>
          </a:xfrm>
          <a:prstGeom prst="rect">
            <a:avLst/>
          </a:prstGeom>
          <a:noFill/>
          <a:ln/>
        </p:spPr>
        <p:txBody>
          <a:bodyPr wrap="square" lIns="0" tIns="0" rIns="0" bIns="0" rtlCol="0" anchor="ctr"/>
          <a:lstStyle/>
          <a:p>
            <a:pPr algn="l" indent="0" marL="0">
              <a:buNone/>
            </a:pPr>
            <a:r>
              <a:rPr lang="en-US" sz="1000" b="1" dirty="0">
                <a:solidFill>
                  <a:schemeClr val="tx1"/>
                </a:solidFill>
              </a:rPr>
              <a:t>42</a:t>
            </a:r>
            <a:endParaRPr lang="en-US" sz="1000" dirty="0"/>
          </a:p>
        </p:txBody>
      </p:sp>
      <p:sp>
        <p:nvSpPr>
          <p:cNvPr id="17" name="content-17-text-15"/>
          <p:cNvSpPr txBox="1"/>
          <p:nvPr/>
        </p:nvSpPr>
        <p:spPr>
          <a:xfrm>
            <a:off x="640080" y="3310128"/>
            <a:ext cx="1874520" cy="393192"/>
          </a:xfrm>
          <a:prstGeom prst="rect">
            <a:avLst/>
          </a:prstGeom>
          <a:noFill/>
          <a:ln/>
        </p:spPr>
        <p:txBody>
          <a:bodyPr wrap="square" lIns="0" tIns="0" rIns="0" bIns="0" rtlCol="0" anchor="ctr"/>
          <a:lstStyle/>
          <a:p>
            <a:pPr algn="l" indent="0" marL="0">
              <a:buNone/>
            </a:pPr>
            <a:r>
              <a:rPr lang="en-US" sz="1100" dirty="0">
                <a:solidFill>
                  <a:schemeClr val="tx1"/>
                </a:solidFill>
              </a:rPr>
              <a:t>Man-in-the-middle (+4 info)</a:t>
            </a:r>
            <a:endParaRPr lang="en-US" sz="1100" dirty="0"/>
          </a:p>
        </p:txBody>
      </p:sp>
      <p:sp>
        <p:nvSpPr>
          <p:cNvPr id="18" name="content-17-rect-16"/>
          <p:cNvSpPr/>
          <p:nvPr/>
        </p:nvSpPr>
        <p:spPr>
          <a:xfrm>
            <a:off x="2606040" y="3396996"/>
            <a:ext cx="184133" cy="219456"/>
          </a:xfrm>
          <a:prstGeom prst="roundRect">
            <a:avLst>
              <a:gd name="adj" fmla="val 14898"/>
            </a:avLst>
          </a:prstGeom>
          <a:solidFill>
            <a:schemeClr val="accent1"/>
          </a:solidFill>
          <a:ln/>
        </p:spPr>
      </p:sp>
      <p:sp>
        <p:nvSpPr>
          <p:cNvPr id="19" name="content-17-text-17"/>
          <p:cNvSpPr txBox="1"/>
          <p:nvPr/>
        </p:nvSpPr>
        <p:spPr>
          <a:xfrm>
            <a:off x="2863325" y="3396996"/>
            <a:ext cx="685800" cy="219456"/>
          </a:xfrm>
          <a:prstGeom prst="rect">
            <a:avLst/>
          </a:prstGeom>
          <a:noFill/>
          <a:ln/>
        </p:spPr>
        <p:txBody>
          <a:bodyPr wrap="square" lIns="0" tIns="0" rIns="0" bIns="0" rtlCol="0" anchor="ctr"/>
          <a:lstStyle/>
          <a:p>
            <a:pPr algn="l" indent="0" marL="0">
              <a:buNone/>
            </a:pPr>
            <a:r>
              <a:rPr lang="en-US" sz="1000" b="1" dirty="0">
                <a:solidFill>
                  <a:schemeClr val="tx1"/>
                </a:solidFill>
              </a:rPr>
              <a:t>14</a:t>
            </a:r>
            <a:endParaRPr lang="en-US" sz="1000" dirty="0"/>
          </a:p>
        </p:txBody>
      </p:sp>
      <p:sp>
        <p:nvSpPr>
          <p:cNvPr id="20" name="content-17-text-18"/>
          <p:cNvSpPr txBox="1"/>
          <p:nvPr/>
        </p:nvSpPr>
        <p:spPr>
          <a:xfrm>
            <a:off x="640080" y="3703320"/>
            <a:ext cx="1874520" cy="393192"/>
          </a:xfrm>
          <a:prstGeom prst="rect">
            <a:avLst/>
          </a:prstGeom>
          <a:noFill/>
          <a:ln/>
        </p:spPr>
        <p:txBody>
          <a:bodyPr wrap="square" lIns="0" tIns="0" rIns="0" bIns="0" rtlCol="0" anchor="ctr"/>
          <a:lstStyle/>
          <a:p>
            <a:pPr algn="l" indent="0" marL="0">
              <a:buNone/>
            </a:pPr>
            <a:r>
              <a:rPr lang="en-US" sz="1100" dirty="0">
                <a:solidFill>
                  <a:schemeClr val="tx1"/>
                </a:solidFill>
              </a:rPr>
              <a:t>Login and MFA guessing</a:t>
            </a:r>
            <a:endParaRPr lang="en-US" sz="1100" dirty="0"/>
          </a:p>
        </p:txBody>
      </p:sp>
      <p:sp>
        <p:nvSpPr>
          <p:cNvPr id="21" name="content-17-rect-19"/>
          <p:cNvSpPr/>
          <p:nvPr/>
        </p:nvSpPr>
        <p:spPr>
          <a:xfrm>
            <a:off x="2606040" y="3790188"/>
            <a:ext cx="105219" cy="219456"/>
          </a:xfrm>
          <a:prstGeom prst="roundRect">
            <a:avLst>
              <a:gd name="adj" fmla="val 26071"/>
            </a:avLst>
          </a:prstGeom>
          <a:solidFill>
            <a:schemeClr val="accent1"/>
          </a:solidFill>
          <a:ln/>
        </p:spPr>
      </p:sp>
      <p:sp>
        <p:nvSpPr>
          <p:cNvPr id="22" name="content-17-text-20"/>
          <p:cNvSpPr txBox="1"/>
          <p:nvPr/>
        </p:nvSpPr>
        <p:spPr>
          <a:xfrm>
            <a:off x="2784411" y="3790188"/>
            <a:ext cx="685800" cy="219456"/>
          </a:xfrm>
          <a:prstGeom prst="rect">
            <a:avLst/>
          </a:prstGeom>
          <a:noFill/>
          <a:ln/>
        </p:spPr>
        <p:txBody>
          <a:bodyPr wrap="square" lIns="0" tIns="0" rIns="0" bIns="0" rtlCol="0" anchor="ctr"/>
          <a:lstStyle/>
          <a:p>
            <a:pPr algn="l" indent="0" marL="0">
              <a:buNone/>
            </a:pPr>
            <a:r>
              <a:rPr lang="en-US" sz="1000" b="1" dirty="0">
                <a:solidFill>
                  <a:schemeClr val="tx1"/>
                </a:solidFill>
              </a:rPr>
              <a:t>8</a:t>
            </a:r>
            <a:endParaRPr lang="en-US" sz="1000" dirty="0"/>
          </a:p>
        </p:txBody>
      </p:sp>
      <p:sp>
        <p:nvSpPr>
          <p:cNvPr id="23" name="content-17-text-21"/>
          <p:cNvSpPr txBox="1"/>
          <p:nvPr/>
        </p:nvSpPr>
        <p:spPr>
          <a:xfrm>
            <a:off x="640080" y="4114800"/>
            <a:ext cx="4389120" cy="274320"/>
          </a:xfrm>
          <a:prstGeom prst="rect">
            <a:avLst/>
          </a:prstGeom>
          <a:noFill/>
          <a:ln/>
        </p:spPr>
        <p:txBody>
          <a:bodyPr wrap="square" lIns="0" tIns="0" rIns="0" bIns="0" rtlCol="0" anchor="t"/>
          <a:lstStyle/>
          <a:p>
            <a:pPr algn="l" indent="0" marL="0">
              <a:buNone/>
            </a:pPr>
            <a:r>
              <a:rPr lang="en-US" sz="1000" dirty="0">
                <a:solidFill>
                  <a:schemeClr val="tx2"/>
                </a:solidFill>
              </a:rPr>
              <a:t>314 records: 308 PASS, 6 INFO. Team-run lab results; not 314 different attacks.</a:t>
            </a:r>
            <a:endParaRPr lang="en-US" sz="1000" dirty="0"/>
          </a:p>
        </p:txBody>
      </p:sp>
      <p:sp>
        <p:nvSpPr>
          <p:cNvPr id="24" name="content-17-rect-22"/>
          <p:cNvSpPr/>
          <p:nvPr/>
        </p:nvSpPr>
        <p:spPr>
          <a:xfrm>
            <a:off x="5394960" y="1234440"/>
            <a:ext cx="3291840" cy="3200400"/>
          </a:xfrm>
          <a:prstGeom prst="roundRect">
            <a:avLst>
              <a:gd name="adj" fmla="val 2286"/>
            </a:avLst>
          </a:prstGeom>
          <a:solidFill>
            <a:schemeClr val="bg2"/>
          </a:solidFill>
          <a:ln/>
        </p:spPr>
      </p:sp>
      <p:sp>
        <p:nvSpPr>
          <p:cNvPr id="25" name="content-17-text-23"/>
          <p:cNvSpPr txBox="1"/>
          <p:nvPr/>
        </p:nvSpPr>
        <p:spPr>
          <a:xfrm>
            <a:off x="5532120" y="1298448"/>
            <a:ext cx="3017520" cy="365760"/>
          </a:xfrm>
          <a:prstGeom prst="rect">
            <a:avLst/>
          </a:prstGeom>
          <a:noFill/>
          <a:ln/>
        </p:spPr>
        <p:txBody>
          <a:bodyPr wrap="square" lIns="0" tIns="0" rIns="0" bIns="0" rtlCol="0" anchor="ctr"/>
          <a:lstStyle/>
          <a:p>
            <a:pPr algn="l" indent="0" marL="0">
              <a:buNone/>
            </a:pPr>
            <a:r>
              <a:rPr lang="en-US" sz="1300" b="1" dirty="0">
                <a:solidFill>
                  <a:schemeClr val="tx1"/>
                </a:solidFill>
              </a:rPr>
              <a:t>The man-in-the-middle test</a:t>
            </a:r>
            <a:endParaRPr lang="en-US" sz="1300" dirty="0"/>
          </a:p>
        </p:txBody>
      </p:sp>
      <p:sp>
        <p:nvSpPr>
          <p:cNvPr id="26" name="content-17-text-24"/>
          <p:cNvSpPr txBox="1"/>
          <p:nvPr/>
        </p:nvSpPr>
        <p:spPr>
          <a:xfrm>
            <a:off x="5532120" y="1691640"/>
            <a:ext cx="3017520" cy="274320"/>
          </a:xfrm>
          <a:prstGeom prst="rect">
            <a:avLst/>
          </a:prstGeom>
          <a:noFill/>
          <a:ln/>
        </p:spPr>
        <p:txBody>
          <a:bodyPr wrap="square" lIns="0" tIns="0" rIns="0" bIns="0" rtlCol="0" anchor="t"/>
          <a:lstStyle/>
          <a:p>
            <a:pPr algn="l" indent="0" marL="0">
              <a:buNone/>
            </a:pPr>
            <a:r>
              <a:rPr lang="en-US" sz="1200" b="1" dirty="0">
                <a:solidFill>
                  <a:schemeClr val="accent6"/>
                </a:solidFill>
              </a:rPr>
              <a:t>Held (14 of 14)</a:t>
            </a:r>
            <a:endParaRPr lang="en-US" sz="1200" dirty="0"/>
          </a:p>
        </p:txBody>
      </p:sp>
      <p:sp>
        <p:nvSpPr>
          <p:cNvPr id="27" name="content-17-text-25"/>
          <p:cNvSpPr txBox="1"/>
          <p:nvPr/>
        </p:nvSpPr>
        <p:spPr>
          <a:xfrm>
            <a:off x="5532120" y="1965960"/>
            <a:ext cx="3017520" cy="1280160"/>
          </a:xfrm>
          <a:prstGeom prst="rect">
            <a:avLst/>
          </a:prstGeom>
          <a:noFill/>
          <a:ln/>
        </p:spPr>
        <p:txBody>
          <a:bodyPr wrap="square" lIns="0" tIns="0" rIns="0" bIns="0" rtlCol="0" anchor="t"/>
          <a:lstStyle/>
          <a:p>
            <a:pPr algn="l" marL="342900" indent="-342900">
              <a:spcAft>
                <a:spcPts val="200"/>
              </a:spcAft>
              <a:buSzPct val="100000"/>
              <a:buChar char="•"/>
            </a:pPr>
            <a:r>
              <a:rPr lang="en-US" sz="1050" dirty="0">
                <a:solidFill>
                  <a:schemeClr val="tx1"/>
                </a:solidFill>
              </a:rPr>
              <a:t>Altered or redirected approval: refused</a:t>
            </a:r>
            <a:endParaRPr lang="en-US" sz="1050" dirty="0"/>
          </a:p>
          <a:p>
            <a:pPr algn="l" marL="342900" indent="-342900">
              <a:spcAft>
                <a:spcPts val="200"/>
              </a:spcAft>
              <a:buSzPct val="100000"/>
              <a:buChar char="•"/>
            </a:pPr>
            <a:r>
              <a:rPr lang="en-US" sz="1050" dirty="0">
                <a:solidFill>
                  <a:schemeClr val="tx1"/>
                </a:solidFill>
              </a:rPr>
              <a:t>Stripped or swapped MFA proof: refused</a:t>
            </a:r>
            <a:endParaRPr lang="en-US" sz="1050" dirty="0"/>
          </a:p>
          <a:p>
            <a:pPr algn="l" marL="342900" indent="-342900">
              <a:spcAft>
                <a:spcPts val="200"/>
              </a:spcAft>
              <a:buSzPct val="100000"/>
              <a:buChar char="•"/>
            </a:pPr>
            <a:r>
              <a:rPr lang="en-US" sz="1050" dirty="0">
                <a:solidFill>
                  <a:schemeClr val="tx1"/>
                </a:solidFill>
              </a:rPr>
              <a:t>Stolen token cannot approve or allowlist</a:t>
            </a:r>
            <a:endParaRPr lang="en-US" sz="1050" dirty="0"/>
          </a:p>
          <a:p>
            <a:pPr algn="l" marL="342900" indent="-342900">
              <a:spcAft>
                <a:spcPts val="200"/>
              </a:spcAft>
              <a:buSzPct val="100000"/>
              <a:buChar char="•"/>
            </a:pPr>
            <a:r>
              <a:rPr lang="en-US" sz="1050" dirty="0">
                <a:solidFill>
                  <a:schemeClr val="tx1"/>
                </a:solidFill>
              </a:rPr>
              <a:t>Webhook tamper and replay: refused</a:t>
            </a:r>
            <a:endParaRPr lang="en-US" sz="1050" dirty="0"/>
          </a:p>
        </p:txBody>
      </p:sp>
      <p:sp>
        <p:nvSpPr>
          <p:cNvPr id="28" name="content-17-text-26"/>
          <p:cNvSpPr txBox="1"/>
          <p:nvPr/>
        </p:nvSpPr>
        <p:spPr>
          <a:xfrm>
            <a:off x="5532120" y="3200400"/>
            <a:ext cx="3017520" cy="274320"/>
          </a:xfrm>
          <a:prstGeom prst="rect">
            <a:avLst/>
          </a:prstGeom>
          <a:noFill/>
          <a:ln/>
        </p:spPr>
        <p:txBody>
          <a:bodyPr wrap="square" lIns="0" tIns="0" rIns="0" bIns="0" rtlCol="0" anchor="t"/>
          <a:lstStyle/>
          <a:p>
            <a:pPr algn="l" indent="0" marL="0">
              <a:buNone/>
            </a:pPr>
            <a:r>
              <a:rPr lang="en-US" sz="1200" b="1" dirty="0">
                <a:solidFill>
                  <a:schemeClr val="accent3"/>
                </a:solidFill>
              </a:rPr>
              <a:t>Did not hold</a:t>
            </a:r>
            <a:endParaRPr lang="en-US" sz="1200" dirty="0"/>
          </a:p>
        </p:txBody>
      </p:sp>
      <p:sp>
        <p:nvSpPr>
          <p:cNvPr id="29" name="content-17-text-27"/>
          <p:cNvSpPr txBox="1"/>
          <p:nvPr/>
        </p:nvSpPr>
        <p:spPr>
          <a:xfrm>
            <a:off x="5532120" y="3474720"/>
            <a:ext cx="3017520" cy="914400"/>
          </a:xfrm>
          <a:prstGeom prst="rect">
            <a:avLst/>
          </a:prstGeom>
          <a:noFill/>
          <a:ln/>
        </p:spPr>
        <p:txBody>
          <a:bodyPr wrap="square" lIns="0" tIns="0" rIns="0" bIns="0" rtlCol="0" anchor="t"/>
          <a:lstStyle/>
          <a:p>
            <a:pPr algn="l" marL="342900" indent="-342900">
              <a:spcAft>
                <a:spcPts val="200"/>
              </a:spcAft>
              <a:buSzPct val="100000"/>
              <a:buChar char="•"/>
            </a:pPr>
            <a:r>
              <a:rPr lang="en-US" sz="1050" dirty="0">
                <a:solidFill>
                  <a:schemeClr val="tx1"/>
                </a:solidFill>
              </a:rPr>
              <a:t>Plain HTTP: a listener reads the password and token</a:t>
            </a:r>
            <a:endParaRPr lang="en-US" sz="1050" dirty="0"/>
          </a:p>
          <a:p>
            <a:pPr algn="l" marL="342900" indent="-342900">
              <a:spcAft>
                <a:spcPts val="200"/>
              </a:spcAft>
              <a:buSzPct val="100000"/>
              <a:buChar char="•"/>
            </a:pPr>
            <a:r>
              <a:rPr lang="en-US" sz="1050" dirty="0">
                <a:solidFill>
                  <a:schemeClr val="tx1"/>
                </a:solidFill>
              </a:rPr>
              <a:t>A stolen token reads payments and cancels a draft for 15 minutes</a:t>
            </a:r>
            <a:endParaRPr lang="en-US" sz="1050" dirty="0"/>
          </a:p>
        </p:txBody>
      </p:sp>
      <p:sp>
        <p:nvSpPr>
          <p:cNvPr id="30" name="content-17-text-28"/>
          <p:cNvSpPr txBox="1"/>
          <p:nvPr/>
        </p:nvSpPr>
        <p:spPr>
          <a:xfrm>
            <a:off x="457200" y="4526280"/>
            <a:ext cx="8229600" cy="274320"/>
          </a:xfrm>
          <a:prstGeom prst="rect">
            <a:avLst/>
          </a:prstGeom>
          <a:noFill/>
          <a:ln/>
        </p:spPr>
        <p:txBody>
          <a:bodyPr wrap="square" lIns="0" tIns="0" rIns="0" bIns="0" rtlCol="0" anchor="t"/>
          <a:lstStyle/>
          <a:p>
            <a:pPr algn="l" indent="0" marL="0">
              <a:buNone/>
            </a:pPr>
            <a:r>
              <a:rPr lang="en-US" sz="1000" dirty="0">
                <a:solidFill>
                  <a:schemeClr val="tx2"/>
                </a:solidFill>
              </a:rPr>
              <a:t>Raw logs and hashes: submission/evidence/security_2026-10-18/ and the security self-assessment, section 7 and Appendix A.</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problems we found</a:t>
            </a:r>
            <a:endParaRPr lang="en-US" sz="3600" dirty="0"/>
          </a:p>
        </p:txBody>
      </p:sp>
      <p:graphicFrame>
        <p:nvGraphicFramePr>
          <p:cNvPr id="19" name="content-18-table-1"/>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834640"/>
                <a:gridCol w="868680"/>
                <a:gridCol w="4526280"/>
              </a:tblGrid>
              <a:tr h="411480">
                <a:tc>
                  <a:txBody>
                    <a:bodyPr/>
                    <a:lstStyle/>
                    <a:p>
                      <a:pPr algn="l" indent="0" marL="0">
                        <a:buNone/>
                      </a:pPr>
                      <a:r>
                        <a:rPr lang="en-US" sz="1000" b="1" dirty="0">
                          <a:solidFill>
                            <a:schemeClr val="bg1"/>
                          </a:solidFill>
                        </a:rPr>
                        <a:t>Problem found</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000" b="1" dirty="0">
                          <a:solidFill>
                            <a:schemeClr val="bg1"/>
                          </a:solidFill>
                        </a:rPr>
                        <a:t>Status</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000" b="1" dirty="0">
                          <a:solidFill>
                            <a:schemeClr val="bg1"/>
                          </a:solidFill>
                        </a:rPr>
                        <a:t>What we did, or still need</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11480">
                <a:tc>
                  <a:txBody>
                    <a:bodyPr/>
                    <a:lstStyle/>
                    <a:p>
                      <a:pPr algn="l" indent="0" marL="0">
                        <a:buNone/>
                      </a:pPr>
                      <a:r>
                        <a:rPr lang="en-US" sz="1000" b="1" dirty="0">
                          <a:solidFill>
                            <a:schemeClr val="tx1"/>
                          </a:solidFill>
                        </a:rPr>
                        <a:t>Plain HTTP exposes the password and token</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accent1"/>
                          </a:solidFill>
                        </a:rPr>
                        <a:t>Mitigated</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dirty="0">
                          <a:solidFill>
                            <a:schemeClr val="tx1"/>
                          </a:solidFill>
                        </a:rPr>
                        <a:t>The public site answers over HTTPS with an HSTS header (seen 19 Oct). The local demo is HTTP by design. Not independently tested.</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11480">
                <a:tc>
                  <a:txBody>
                    <a:bodyPr/>
                    <a:lstStyle/>
                    <a:p>
                      <a:pPr algn="l" indent="0" marL="0">
                        <a:buNone/>
                      </a:pPr>
                      <a:r>
                        <a:rPr lang="en-US" sz="1000" b="1" dirty="0">
                          <a:solidFill>
                            <a:schemeClr val="tx1"/>
                          </a:solidFill>
                        </a:rPr>
                        <a:t>A stolen token reads payments, cancels a draft (15 min)</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000" b="1" dirty="0">
                          <a:solidFill>
                            <a:schemeClr val="accent3"/>
                          </a:solidFill>
                        </a:rPr>
                        <a:t>Open</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000" dirty="0">
                          <a:solidFill>
                            <a:schemeClr val="tx1"/>
                          </a:solidFill>
                        </a:rPr>
                        <a:t>Approval still needs a fresh MFA proof bound to the payment. Cancel rights are under review.</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11480">
                <a:tc>
                  <a:txBody>
                    <a:bodyPr/>
                    <a:lstStyle/>
                    <a:p>
                      <a:pPr algn="l" indent="0" marL="0">
                        <a:buNone/>
                      </a:pPr>
                      <a:r>
                        <a:rPr lang="en-US" sz="1000" b="1" dirty="0">
                          <a:solidFill>
                            <a:schemeClr val="tx1"/>
                          </a:solidFill>
                        </a:rPr>
                        <a:t>Account names guessable after repeated failures</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accent6"/>
                          </a:solidFill>
                        </a:rPr>
                        <a:t>Fixed</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dirty="0">
                          <a:solidFill>
                            <a:schemeClr val="tx1"/>
                          </a:solidFill>
                        </a:rPr>
                        <a:t>Uniform lockout and failure tracking, with tests.</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11480">
                <a:tc>
                  <a:txBody>
                    <a:bodyPr/>
                    <a:lstStyle/>
                    <a:p>
                      <a:pPr algn="l" indent="0" marL="0">
                        <a:buNone/>
                      </a:pPr>
                      <a:r>
                        <a:rPr lang="en-US" sz="1000" b="1" dirty="0">
                          <a:solidFill>
                            <a:schemeClr val="tx1"/>
                          </a:solidFill>
                        </a:rPr>
                        <a:t>Model runtime phoned a public telemetry host</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000" b="1" dirty="0">
                          <a:solidFill>
                            <a:schemeClr val="accent6"/>
                          </a:solidFill>
                        </a:rPr>
                        <a:t>Fixed</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000" dirty="0">
                          <a:solidFill>
                            <a:schemeClr val="tx1"/>
                          </a:solidFill>
                        </a:rPr>
                        <a:t>Switched off; a new capture found no packet to a public address.</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11480">
                <a:tc>
                  <a:txBody>
                    <a:bodyPr/>
                    <a:lstStyle/>
                    <a:p>
                      <a:pPr algn="l" indent="0" marL="0">
                        <a:buNone/>
                      </a:pPr>
                      <a:r>
                        <a:rPr lang="en-US" sz="1000" b="1" dirty="0">
                          <a:solidFill>
                            <a:schemeClr val="tx1"/>
                          </a:solidFill>
                        </a:rPr>
                        <a:t>Document text, with a planted passport, was readable</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accent4"/>
                          </a:solidFill>
                        </a:rPr>
                        <a:t>Partly</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dirty="0">
                          <a:solidFill>
                            <a:schemeClr val="tx1"/>
                          </a:solidFill>
                        </a:rPr>
                        <a:t>New rows use AES-256-GCM. Old rows, names and file names stay readable.</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11480">
                <a:tc>
                  <a:txBody>
                    <a:bodyPr/>
                    <a:lstStyle/>
                    <a:p>
                      <a:pPr algn="l" indent="0" marL="0">
                        <a:buNone/>
                      </a:pPr>
                      <a:r>
                        <a:rPr lang="en-US" sz="1000" b="1" dirty="0">
                          <a:solidFill>
                            <a:schemeClr val="tx1"/>
                          </a:solidFill>
                        </a:rPr>
                        <a:t>Nine high advisories in development tools</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000" b="1" dirty="0">
                          <a:solidFill>
                            <a:schemeClr val="accent3"/>
                          </a:solidFill>
                        </a:rPr>
                        <a:t>Open</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000" dirty="0">
                          <a:solidFill>
                            <a:schemeClr val="tx1"/>
                          </a:solidFill>
                        </a:rPr>
                        <a:t>Dev tools only; upgrade deferred. Not a clean bill of health.</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11480">
                <a:tc>
                  <a:txBody>
                    <a:bodyPr/>
                    <a:lstStyle/>
                    <a:p>
                      <a:pPr algn="l" indent="0" marL="0">
                        <a:buNone/>
                      </a:pPr>
                      <a:r>
                        <a:rPr lang="en-US" sz="1000" b="1" dirty="0">
                          <a:solidFill>
                            <a:schemeClr val="tx1"/>
                          </a:solidFill>
                        </a:rPr>
                        <a:t>No independent penetration test; simulated chain</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accent3"/>
                          </a:solidFill>
                        </a:rPr>
                        <a:t>Open</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000" dirty="0">
                          <a:solidFill>
                            <a:schemeClr val="tx1"/>
                          </a:solidFill>
                        </a:rPr>
                        <a:t>Every attack tool was written by the team. The chain is a simulation.</a:t>
                      </a:r>
                      <a:endParaRPr lang="en-US" sz="10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bl>
          </a:graphicData>
        </a:graphic>
      </p:graphicFrame>
      <p:sp>
        <p:nvSpPr>
          <p:cNvPr id="4" name="content-18-text-2"/>
          <p:cNvSpPr txBox="1"/>
          <p:nvPr/>
        </p:nvSpPr>
        <p:spPr>
          <a:xfrm>
            <a:off x="457200" y="4572000"/>
            <a:ext cx="8229600" cy="274320"/>
          </a:xfrm>
          <a:prstGeom prst="rect">
            <a:avLst/>
          </a:prstGeom>
          <a:noFill/>
          <a:ln/>
        </p:spPr>
        <p:txBody>
          <a:bodyPr wrap="square" lIns="0" tIns="0" rIns="0" bIns="0" rtlCol="0" anchor="t"/>
          <a:lstStyle/>
          <a:p>
            <a:pPr algn="l" indent="0" marL="0">
              <a:buNone/>
            </a:pPr>
            <a:r>
              <a:rPr lang="en-US" sz="1000" dirty="0">
                <a:solidFill>
                  <a:schemeClr val="tx2"/>
                </a:solidFill>
              </a:rPr>
              <a:t>Source: security self-assessment, section 7 and Appendix A: every record, the raw-log hashes and what each fix did and did not show.</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Why it can work</a:t>
            </a:r>
            <a:endParaRPr lang="en-US" sz="3600" dirty="0"/>
          </a:p>
        </p:txBody>
      </p:sp>
      <p:sp>
        <p:nvSpPr>
          <p:cNvPr id="3" name="content-19-rect-1"/>
          <p:cNvSpPr/>
          <p:nvPr/>
        </p:nvSpPr>
        <p:spPr>
          <a:xfrm>
            <a:off x="457200" y="1188720"/>
            <a:ext cx="4846320" cy="1078992"/>
          </a:xfrm>
          <a:prstGeom prst="roundRect">
            <a:avLst>
              <a:gd name="adj" fmla="val 6780"/>
            </a:avLst>
          </a:prstGeom>
          <a:solidFill>
            <a:schemeClr val="bg2"/>
          </a:solidFill>
          <a:ln/>
        </p:spPr>
      </p:sp>
      <p:sp>
        <p:nvSpPr>
          <p:cNvPr id="4" name="content-19-text-2"/>
          <p:cNvSpPr txBox="1"/>
          <p:nvPr/>
        </p:nvSpPr>
        <p:spPr>
          <a:xfrm>
            <a:off x="594360" y="1234440"/>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USD 881.7m</a:t>
            </a:r>
            <a:endParaRPr lang="en-US" sz="2100" dirty="0"/>
          </a:p>
        </p:txBody>
      </p:sp>
      <p:sp>
        <p:nvSpPr>
          <p:cNvPr id="5" name="content-19-text-3"/>
          <p:cNvSpPr txBox="1"/>
          <p:nvPr/>
        </p:nvSpPr>
        <p:spPr>
          <a:xfrm>
            <a:off x="2423160" y="1234440"/>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sent through Bangladeshi banks for overseas education in FY2025-26: a record, up 32% in a year. Bangladesh Bank data, via The Observer, 24 Jul 2026.</a:t>
            </a:r>
            <a:endParaRPr lang="en-US" sz="1100" dirty="0"/>
          </a:p>
        </p:txBody>
      </p:sp>
      <p:sp>
        <p:nvSpPr>
          <p:cNvPr id="6" name="content-19-rect-4"/>
          <p:cNvSpPr/>
          <p:nvPr/>
        </p:nvSpPr>
        <p:spPr>
          <a:xfrm>
            <a:off x="457200" y="2359152"/>
            <a:ext cx="4846320" cy="1078992"/>
          </a:xfrm>
          <a:prstGeom prst="roundRect">
            <a:avLst>
              <a:gd name="adj" fmla="val 6780"/>
            </a:avLst>
          </a:prstGeom>
          <a:solidFill>
            <a:schemeClr val="bg2"/>
          </a:solidFill>
          <a:ln/>
        </p:spPr>
      </p:sp>
      <p:sp>
        <p:nvSpPr>
          <p:cNvPr id="7" name="content-19-text-5"/>
          <p:cNvSpPr txBox="1"/>
          <p:nvPr/>
        </p:nvSpPr>
        <p:spPr>
          <a:xfrm>
            <a:off x="594360" y="2404872"/>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6.4%</a:t>
            </a:r>
            <a:endParaRPr lang="en-US" sz="2100" dirty="0"/>
          </a:p>
        </p:txBody>
      </p:sp>
      <p:sp>
        <p:nvSpPr>
          <p:cNvPr id="8" name="content-19-text-6"/>
          <p:cNvSpPr txBox="1"/>
          <p:nvPr/>
        </p:nvSpPr>
        <p:spPr>
          <a:xfrm>
            <a:off x="2423160" y="2404872"/>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average cost of sending USD 200 worldwide, Q3 2025, against a 3% goal (World Bank). Small remittances, not tuition: context only.</a:t>
            </a:r>
            <a:endParaRPr lang="en-US" sz="1100" dirty="0"/>
          </a:p>
        </p:txBody>
      </p:sp>
      <p:sp>
        <p:nvSpPr>
          <p:cNvPr id="9" name="content-19-rect-7"/>
          <p:cNvSpPr/>
          <p:nvPr/>
        </p:nvSpPr>
        <p:spPr>
          <a:xfrm>
            <a:off x="457200" y="3529584"/>
            <a:ext cx="4846320" cy="1078992"/>
          </a:xfrm>
          <a:prstGeom prst="roundRect">
            <a:avLst>
              <a:gd name="adj" fmla="val 6780"/>
            </a:avLst>
          </a:prstGeom>
          <a:solidFill>
            <a:schemeClr val="bg2"/>
          </a:solidFill>
          <a:ln/>
        </p:spPr>
      </p:sp>
      <p:sp>
        <p:nvSpPr>
          <p:cNvPr id="10" name="content-19-text-8"/>
          <p:cNvSpPr txBox="1"/>
          <p:nvPr/>
        </p:nvSpPr>
        <p:spPr>
          <a:xfrm>
            <a:off x="594360" y="3575304"/>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USD 8.8m</a:t>
            </a:r>
            <a:endParaRPr lang="en-US" sz="2100" dirty="0"/>
          </a:p>
        </p:txBody>
      </p:sp>
      <p:sp>
        <p:nvSpPr>
          <p:cNvPr id="11" name="content-19-text-9"/>
          <p:cNvSpPr txBox="1"/>
          <p:nvPr/>
        </p:nvSpPr>
        <p:spPr>
          <a:xfrm>
            <a:off x="2423160" y="3575304"/>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a year stays with families for each 1 point of cost taken off that volume. Our arithmetic (1% of 881.7m), not a forecast.</a:t>
            </a:r>
            <a:endParaRPr lang="en-US" sz="1100" dirty="0"/>
          </a:p>
        </p:txBody>
      </p:sp>
      <p:sp>
        <p:nvSpPr>
          <p:cNvPr id="12" name="content-19-rect-10"/>
          <p:cNvSpPr/>
          <p:nvPr/>
        </p:nvSpPr>
        <p:spPr>
          <a:xfrm>
            <a:off x="5486400" y="1188720"/>
            <a:ext cx="3200400" cy="3383280"/>
          </a:xfrm>
          <a:prstGeom prst="roundRect">
            <a:avLst>
              <a:gd name="adj" fmla="val 2286"/>
            </a:avLst>
          </a:prstGeom>
          <a:solidFill>
            <a:schemeClr val="bg2"/>
          </a:solidFill>
          <a:ln/>
        </p:spPr>
      </p:sp>
      <p:sp>
        <p:nvSpPr>
          <p:cNvPr id="13" name="content-19-text-11"/>
          <p:cNvSpPr txBox="1"/>
          <p:nvPr/>
        </p:nvSpPr>
        <p:spPr>
          <a:xfrm>
            <a:off x="5669280" y="1261872"/>
            <a:ext cx="2834640" cy="365760"/>
          </a:xfrm>
          <a:prstGeom prst="rect">
            <a:avLst/>
          </a:prstGeom>
          <a:noFill/>
          <a:ln/>
        </p:spPr>
        <p:txBody>
          <a:bodyPr wrap="square" lIns="0" tIns="0" rIns="0" bIns="0" rtlCol="0" anchor="ctr"/>
          <a:lstStyle/>
          <a:p>
            <a:pPr algn="l" indent="0" marL="0">
              <a:buNone/>
            </a:pPr>
            <a:r>
              <a:rPr lang="en-US" sz="1600" b="1" dirty="0">
                <a:solidFill>
                  <a:schemeClr val="accent1"/>
                </a:solidFill>
              </a:rPr>
              <a:t>Who gains</a:t>
            </a:r>
            <a:endParaRPr lang="en-US" sz="1600" dirty="0"/>
          </a:p>
        </p:txBody>
      </p:sp>
      <p:sp>
        <p:nvSpPr>
          <p:cNvPr id="14" name="content-19-text-12"/>
          <p:cNvSpPr txBox="1"/>
          <p:nvPr/>
        </p:nvSpPr>
        <p:spPr>
          <a:xfrm>
            <a:off x="5669280" y="1691640"/>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Family: </a:t>
            </a:r>
            <a:pPr algn="l" indent="0" marL="0">
              <a:buNone/>
            </a:pPr>
            <a:r>
              <a:rPr lang="en-US" sz="1200" dirty="0">
                <a:solidFill>
                  <a:schemeClr val="tx1"/>
                </a:solidFill>
              </a:rPr>
              <a:t>Lower true cost, a safe deadline, one plan.</a:t>
            </a:r>
            <a:endParaRPr lang="en-US" sz="1200" dirty="0"/>
          </a:p>
        </p:txBody>
      </p:sp>
      <p:sp>
        <p:nvSpPr>
          <p:cNvPr id="15" name="content-19-text-13"/>
          <p:cNvSpPr txBox="1"/>
          <p:nvPr/>
        </p:nvSpPr>
        <p:spPr>
          <a:xfrm>
            <a:off x="5669280" y="2258568"/>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Bank: </a:t>
            </a:r>
            <a:pPr algn="l" indent="0" marL="0">
              <a:buNone/>
            </a:pPr>
            <a:r>
              <a:rPr lang="en-US" sz="1200" dirty="0">
                <a:solidFill>
                  <a:schemeClr val="tx1"/>
                </a:solidFill>
              </a:rPr>
              <a:t>Documents checked and risk-routed before a reviewer looks.</a:t>
            </a:r>
            <a:endParaRPr lang="en-US" sz="1200" dirty="0"/>
          </a:p>
        </p:txBody>
      </p:sp>
      <p:sp>
        <p:nvSpPr>
          <p:cNvPr id="16" name="content-19-text-14"/>
          <p:cNvSpPr txBox="1"/>
          <p:nvPr/>
        </p:nvSpPr>
        <p:spPr>
          <a:xfrm>
            <a:off x="5669280" y="2825496"/>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University: </a:t>
            </a:r>
            <a:pPr algn="l" indent="0" marL="0">
              <a:buNone/>
            </a:pPr>
            <a:r>
              <a:rPr lang="en-US" sz="1200" dirty="0">
                <a:solidFill>
                  <a:schemeClr val="tx1"/>
                </a:solidFill>
              </a:rPr>
              <a:t>Fewer short or unmatched payments.</a:t>
            </a:r>
            <a:endParaRPr lang="en-US" sz="1200" dirty="0"/>
          </a:p>
        </p:txBody>
      </p:sp>
      <p:sp>
        <p:nvSpPr>
          <p:cNvPr id="17" name="content-19-text-15"/>
          <p:cNvSpPr txBox="1"/>
          <p:nvPr/>
        </p:nvSpPr>
        <p:spPr>
          <a:xfrm>
            <a:off x="5669280" y="3429000"/>
            <a:ext cx="2834640" cy="274320"/>
          </a:xfrm>
          <a:prstGeom prst="rect">
            <a:avLst/>
          </a:prstGeom>
          <a:noFill/>
          <a:ln/>
        </p:spPr>
        <p:txBody>
          <a:bodyPr wrap="square" lIns="0" tIns="0" rIns="0" bIns="0" rtlCol="0" anchor="ctr"/>
          <a:lstStyle/>
          <a:p>
            <a:pPr algn="l" indent="0" marL="0">
              <a:buNone/>
            </a:pPr>
            <a:r>
              <a:rPr lang="en-US" sz="1400" b="1" dirty="0">
                <a:solidFill>
                  <a:schemeClr val="accent1"/>
                </a:solidFill>
              </a:rPr>
              <a:t>Who could pay (to test)</a:t>
            </a:r>
            <a:endParaRPr lang="en-US" sz="1400" dirty="0"/>
          </a:p>
        </p:txBody>
      </p:sp>
      <p:sp>
        <p:nvSpPr>
          <p:cNvPr id="18" name="content-19-text-16"/>
          <p:cNvSpPr txBox="1"/>
          <p:nvPr/>
        </p:nvSpPr>
        <p:spPr>
          <a:xfrm>
            <a:off x="5669280" y="3703320"/>
            <a:ext cx="2834640" cy="822960"/>
          </a:xfrm>
          <a:prstGeom prst="rect">
            <a:avLst/>
          </a:prstGeom>
          <a:noFill/>
          <a:ln/>
        </p:spPr>
        <p:txBody>
          <a:bodyPr wrap="square" lIns="0" tIns="0" rIns="0" bIns="0" rtlCol="0" anchor="t"/>
          <a:lstStyle/>
          <a:p>
            <a:pPr algn="l" indent="0" marL="0">
              <a:buNone/>
            </a:pPr>
            <a:r>
              <a:rPr lang="en-US" sz="1100" dirty="0">
                <a:solidFill>
                  <a:schemeClr val="tx1"/>
                </a:solidFill>
              </a:rPr>
              <a:t>A partner bank pays a small service fee per assisted payment. At 0.2% of the volume, a 5% share is about USD 88,000 a year: modest, and a number to test.</a:t>
            </a:r>
            <a:endParaRPr lang="en-US" sz="1100" dirty="0"/>
          </a:p>
        </p:txBody>
      </p:sp>
      <p:sp>
        <p:nvSpPr>
          <p:cNvPr id="19" name="content-19-text-17"/>
          <p:cNvSpPr txBox="1"/>
          <p:nvPr/>
        </p:nvSpPr>
        <p:spPr>
          <a:xfrm>
            <a:off x="457200" y="4864608"/>
            <a:ext cx="8229600" cy="201168"/>
          </a:xfrm>
          <a:prstGeom prst="rect">
            <a:avLst/>
          </a:prstGeom>
          <a:noFill/>
          <a:ln/>
        </p:spPr>
        <p:txBody>
          <a:bodyPr wrap="square" lIns="0" tIns="0" rIns="0" bIns="0" rtlCol="0" anchor="t"/>
          <a:lstStyle/>
          <a:p>
            <a:pPr algn="l" indent="0" marL="0">
              <a:buNone/>
            </a:pPr>
            <a:r>
              <a:rPr lang="en-US" sz="1000" dirty="0">
                <a:solidFill>
                  <a:schemeClr val="tx2"/>
                </a:solidFill>
              </a:rPr>
              <a:t>Illustrations, not forecasts. No partner, no pilot, no real users yet. Sources and sums: docs/BUSINESS_CASE.md</a:t>
            </a:r>
            <a:endParaRPr lang="en-US" sz="1000" dirty="0"/>
          </a:p>
        </p:txBody>
      </p:sp>
      <p:sp>
        <p:nvSpPr>
          <p:cNvPr id="20" name="content-19-text-18"/>
          <p:cNvSpPr txBox="1"/>
          <p:nvPr/>
        </p:nvSpPr>
        <p:spPr>
          <a:xfrm>
            <a:off x="457200" y="4626864"/>
            <a:ext cx="8229600" cy="219456"/>
          </a:xfrm>
          <a:prstGeom prst="rect">
            <a:avLst/>
          </a:prstGeom>
          <a:noFill/>
          <a:ln/>
        </p:spPr>
        <p:txBody>
          <a:bodyPr wrap="square" lIns="0" tIns="0" rIns="0" bIns="0" rtlCol="0" anchor="t"/>
          <a:lstStyle/>
          <a:p>
            <a:pPr algn="l" indent="0" marL="0">
              <a:buNone/>
            </a:pPr>
            <a:r>
              <a:rPr lang="en-US" sz="950" dirty="0">
                <a:solidFill>
                  <a:schemeClr val="tx2"/>
                </a:solidFill>
              </a:rPr>
              <a:t>Volume is real (Bangladesh Bank, via The Observer). Rates, fees, city costs and the 8.8m figure are our arithmetic or invented for the sandbox.</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20-rect-1"/>
          <p:cNvSpPr/>
          <p:nvPr/>
        </p:nvSpPr>
        <p:spPr>
          <a:xfrm>
            <a:off x="457200" y="1234440"/>
            <a:ext cx="4023360" cy="1143000"/>
          </a:xfrm>
          <a:prstGeom prst="roundRect">
            <a:avLst>
              <a:gd name="adj" fmla="val 6400"/>
            </a:avLst>
          </a:prstGeom>
          <a:solidFill>
            <a:schemeClr val="tx2"/>
          </a:solidFill>
          <a:ln/>
        </p:spPr>
      </p:sp>
      <p:sp>
        <p:nvSpPr>
          <p:cNvPr id="4" name="closing-20-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20-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Four study-abroad rules now rest on Bangladesh Bank's circular. Verify the rest.</a:t>
            </a:r>
            <a:endParaRPr lang="en-US" sz="1400" dirty="0"/>
          </a:p>
        </p:txBody>
      </p:sp>
      <p:sp>
        <p:nvSpPr>
          <p:cNvPr id="6" name="closing-20-rect-4"/>
          <p:cNvSpPr/>
          <p:nvPr/>
        </p:nvSpPr>
        <p:spPr>
          <a:xfrm>
            <a:off x="4663440" y="1234440"/>
            <a:ext cx="4023360" cy="1143000"/>
          </a:xfrm>
          <a:prstGeom prst="roundRect">
            <a:avLst>
              <a:gd name="adj" fmla="val 6400"/>
            </a:avLst>
          </a:prstGeom>
          <a:solidFill>
            <a:schemeClr val="tx2"/>
          </a:solidFill>
          <a:ln/>
        </p:spPr>
      </p:sp>
      <p:sp>
        <p:nvSpPr>
          <p:cNvPr id="7" name="closing-20-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20-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20-rect-7"/>
          <p:cNvSpPr/>
          <p:nvPr/>
        </p:nvSpPr>
        <p:spPr>
          <a:xfrm>
            <a:off x="457200" y="2514600"/>
            <a:ext cx="4023360" cy="1143000"/>
          </a:xfrm>
          <a:prstGeom prst="roundRect">
            <a:avLst>
              <a:gd name="adj" fmla="val 6400"/>
            </a:avLst>
          </a:prstGeom>
          <a:solidFill>
            <a:schemeClr val="tx2"/>
          </a:solidFill>
          <a:ln/>
        </p:spPr>
      </p:sp>
      <p:sp>
        <p:nvSpPr>
          <p:cNvPr id="10" name="closing-20-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20-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20-rect-10"/>
          <p:cNvSpPr/>
          <p:nvPr/>
        </p:nvSpPr>
        <p:spPr>
          <a:xfrm>
            <a:off x="4663440" y="2514600"/>
            <a:ext cx="4023360" cy="1143000"/>
          </a:xfrm>
          <a:prstGeom prst="roundRect">
            <a:avLst>
              <a:gd name="adj" fmla="val 6400"/>
            </a:avLst>
          </a:prstGeom>
          <a:solidFill>
            <a:schemeClr val="tx2"/>
          </a:solidFill>
          <a:ln/>
        </p:spPr>
      </p:sp>
      <p:sp>
        <p:nvSpPr>
          <p:cNvPr id="13" name="closing-20-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20-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Today the escrow runs on a simulated chain, with no network. Next: a permissioned chain and a bank-issued token.</a:t>
            </a:r>
            <a:endParaRPr lang="en-US" sz="1400" dirty="0"/>
          </a:p>
        </p:txBody>
      </p:sp>
      <p:sp>
        <p:nvSpPr>
          <p:cNvPr id="15" name="closing-20-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20-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2026-10-19T14:36:51Z</dcterms:created>
  <dcterms:modified xsi:type="dcterms:W3CDTF">2026-10-19T14:36:51Z</dcterms:modified>
</cp:coreProperties>
</file>