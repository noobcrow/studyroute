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849ef0-d384-9aac-207f-8239189deb38}">
          <p14:sldIdLst>
            <p14:sldId id="256"/>
            <p14:sldId id="257"/>
          </p14:sldIdLst>
        </p14:section>
        <p14:section name="The problem" id="{888f1308-67e3-30bc-9bc1-25e3a64486d2}">
          <p14:sldIdLst>
            <p14:sldId id="258"/>
            <p14:sldId id="259"/>
          </p14:sldIdLst>
        </p14:section>
        <p14:section name="The solution" id="{f75df6a3-7d26-61fc-a649-bbb27864e513}">
          <p14:sldIdLst>
            <p14:sldId id="260"/>
            <p14:sldId id="261"/>
            <p14:sldId id="262"/>
          </p14:sldIdLst>
        </p14:section>
        <p14:section name="Trust" id="{6021900e-8c7b-7d66-8c09-d26b89a8561d}">
          <p14:sldIdLst>
            <p14:sldId id="263"/>
            <p14:sldId id="264"/>
            <p14:sldId id="265"/>
            <p14:sldId id="266"/>
          </p14:sldIdLst>
        </p14:section>
        <p14:section name="Close" id="{1fa45d36-0841-7015-2e64-0fde905e705a}">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16,000 is the margin, 3,000 the fixed fee, 1,500 the SWIFT fee and 4,800 the fees we pay under OUR. The same engine powers the smart send plan.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costs are different from tuition: they are a payment every month. Smart escrow lets the parent lock the money in a smart contract that pays on the dates they choose. Planning locks nothing, the schedule is shown first. Locking needs a fresh MFA proof from the parent, and then each payment is released on its date. A bank reviewer can freeze an escrow with a written reason but can never move the funds. Only amounts, dates and hashes go on the chain, never a name or an account number, and the AI has no permission here at all. The chain is simulated: an in-memory EVM running real Solidity contracts, and the tokens are not money. We also anchor the head of the audit log on it, so rewriting history leaves a trace that someone editing the database cannot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refuses what it cannot read exactly, and if the old rules and the model disagree, the assistant asks. On messages we wrote by hand after the model was frozen, it chose the right intent 88.5% of the time against 61.1% for the old rules, read a plan request completely and exactly 100% against 57.6%, and blocked 92.9% of attacks against 28.6%. The sample is small and the training data is synthetic, and we say so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1043 backend and 128 frontend tests, all 24 blueprint scenarios mapped to tests, and 38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Smart escrow for living costs</a:t>
            </a:r>
            <a:endParaRPr lang="en-US" sz="3600" dirty="0"/>
          </a:p>
        </p:txBody>
      </p:sp>
      <p:sp>
        <p:nvSpPr>
          <p:cNvPr id="3" name="content-7-rect-1"/>
          <p:cNvSpPr/>
          <p:nvPr/>
        </p:nvSpPr>
        <p:spPr>
          <a:xfrm>
            <a:off x="457200" y="1234440"/>
            <a:ext cx="4718304" cy="3218688"/>
          </a:xfrm>
          <a:prstGeom prst="roundRect">
            <a:avLst>
              <a:gd name="adj" fmla="val 1705"/>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7-image-2" descr="An escrow with three monthly payments and its on-chain proof">    </p:cNvPr>
          <p:cNvPicPr>
            <a:picLocks noChangeAspect="1"/>
          </p:cNvPicPr>
          <p:nvPr/>
        </p:nvPicPr>
        <p:blipFill>
          <a:blip r:embed="rId1"/>
          <a:stretch>
            <a:fillRect/>
          </a:stretch>
        </p:blipFill>
        <p:spPr>
          <a:xfrm>
            <a:off x="530352" y="1307592"/>
            <a:ext cx="4572000" cy="3072384"/>
          </a:xfrm>
          <a:prstGeom prst="rect">
            <a:avLst/>
          </a:prstGeom>
        </p:spPr>
      </p:pic>
      <p:sp>
        <p:nvSpPr>
          <p:cNvPr id="5" name="content-7-text-3"/>
          <p:cNvSpPr txBox="1"/>
          <p:nvPr/>
        </p:nvSpPr>
        <p:spPr>
          <a:xfrm>
            <a:off x="457200" y="4526280"/>
            <a:ext cx="4754880" cy="274320"/>
          </a:xfrm>
          <a:prstGeom prst="rect">
            <a:avLst/>
          </a:prstGeom>
          <a:noFill/>
          <a:ln/>
        </p:spPr>
        <p:txBody>
          <a:bodyPr wrap="square" lIns="0" tIns="0" rIns="0" bIns="0" rtlCol="0" anchor="t"/>
          <a:lstStyle/>
          <a:p>
            <a:pPr algn="l" indent="0" marL="0">
              <a:buNone/>
            </a:pPr>
            <a:r>
              <a:rPr lang="en-US" sz="1100" dirty="0">
                <a:solidFill>
                  <a:schemeClr val="tx2"/>
                </a:solidFill>
              </a:rPr>
              <a:t>Simulated chain: the tokens are not money. Synthetic data.</a:t>
            </a:r>
            <a:endParaRPr lang="en-US" sz="1100" dirty="0"/>
          </a:p>
        </p:txBody>
      </p:sp>
      <p:sp>
        <p:nvSpPr>
          <p:cNvPr id="6" name="content-7-rect-4"/>
          <p:cNvSpPr/>
          <p:nvPr/>
        </p:nvSpPr>
        <p:spPr>
          <a:xfrm>
            <a:off x="5486400" y="1280160"/>
            <a:ext cx="3200400" cy="731520"/>
          </a:xfrm>
          <a:prstGeom prst="roundRect">
            <a:avLst>
              <a:gd name="adj" fmla="val 10000"/>
            </a:avLst>
          </a:prstGeom>
          <a:solidFill>
            <a:schemeClr val="bg2"/>
          </a:solidFill>
          <a:ln/>
        </p:spPr>
      </p:sp>
      <p:sp>
        <p:nvSpPr>
          <p:cNvPr id="7" name="content-7-text-5"/>
          <p:cNvSpPr txBox="1"/>
          <p:nvPr/>
        </p:nvSpPr>
        <p:spPr>
          <a:xfrm>
            <a:off x="5623560" y="131673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Plan</a:t>
            </a:r>
            <a:endParaRPr lang="en-US" sz="1400" dirty="0"/>
          </a:p>
        </p:txBody>
      </p:sp>
      <p:sp>
        <p:nvSpPr>
          <p:cNvPr id="8" name="content-7-text-6"/>
          <p:cNvSpPr txBox="1"/>
          <p:nvPr/>
        </p:nvSpPr>
        <p:spPr>
          <a:xfrm>
            <a:off x="5623560" y="157276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The schedule is shown first. Nothing is locked.</a:t>
            </a:r>
            <a:endParaRPr lang="en-US" sz="1100" dirty="0"/>
          </a:p>
        </p:txBody>
      </p:sp>
      <p:sp>
        <p:nvSpPr>
          <p:cNvPr id="9" name="content-7-rect-7"/>
          <p:cNvSpPr/>
          <p:nvPr/>
        </p:nvSpPr>
        <p:spPr>
          <a:xfrm>
            <a:off x="5486400" y="2103120"/>
            <a:ext cx="3200400" cy="731520"/>
          </a:xfrm>
          <a:prstGeom prst="roundRect">
            <a:avLst>
              <a:gd name="adj" fmla="val 10000"/>
            </a:avLst>
          </a:prstGeom>
          <a:solidFill>
            <a:schemeClr val="bg2"/>
          </a:solidFill>
          <a:ln/>
        </p:spPr>
      </p:sp>
      <p:sp>
        <p:nvSpPr>
          <p:cNvPr id="10" name="content-7-text-8"/>
          <p:cNvSpPr txBox="1"/>
          <p:nvPr/>
        </p:nvSpPr>
        <p:spPr>
          <a:xfrm>
            <a:off x="5623560" y="213969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Lock</a:t>
            </a:r>
            <a:endParaRPr lang="en-US" sz="1400" dirty="0"/>
          </a:p>
        </p:txBody>
      </p:sp>
      <p:sp>
        <p:nvSpPr>
          <p:cNvPr id="11" name="content-7-text-9"/>
          <p:cNvSpPr txBox="1"/>
          <p:nvPr/>
        </p:nvSpPr>
        <p:spPr>
          <a:xfrm>
            <a:off x="5623560" y="239572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A fresh MFA proof from the parent. The funds wait in the contract.</a:t>
            </a:r>
            <a:endParaRPr lang="en-US" sz="1100" dirty="0"/>
          </a:p>
        </p:txBody>
      </p:sp>
      <p:sp>
        <p:nvSpPr>
          <p:cNvPr id="12" name="content-7-rect-10"/>
          <p:cNvSpPr/>
          <p:nvPr/>
        </p:nvSpPr>
        <p:spPr>
          <a:xfrm>
            <a:off x="5486400" y="2926080"/>
            <a:ext cx="3200400" cy="731520"/>
          </a:xfrm>
          <a:prstGeom prst="roundRect">
            <a:avLst>
              <a:gd name="adj" fmla="val 10000"/>
            </a:avLst>
          </a:prstGeom>
          <a:solidFill>
            <a:schemeClr val="bg2"/>
          </a:solidFill>
          <a:ln/>
        </p:spPr>
      </p:sp>
      <p:sp>
        <p:nvSpPr>
          <p:cNvPr id="13" name="content-7-text-11"/>
          <p:cNvSpPr txBox="1"/>
          <p:nvPr/>
        </p:nvSpPr>
        <p:spPr>
          <a:xfrm>
            <a:off x="5623560" y="296265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Release</a:t>
            </a:r>
            <a:endParaRPr lang="en-US" sz="1400" dirty="0"/>
          </a:p>
        </p:txBody>
      </p:sp>
      <p:sp>
        <p:nvSpPr>
          <p:cNvPr id="14" name="content-7-text-12"/>
          <p:cNvSpPr txBox="1"/>
          <p:nvPr/>
        </p:nvSpPr>
        <p:spPr>
          <a:xfrm>
            <a:off x="5623560" y="321868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 the dates chosen. A reviewer can freeze it with a reason, never move the funds.</a:t>
            </a:r>
            <a:endParaRPr lang="en-US" sz="1100" dirty="0"/>
          </a:p>
        </p:txBody>
      </p:sp>
      <p:sp>
        <p:nvSpPr>
          <p:cNvPr id="15" name="content-7-rect-13"/>
          <p:cNvSpPr/>
          <p:nvPr/>
        </p:nvSpPr>
        <p:spPr>
          <a:xfrm>
            <a:off x="5486400" y="3749040"/>
            <a:ext cx="3200400" cy="731520"/>
          </a:xfrm>
          <a:prstGeom prst="roundRect">
            <a:avLst>
              <a:gd name="adj" fmla="val 10000"/>
            </a:avLst>
          </a:prstGeom>
          <a:solidFill>
            <a:schemeClr val="bg2"/>
          </a:solidFill>
          <a:ln/>
        </p:spPr>
      </p:sp>
      <p:sp>
        <p:nvSpPr>
          <p:cNvPr id="16" name="content-7-text-14"/>
          <p:cNvSpPr txBox="1"/>
          <p:nvPr/>
        </p:nvSpPr>
        <p:spPr>
          <a:xfrm>
            <a:off x="5623560" y="378561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Privacy</a:t>
            </a:r>
            <a:endParaRPr lang="en-US" sz="1400" dirty="0"/>
          </a:p>
        </p:txBody>
      </p:sp>
      <p:sp>
        <p:nvSpPr>
          <p:cNvPr id="17" name="content-7-text-15"/>
          <p:cNvSpPr txBox="1"/>
          <p:nvPr/>
        </p:nvSpPr>
        <p:spPr>
          <a:xfrm>
            <a:off x="5623560" y="404164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Only amounts, dates and hashes go on the chain. The AI has no access.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How it was trained</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few minutes on an RTX 5060 Ti. 35,588 messages: generated ones plus real bank questions (Banking77). 34 MB, 7 ms on a CPU.</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About 1 attack in 14 still slips past it;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1043</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128</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38</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Run the escrow contracts on a permissioned chain with a bank-issued deposit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2026-10-15T08:15:37Z</dcterms:created>
  <dcterms:modified xsi:type="dcterms:W3CDTF">2026-10-15T08:15:37Z</dcterms:modified>
</cp:coreProperties>
</file>