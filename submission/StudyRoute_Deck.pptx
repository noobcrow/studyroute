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b223ea-fa72-7dfe-5b0b-b48e7c084e38}">
          <p14:sldIdLst>
            <p14:sldId id="256"/>
            <p14:sldId id="257"/>
          </p14:sldIdLst>
        </p14:section>
        <p14:section name="The problem" id="{94ac6a86-10c4-df08-7eb4-3f1a14e502b5}">
          <p14:sldIdLst>
            <p14:sldId id="258"/>
            <p14:sldId id="259"/>
          </p14:sldIdLst>
        </p14:section>
        <p14:section name="The solution" id="{2ff38c6c-05ec-29b9-b810-f6266049fb79}">
          <p14:sldIdLst>
            <p14:sldId id="260"/>
            <p14:sldId id="261"/>
          </p14:sldIdLst>
        </p14:section>
        <p14:section name="Trust" id="{d7d438f2-ceca-290e-6bb9-a8ba6f1008e3}">
          <p14:sldIdLst>
            <p14:sldId id="262"/>
            <p14:sldId id="263"/>
            <p14:sldId id="264"/>
            <p14:sldId id="265"/>
            <p14:sldId id="266"/>
          </p14:sldIdLst>
        </p14:section>
        <p14:section name="Close" id="{48bc7e93-5b24-a1d8-f1ba-8ee663a52494}">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It is a sandbox AI agent that helps a parent in Bangladesh pay a student's tuition abroad. Everything you will see is synthetic and no real money moves. Our rule is on the slide: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must prove where the money came from. The student needs the university paid on time: a short or unmatched payment means late fees and weeks of waiting. StudyRoute gives both one plan. The parent decides; the student can see the plan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A correspondent bank may take a lifting fee, the receiving bank may take another, and the university matches the payment by reference. Each step has a typical failure, shown in red. StudyRoute simulates this chain with invented banks and a double-entry ledger, and returns a failed payment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The parent typed one sentence: I need to pay ten thousand pounds of tuition by 28 October. The agent read it, made the quote, ranked the providers, planned the deadline, checked KYC and the documents, and built this plan card from the engine's output. The person creates the draft and approves with a fresh MFA code. The agent blocks the payment until KYC, the allowlist and the caps pass, then tracks it to settled and seals a compliance report. It created no payment itself: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money, decimal rates, no floats. Total cost is the FX margin plus the fixed fee, the SWIFT fee, any fees the sender pays, plus a shortfall when fees are deducted from the amount. In our synthetic example Provider B is first at 1.58 percent. Provider C looks cheap, but it is quoted as SHA, so the university would receive 35 pounds less. Provider A is third at 2.16 percent. The same engine drives the smart send plan, the cheapest provider that arrives in time, and a stress test if the taka weakens. It does not predict exchange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have shown and what we have not. Shown: every number comes from one deterministic engine, with 1679 backend tests covering all 24 scenarios; only a human with a fresh MFA code can approve; change one audit row and Verify fails at that event; and the stack runs in Docker from the zipped archive. Not shown: the rates, fees and city costs are invented and not compared with real quotes, no real parent has used it, there was no outside penetration test, and most Bangladesh Bank figures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Facts come only from the engine, and personal data is masked before any model call. The model is the one step that is not deterministic, and it is optional. A number guard then checks every figure in the reply against the engine's facts and falls back to a template if anything is invented; a tool guard allows only proposals; everything is audited. So the AI can only propose, and it works with no API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part, and we measured it. A small language model reads what a parent types: the intent, and the exact words that carry an amount, a currency or a date. It never produces a number; plain code turns those words into values. On 113 messages written by hand after it was frozen, it chose the right intent 88.5% of the time against 61.1% for the old rules, and blocked 92.9% of attacks against 28.6%. The sample is small and the data is synthetic. A second small policy, trained with reinforcement learning, decides whether to ask, read back or plan: on simulated parents, wrong plans fell from 2.8% to 0.8%. Two more small models: one rewords the engine's answer, and a risk model scores each payment on amount, frequency, timeline and person. Its top one percent holds 63.2% of flagged payments; random order finds 1.2%. As a plain yes or no it is modest: flagging nothing is already 99.8% accurate.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the screens. Approving a payment is only for a human parent with a fresh MFA proof bound to that payment and to the hash of the summary they saw. The AI has no approve, cancel, limit or config permission at all. On the right: 1679 backend and 463 frontend tests, all 24 scenarios mapped to tests, and 55 known risks listed openly. We edit one audit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response say this is a sandbox. The Sandbox screen lists everything simulated and how to trigger edge cases. Any rule not checked against an official source carries a yellow Not verified badge and the line: indicative, confirm with your AD bank. On the right is a payment's compliance report,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would this matter outside a competition? Bangladesh Bank data show 881.7 million dollars sent through banks for overseas education in the last fiscal year, a record, up 32 percent. The World Bank puts the average cost of sending small remittances near 6.4 percent, twice the 3 percent goal; tuition is priced differently, so that is context. If a comparison took one percentage point off that volume, families would keep about 8.8 million dollars a year: our arithmetic, not a forecast. A partner bank could pay a small service fee for pre-checked, risk-routed files. We have no partner, no pilot and no real users yet, so these are numbers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Replace every placeholder rule with an official Bangladesh Bank source; we have started with four study-abroad rules. Partner with an authorised dealer bank for real quotes and real KYC. Move the escrow from our simulated chain to a permissioned one with a bank-issued deposit token. Topic C also mentions credit building; we have not built it, and we would rather say so.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1679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Audit-only rewrites are detected; both logs share SQLite, so a DB owner can rewrite both.</a:t>
            </a:r>
            <a:endParaRPr lang="en-US" sz="1200" dirty="0"/>
          </a:p>
          <a:p>
            <a:pPr algn="l" marL="342900" indent="-342900">
              <a:spcAft>
                <a:spcPts val="600"/>
              </a:spcAft>
              <a:buSzPct val="100000"/>
              <a:buChar char="•"/>
            </a:pPr>
            <a:r>
              <a:rPr lang="en-US" sz="1200" dirty="0">
                <a:solidFill>
                  <a:schemeClr val="tx1"/>
                </a:solidFill>
              </a:rPr>
              <a:t>The Docker stack passed its demo, 48 browser checks and the hardened overlay on 18 Oct; the attack probes defended 146 of 146.</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Most Bangladesh Bank figures are placeholders marked Not verified; four rules were read in the official circular.</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now reproduced; not a new blind study.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685800"/>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685800"/>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1100" dirty="0"/>
          </a:p>
        </p:txBody>
      </p:sp>
      <p:sp>
        <p:nvSpPr>
          <p:cNvPr id="11" name="content-9-rect-9"/>
          <p:cNvSpPr/>
          <p:nvPr/>
        </p:nvSpPr>
        <p:spPr>
          <a:xfrm>
            <a:off x="4846320" y="3566160"/>
            <a:ext cx="3840480" cy="1371600"/>
          </a:xfrm>
          <a:prstGeom prst="roundRect">
            <a:avLst>
              <a:gd name="adj" fmla="val 5333"/>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1005840"/>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puts 63.2% of flagged payments in its top 1% (random: 1.2%). A person authorizes every payment. Synthetic data.</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1679</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463</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Why it can work</a:t>
            </a:r>
            <a:endParaRPr lang="en-US" sz="3600" dirty="0"/>
          </a:p>
        </p:txBody>
      </p:sp>
      <p:sp>
        <p:nvSpPr>
          <p:cNvPr id="3" name="content-12-rect-1"/>
          <p:cNvSpPr/>
          <p:nvPr/>
        </p:nvSpPr>
        <p:spPr>
          <a:xfrm>
            <a:off x="457200" y="1188720"/>
            <a:ext cx="4846320" cy="1078992"/>
          </a:xfrm>
          <a:prstGeom prst="roundRect">
            <a:avLst>
              <a:gd name="adj" fmla="val 6780"/>
            </a:avLst>
          </a:prstGeom>
          <a:solidFill>
            <a:schemeClr val="bg2"/>
          </a:solidFill>
          <a:ln/>
        </p:spPr>
      </p:sp>
      <p:sp>
        <p:nvSpPr>
          <p:cNvPr id="4" name="content-12-text-2"/>
          <p:cNvSpPr txBox="1"/>
          <p:nvPr/>
        </p:nvSpPr>
        <p:spPr>
          <a:xfrm>
            <a:off x="594360" y="1234440"/>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USD 881.7m</a:t>
            </a:r>
            <a:endParaRPr lang="en-US" sz="2100" dirty="0"/>
          </a:p>
        </p:txBody>
      </p:sp>
      <p:sp>
        <p:nvSpPr>
          <p:cNvPr id="5" name="content-12-text-3"/>
          <p:cNvSpPr txBox="1"/>
          <p:nvPr/>
        </p:nvSpPr>
        <p:spPr>
          <a:xfrm>
            <a:off x="2423160" y="1234440"/>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sent through Bangladeshi banks for overseas education in FY2025-26: a record, up 32% in a year. Bangladesh Bank data, via The Observer, 24 Jul 2026.</a:t>
            </a:r>
            <a:endParaRPr lang="en-US" sz="1100" dirty="0"/>
          </a:p>
        </p:txBody>
      </p:sp>
      <p:sp>
        <p:nvSpPr>
          <p:cNvPr id="6" name="content-12-rect-4"/>
          <p:cNvSpPr/>
          <p:nvPr/>
        </p:nvSpPr>
        <p:spPr>
          <a:xfrm>
            <a:off x="457200" y="2359152"/>
            <a:ext cx="4846320" cy="1078992"/>
          </a:xfrm>
          <a:prstGeom prst="roundRect">
            <a:avLst>
              <a:gd name="adj" fmla="val 6780"/>
            </a:avLst>
          </a:prstGeom>
          <a:solidFill>
            <a:schemeClr val="bg2"/>
          </a:solidFill>
          <a:ln/>
        </p:spPr>
      </p:sp>
      <p:sp>
        <p:nvSpPr>
          <p:cNvPr id="7" name="content-12-text-5"/>
          <p:cNvSpPr txBox="1"/>
          <p:nvPr/>
        </p:nvSpPr>
        <p:spPr>
          <a:xfrm>
            <a:off x="594360" y="2404872"/>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6.4%</a:t>
            </a:r>
            <a:endParaRPr lang="en-US" sz="2100" dirty="0"/>
          </a:p>
        </p:txBody>
      </p:sp>
      <p:sp>
        <p:nvSpPr>
          <p:cNvPr id="8" name="content-12-text-6"/>
          <p:cNvSpPr txBox="1"/>
          <p:nvPr/>
        </p:nvSpPr>
        <p:spPr>
          <a:xfrm>
            <a:off x="2423160" y="2404872"/>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average cost of sending USD 200 worldwide, Q3 2025, against a 3% goal (World Bank). Small remittances, not tuition: context only.</a:t>
            </a:r>
            <a:endParaRPr lang="en-US" sz="1100" dirty="0"/>
          </a:p>
        </p:txBody>
      </p:sp>
      <p:sp>
        <p:nvSpPr>
          <p:cNvPr id="9" name="content-12-rect-7"/>
          <p:cNvSpPr/>
          <p:nvPr/>
        </p:nvSpPr>
        <p:spPr>
          <a:xfrm>
            <a:off x="457200" y="3529584"/>
            <a:ext cx="4846320" cy="1078992"/>
          </a:xfrm>
          <a:prstGeom prst="roundRect">
            <a:avLst>
              <a:gd name="adj" fmla="val 6780"/>
            </a:avLst>
          </a:prstGeom>
          <a:solidFill>
            <a:schemeClr val="bg2"/>
          </a:solidFill>
          <a:ln/>
        </p:spPr>
      </p:sp>
      <p:sp>
        <p:nvSpPr>
          <p:cNvPr id="10" name="content-12-text-8"/>
          <p:cNvSpPr txBox="1"/>
          <p:nvPr/>
        </p:nvSpPr>
        <p:spPr>
          <a:xfrm>
            <a:off x="594360" y="3575304"/>
            <a:ext cx="1783080" cy="987552"/>
          </a:xfrm>
          <a:prstGeom prst="rect">
            <a:avLst/>
          </a:prstGeom>
          <a:noFill/>
          <a:ln/>
        </p:spPr>
        <p:txBody>
          <a:bodyPr wrap="square" lIns="0" tIns="0" rIns="0" bIns="0" rtlCol="0" anchor="ctr"/>
          <a:lstStyle/>
          <a:p>
            <a:pPr algn="l" indent="0" marL="0">
              <a:buNone/>
            </a:pPr>
            <a:r>
              <a:rPr lang="en-US" sz="2100" b="1" dirty="0">
                <a:solidFill>
                  <a:schemeClr val="accent1"/>
                </a:solidFill>
                <a:latin typeface="+mj-lt" pitchFamily="34" charset="0"/>
                <a:ea typeface="+mj-lt" pitchFamily="34" charset="-122"/>
                <a:cs typeface="+mj-lt" pitchFamily="34" charset="-120"/>
              </a:rPr>
              <a:t>USD 8.8m</a:t>
            </a:r>
            <a:endParaRPr lang="en-US" sz="2100" dirty="0"/>
          </a:p>
        </p:txBody>
      </p:sp>
      <p:sp>
        <p:nvSpPr>
          <p:cNvPr id="11" name="content-12-text-9"/>
          <p:cNvSpPr txBox="1"/>
          <p:nvPr/>
        </p:nvSpPr>
        <p:spPr>
          <a:xfrm>
            <a:off x="2423160" y="3575304"/>
            <a:ext cx="2788920" cy="987552"/>
          </a:xfrm>
          <a:prstGeom prst="rect">
            <a:avLst/>
          </a:prstGeom>
          <a:noFill/>
          <a:ln/>
        </p:spPr>
        <p:txBody>
          <a:bodyPr wrap="square" lIns="0" tIns="0" rIns="0" bIns="0" rtlCol="0" anchor="ctr"/>
          <a:lstStyle/>
          <a:p>
            <a:pPr algn="l" indent="0" marL="0">
              <a:buNone/>
            </a:pPr>
            <a:r>
              <a:rPr lang="en-US" sz="1100" dirty="0">
                <a:solidFill>
                  <a:schemeClr val="tx1"/>
                </a:solidFill>
              </a:rPr>
              <a:t>a year stays with families for each 1 point of cost taken off that volume. Our arithmetic (1% of 881.7m), not a forecast.</a:t>
            </a:r>
            <a:endParaRPr lang="en-US" sz="1100" dirty="0"/>
          </a:p>
        </p:txBody>
      </p:sp>
      <p:sp>
        <p:nvSpPr>
          <p:cNvPr id="12" name="content-12-rect-10"/>
          <p:cNvSpPr/>
          <p:nvPr/>
        </p:nvSpPr>
        <p:spPr>
          <a:xfrm>
            <a:off x="5486400" y="1188720"/>
            <a:ext cx="3200400" cy="3383280"/>
          </a:xfrm>
          <a:prstGeom prst="roundRect">
            <a:avLst>
              <a:gd name="adj" fmla="val 2286"/>
            </a:avLst>
          </a:prstGeom>
          <a:solidFill>
            <a:schemeClr val="bg2"/>
          </a:solidFill>
          <a:ln/>
        </p:spPr>
      </p:sp>
      <p:sp>
        <p:nvSpPr>
          <p:cNvPr id="13" name="content-12-text-11"/>
          <p:cNvSpPr txBox="1"/>
          <p:nvPr/>
        </p:nvSpPr>
        <p:spPr>
          <a:xfrm>
            <a:off x="5669280" y="1261872"/>
            <a:ext cx="2834640" cy="365760"/>
          </a:xfrm>
          <a:prstGeom prst="rect">
            <a:avLst/>
          </a:prstGeom>
          <a:noFill/>
          <a:ln/>
        </p:spPr>
        <p:txBody>
          <a:bodyPr wrap="square" lIns="0" tIns="0" rIns="0" bIns="0" rtlCol="0" anchor="ctr"/>
          <a:lstStyle/>
          <a:p>
            <a:pPr algn="l" indent="0" marL="0">
              <a:buNone/>
            </a:pPr>
            <a:r>
              <a:rPr lang="en-US" sz="1600" b="1" dirty="0">
                <a:solidFill>
                  <a:schemeClr val="accent1"/>
                </a:solidFill>
              </a:rPr>
              <a:t>Who gains</a:t>
            </a:r>
            <a:endParaRPr lang="en-US" sz="1600" dirty="0"/>
          </a:p>
        </p:txBody>
      </p:sp>
      <p:sp>
        <p:nvSpPr>
          <p:cNvPr id="14" name="content-12-text-12"/>
          <p:cNvSpPr txBox="1"/>
          <p:nvPr/>
        </p:nvSpPr>
        <p:spPr>
          <a:xfrm>
            <a:off x="5669280" y="1691640"/>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Family: </a:t>
            </a:r>
            <a:pPr algn="l" indent="0" marL="0">
              <a:buNone/>
            </a:pPr>
            <a:r>
              <a:rPr lang="en-US" sz="1200" dirty="0">
                <a:solidFill>
                  <a:schemeClr val="tx1"/>
                </a:solidFill>
              </a:rPr>
              <a:t>Lower true cost, a safe deadline, one plan.</a:t>
            </a:r>
            <a:endParaRPr lang="en-US" sz="1200" dirty="0"/>
          </a:p>
        </p:txBody>
      </p:sp>
      <p:sp>
        <p:nvSpPr>
          <p:cNvPr id="15" name="content-12-text-13"/>
          <p:cNvSpPr txBox="1"/>
          <p:nvPr/>
        </p:nvSpPr>
        <p:spPr>
          <a:xfrm>
            <a:off x="5669280" y="2258568"/>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Bank: </a:t>
            </a:r>
            <a:pPr algn="l" indent="0" marL="0">
              <a:buNone/>
            </a:pPr>
            <a:r>
              <a:rPr lang="en-US" sz="1200" dirty="0">
                <a:solidFill>
                  <a:schemeClr val="tx1"/>
                </a:solidFill>
              </a:rPr>
              <a:t>Documents checked and risk-routed before a reviewer looks.</a:t>
            </a:r>
            <a:endParaRPr lang="en-US" sz="1200" dirty="0"/>
          </a:p>
        </p:txBody>
      </p:sp>
      <p:sp>
        <p:nvSpPr>
          <p:cNvPr id="16" name="content-12-text-14"/>
          <p:cNvSpPr txBox="1"/>
          <p:nvPr/>
        </p:nvSpPr>
        <p:spPr>
          <a:xfrm>
            <a:off x="5669280" y="2825496"/>
            <a:ext cx="2834640" cy="530352"/>
          </a:xfrm>
          <a:prstGeom prst="rect">
            <a:avLst/>
          </a:prstGeom>
          <a:noFill/>
          <a:ln/>
        </p:spPr>
        <p:txBody>
          <a:bodyPr wrap="square" lIns="0" tIns="0" rIns="0" bIns="0" rtlCol="0" anchor="ctr"/>
          <a:lstStyle/>
          <a:p>
            <a:pPr algn="l" indent="0" marL="0">
              <a:buNone/>
            </a:pPr>
            <a:r>
              <a:rPr lang="en-US" sz="1200" b="1" dirty="0">
                <a:solidFill>
                  <a:schemeClr val="tx1"/>
                </a:solidFill>
              </a:rPr>
              <a:t>University: </a:t>
            </a:r>
            <a:pPr algn="l" indent="0" marL="0">
              <a:buNone/>
            </a:pPr>
            <a:r>
              <a:rPr lang="en-US" sz="1200" dirty="0">
                <a:solidFill>
                  <a:schemeClr val="tx1"/>
                </a:solidFill>
              </a:rPr>
              <a:t>Fewer short or unmatched payments.</a:t>
            </a:r>
            <a:endParaRPr lang="en-US" sz="1200" dirty="0"/>
          </a:p>
        </p:txBody>
      </p:sp>
      <p:sp>
        <p:nvSpPr>
          <p:cNvPr id="17" name="content-12-text-15"/>
          <p:cNvSpPr txBox="1"/>
          <p:nvPr/>
        </p:nvSpPr>
        <p:spPr>
          <a:xfrm>
            <a:off x="5669280" y="3429000"/>
            <a:ext cx="2834640" cy="274320"/>
          </a:xfrm>
          <a:prstGeom prst="rect">
            <a:avLst/>
          </a:prstGeom>
          <a:noFill/>
          <a:ln/>
        </p:spPr>
        <p:txBody>
          <a:bodyPr wrap="square" lIns="0" tIns="0" rIns="0" bIns="0" rtlCol="0" anchor="ctr"/>
          <a:lstStyle/>
          <a:p>
            <a:pPr algn="l" indent="0" marL="0">
              <a:buNone/>
            </a:pPr>
            <a:r>
              <a:rPr lang="en-US" sz="1400" b="1" dirty="0">
                <a:solidFill>
                  <a:schemeClr val="accent1"/>
                </a:solidFill>
              </a:rPr>
              <a:t>Who could pay (to test)</a:t>
            </a:r>
            <a:endParaRPr lang="en-US" sz="1400" dirty="0"/>
          </a:p>
        </p:txBody>
      </p:sp>
      <p:sp>
        <p:nvSpPr>
          <p:cNvPr id="18" name="content-12-text-16"/>
          <p:cNvSpPr txBox="1"/>
          <p:nvPr/>
        </p:nvSpPr>
        <p:spPr>
          <a:xfrm>
            <a:off x="5669280" y="3703320"/>
            <a:ext cx="2834640" cy="822960"/>
          </a:xfrm>
          <a:prstGeom prst="rect">
            <a:avLst/>
          </a:prstGeom>
          <a:noFill/>
          <a:ln/>
        </p:spPr>
        <p:txBody>
          <a:bodyPr wrap="square" lIns="0" tIns="0" rIns="0" bIns="0" rtlCol="0" anchor="t"/>
          <a:lstStyle/>
          <a:p>
            <a:pPr algn="l" indent="0" marL="0">
              <a:buNone/>
            </a:pPr>
            <a:r>
              <a:rPr lang="en-US" sz="1100" dirty="0">
                <a:solidFill>
                  <a:schemeClr val="tx1"/>
                </a:solidFill>
              </a:rPr>
              <a:t>A partner bank pays a small service fee per assisted payment. At 0.2% of the volume, a 5% share is about USD 88,000 a year: modest, and a number to test.</a:t>
            </a:r>
            <a:endParaRPr lang="en-US" sz="1100" dirty="0"/>
          </a:p>
        </p:txBody>
      </p:sp>
      <p:sp>
        <p:nvSpPr>
          <p:cNvPr id="19" name="content-12-text-17"/>
          <p:cNvSpPr txBox="1"/>
          <p:nvPr/>
        </p:nvSpPr>
        <p:spPr>
          <a:xfrm>
            <a:off x="457200" y="4636008"/>
            <a:ext cx="8229600" cy="274320"/>
          </a:xfrm>
          <a:prstGeom prst="rect">
            <a:avLst/>
          </a:prstGeom>
          <a:noFill/>
          <a:ln/>
        </p:spPr>
        <p:txBody>
          <a:bodyPr wrap="square" lIns="0" tIns="0" rIns="0" bIns="0" rtlCol="0" anchor="t"/>
          <a:lstStyle/>
          <a:p>
            <a:pPr algn="l" indent="0" marL="0">
              <a:buNone/>
            </a:pPr>
            <a:r>
              <a:rPr lang="en-US" sz="1100" dirty="0">
                <a:solidFill>
                  <a:schemeClr val="tx2"/>
                </a:solidFill>
              </a:rPr>
              <a:t>Illustrations, not forecasts. No partner, no pilot, no real users yet. Sources and sums: docs/BUSINESS_CASE.md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3-rect-1"/>
          <p:cNvSpPr/>
          <p:nvPr/>
        </p:nvSpPr>
        <p:spPr>
          <a:xfrm>
            <a:off x="457200" y="1234440"/>
            <a:ext cx="4023360" cy="1143000"/>
          </a:xfrm>
          <a:prstGeom prst="roundRect">
            <a:avLst>
              <a:gd name="adj" fmla="val 6400"/>
            </a:avLst>
          </a:prstGeom>
          <a:solidFill>
            <a:schemeClr val="tx2"/>
          </a:solidFill>
          <a:ln/>
        </p:spPr>
      </p:sp>
      <p:sp>
        <p:nvSpPr>
          <p:cNvPr id="4" name="closing-13-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3-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Four study-abroad rules now rest on Bangladesh Bank's circular. Verify the rest.</a:t>
            </a:r>
            <a:endParaRPr lang="en-US" sz="1400" dirty="0"/>
          </a:p>
        </p:txBody>
      </p:sp>
      <p:sp>
        <p:nvSpPr>
          <p:cNvPr id="6" name="closing-13-rect-4"/>
          <p:cNvSpPr/>
          <p:nvPr/>
        </p:nvSpPr>
        <p:spPr>
          <a:xfrm>
            <a:off x="4663440" y="1234440"/>
            <a:ext cx="4023360" cy="1143000"/>
          </a:xfrm>
          <a:prstGeom prst="roundRect">
            <a:avLst>
              <a:gd name="adj" fmla="val 6400"/>
            </a:avLst>
          </a:prstGeom>
          <a:solidFill>
            <a:schemeClr val="tx2"/>
          </a:solidFill>
          <a:ln/>
        </p:spPr>
      </p:sp>
      <p:sp>
        <p:nvSpPr>
          <p:cNvPr id="7" name="closing-13-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3-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3-rect-7"/>
          <p:cNvSpPr/>
          <p:nvPr/>
        </p:nvSpPr>
        <p:spPr>
          <a:xfrm>
            <a:off x="457200" y="2514600"/>
            <a:ext cx="4023360" cy="1143000"/>
          </a:xfrm>
          <a:prstGeom prst="roundRect">
            <a:avLst>
              <a:gd name="adj" fmla="val 6400"/>
            </a:avLst>
          </a:prstGeom>
          <a:solidFill>
            <a:schemeClr val="tx2"/>
          </a:solidFill>
          <a:ln/>
        </p:spPr>
      </p:sp>
      <p:sp>
        <p:nvSpPr>
          <p:cNvPr id="10" name="closing-13-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3-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3-rect-10"/>
          <p:cNvSpPr/>
          <p:nvPr/>
        </p:nvSpPr>
        <p:spPr>
          <a:xfrm>
            <a:off x="4663440" y="2514600"/>
            <a:ext cx="4023360" cy="1143000"/>
          </a:xfrm>
          <a:prstGeom prst="roundRect">
            <a:avLst>
              <a:gd name="adj" fmla="val 6400"/>
            </a:avLst>
          </a:prstGeom>
          <a:solidFill>
            <a:schemeClr val="tx2"/>
          </a:solidFill>
          <a:ln/>
        </p:spPr>
      </p:sp>
      <p:sp>
        <p:nvSpPr>
          <p:cNvPr id="13" name="closing-13-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3-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Today the escrow runs on a simulated chain, with no network. Next: a permissioned chain and a bank-issued token.</a:t>
            </a:r>
            <a:endParaRPr lang="en-US" sz="1400" dirty="0"/>
          </a:p>
        </p:txBody>
      </p:sp>
      <p:sp>
        <p:nvSpPr>
          <p:cNvPr id="15" name="closing-13-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3-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https://github.com/NoobCrow/StudyRoute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2026-10-18T17:00:35Z</dcterms:created>
  <dcterms:modified xsi:type="dcterms:W3CDTF">2026-10-18T17:00:35Z</dcterms:modified>
</cp:coreProperties>
</file>