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e613686-ad98-1f2f-8a67-16f3241feea5}">
          <p14:sldIdLst>
            <p14:sldId id="256"/>
            <p14:sldId id="257"/>
          </p14:sldIdLst>
        </p14:section>
        <p14:section name="The problem" id="{e7d54294-e2e1-f1fc-d841-cb5910919810}">
          <p14:sldIdLst>
            <p14:sldId id="258"/>
            <p14:sldId id="259"/>
          </p14:sldIdLst>
        </p14:section>
        <p14:section name="The solution" id="{44e8819d-7d64-590a-8c57-0e72d00129ed}">
          <p14:sldIdLst>
            <p14:sldId id="260"/>
            <p14:sldId id="261"/>
          </p14:sldIdLst>
        </p14:section>
        <p14:section name="Trust" id="{6cc4700c-ca03-a99c-c2ca-f04f4ca0c4bb}">
          <p14:sldIdLst>
            <p14:sldId id="262"/>
            <p14:sldId id="263"/>
            <p14:sldId id="264"/>
            <p14:sldId id="265"/>
            <p14:sldId id="266"/>
          </p14:sldIdLst>
        </p14:section>
        <p14:section name="Close" id="{0939555f-555d-763a-0a3b-19c2722f4bc3}">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TeamEkxin, and this is StudyRoute, our entry for Topic C, the cross-border and student finance assistant. StudyRoute is a sandbox AI agent that helps a parent in Bangladesh pay a student's tuition abroad. Everything you will see is synthetic and no real money moves. Our design rule is on the slide, and the rest of the talk shows how we make each of those four sentences true and testable: the engine calculates, the AI explains, the human approves, and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parent in Bangladesh paying tuition abroad usually compares banks by the fee they are shown. But in our synthetic worked example, for GBP 10,000 with Provider B, 63 percent of the real cost is the hidden exchange-rate margin, not the visible fees. On top of that, correspondent and receiving banks can deduct fees on the way, so the university may be paid short, and the deadline has to respect two calendars. Then there is the paperwork. These five problems are what StudyRoute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feel this. The parent pays in taka, compares banks by the posted fee, approves a large transfer with little to check it against, and has to prove where the money came from. The student needs the university paid on time: if tuition arrives short or cannot be matched to the invoice, there are late fees and weeks of waiting with no status. StudyRoute gives both one plan. The parent decides. The student can see the plan, add recipient details and follow the status, but cannot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chain. The parent pays in taka to an authorised dealer bank, which sells foreign currency and sends a SWIFT instruction carrying a UETR and a charge code. A correspondent bank may take a lifting fee, the receiving bank may take another, and the university matches the payment by reference. Each step has a typical failure, shown in red. StudyRoute simulates this chain end to end with invented banks, a correspondent and a double-entry ledger where debits equal credits, and a failed payment is returned in full. It never moves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task completion. On the left, the parent typed one sentence into the chat: I need to pay ten thousand pounds of tuition by 28 October. The agent read it, made the quote, ranked the providers, planned the deadline and checked KYC, the recipient and the documents, and it built this plan card from the engine's output. The person creates the draft, chooses the recipient and approves with a fresh MFA code. The agent blocks the payment until KYC, the allowlist and the sandbox caps pass, then tracks it to settled and seals a compliance report. Look at what the agent did not do: it created no payment. It can propose a draft, but a person always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deterministic engine: integer minor units, decimal rates, no floats. For one provider, total cost is the FX margin plus the fixed fee, the SWIFT fee, any fees the sender pays under OUR, plus a shortfall when fees are deducted from the amount. We rank by that percentage. In our synthetic example, Provider B is first at 1.58 percent, Provider C looks cheap but it is quoted as SHA, so the university would receive 35 pounds less, and Provider A is third at 2.16 percent. On the right is where Provider B's 25,300 taka goes: most of it is the margin. The same engine powers the smart send plan, names the cheapest provider that arrives before the due date, and can stress-test a quote if the taka weakens. A student guide shows which student cities a monthly budget covers, with invented figures marked not verified. It does not predict exchange rates, and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details, here is what we have shown and what we have not. What we have shown: every number comes from one deterministic engine, with 1223 backend tests covering all 24 scenarios. Only a human with a fresh MFA code can approve, and the AI has no such permission. Change one audit row and Verify fails at that event. And the stack starts from the zipped archive with one command. What we have not shown: the rates, fees and city costs are invented, and we have not yet compared them with real quotes. No real parent has used it. No outsider has reviewed its security. The Bangladesh Bank limits are placeholders, marked Not verified. Both lists are in the repository, because we would rather you hear the limits from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follows a fixed pipeline. A policy check flags attempts to override rules, approve or reveal secrets, and a flagged message never reaches the model. Facts come only from the engine. Personal data is masked before any model call. The model is the only step that is not deterministic, and it is optional. Then a number guard checks every figure in the reply against the engine's facts and falls back to a template if anything is invented, a tool guard allows only proposals, and everything is audited. So: every number comes from the engine, the AI can only propose, and it works with no API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has a trained component, and we measured it. A small language model, fine-tuned on a gaming-class GPU in a few minutes, reads what a parent types: the intent, and the exact words that carry an amount, a currency or a date. It never produces a number; plain code turns those words into values, and when the old rules and the model disagree, the assistant asks. On messages we wrote by hand after the model was frozen, it chose the right intent 88.5% of the time against 61.1% for the old rules, read a plan request exactly 100% against 57.6%, and blocked 92.9% of attacks against 28.6%. The sample is small and the data is synthetic. A second small policy, trained with reinforcement learning, chooses whether to ask, read back or plan: on simulated parents, wrong plans fell from 2.8% to 0.8%. Plain code limits its legal moves, and the parents are our assumption.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is thirty percent of the score, so we made it checkable. On the left are the permission tiers, enforced in the domain layer, not just in the screens. Public, read, prepare, decide, and administer. Deciding, meaning approving a payment, is only for a human parent with a fresh MFA proof bound to that payment and to the hash of the summary they saw. The AI has no approve, cancel, limit or config permission at all. On the right, the numbers: 1223 backend and 406 frontend tests, all 24 blueprint scenarios mapped to tests, and 44 known risks that we list openly in the self-assessment. The audit log is hash-chained: Verify passes, we edit one row behind the application's back, and Verify fails at exactly that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is a feature. A banner on every screen and an X-Sandbox header on every API response say this is a sandbox. The Sandbox screen on the left lists everything that is simulated and how to trigger the edge cases, such as a recipient named FAIL_TEST. Any rule that has not been checked against an official source carries a yellow Not verified badge and the sentence: indicative, confirm with your AD bank. On the right is a payment's compliance report: the parties, ten controls with their evidence, the approval proof and the audit trail, sealed with a hash that the browser recomputes. Change a copy and it says does not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First, replace every placeholder rule with an official Bangladesh Bank source and add the moon-dependent holidays. Second, a partnership with an authorised dealer bank for real quotes and real KYC, and regulator-ready reports from the audit log. Third, beyond tuition, the sandbox already has a smart escrow for living costs and a bank-network simulation; the escrow contracts would move from our simulated chain to a permissioned one with a deposit token issued by a bank. Topic C also mentions credit building. We have not built it, and we would rather say so than pretend. We do show a household's money in every currency, but those are simulated accounts, not real ones. To close: StudyRoute is clear, cheap and safe, because the engine calculates, the AI explains, the human approves, and every step is logged.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rtlCol="0"/>
          <a:lstStyle>
            <a:lvl1pPr algn="l" indent="0" marL="0">
              <a:buNone/>
              <a:defRPr lang="en-US" sz="6000" b="1" dirty="0">
                <a:solidFill>
                  <a:schemeClr val="bg1"/>
                </a:solidFill>
                <a:latin typeface="+mj-lt" pitchFamily="34" charset="0"/>
                <a:ea typeface="+mj-lt" pitchFamily="34" charset="-122"/>
                <a:cs typeface="+mj-lt"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tx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bg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lIns="0" tIns="0" rIns="0" bIns="0" rtlCol="0" anchor="ctr"/>
          <a:lstStyle/>
          <a:p>
            <a:pPr algn="l" indent="0" marL="0">
              <a:buNone/>
            </a:pPr>
            <a:r>
              <a:rPr lang="en-US" sz="6000" b="1" dirty="0">
                <a:solidFill>
                  <a:schemeClr val="bg1"/>
                </a:solidFill>
                <a:latin typeface="+mj-lt" pitchFamily="34" charset="0"/>
                <a:ea typeface="+mj-lt" pitchFamily="34" charset="-122"/>
                <a:cs typeface="+mj-lt" pitchFamily="34" charset="-120"/>
              </a:rPr>
              <a:t>StudyRoute</a:t>
            </a:r>
            <a:endParaRPr lang="en-US" sz="6000" dirty="0"/>
          </a:p>
        </p:txBody>
      </p:sp>
      <p:sp>
        <p:nvSpPr>
          <p:cNvPr id="3" name="title-1-text-1"/>
          <p:cNvSpPr txBox="1"/>
          <p:nvPr/>
        </p:nvSpPr>
        <p:spPr>
          <a:xfrm>
            <a:off x="548640" y="502920"/>
            <a:ext cx="5486400" cy="274320"/>
          </a:xfrm>
          <a:prstGeom prst="rect">
            <a:avLst/>
          </a:prstGeom>
          <a:noFill/>
          <a:ln/>
        </p:spPr>
        <p:txBody>
          <a:bodyPr wrap="square" lIns="0" tIns="0" rIns="0" bIns="0" rtlCol="0" anchor="t"/>
          <a:lstStyle/>
          <a:p>
            <a:pPr algn="l" indent="0" marL="0">
              <a:buNone/>
            </a:pPr>
            <a:r>
              <a:rPr lang="en-US" sz="1200" b="1" dirty="0">
                <a:solidFill>
                  <a:schemeClr val="accent2"/>
                </a:solidFill>
              </a:rPr>
              <a:t>TOPIC C  ·  CROSS-BORDER AND STUDENT FINANCE ASSISTANT</a:t>
            </a:r>
            <a:endParaRPr lang="en-US" sz="1200" dirty="0"/>
          </a:p>
        </p:txBody>
      </p:sp>
      <p:sp>
        <p:nvSpPr>
          <p:cNvPr id="4" name="title-1-text-2"/>
          <p:cNvSpPr txBox="1"/>
          <p:nvPr/>
        </p:nvSpPr>
        <p:spPr>
          <a:xfrm>
            <a:off x="548640" y="2148840"/>
            <a:ext cx="5212080" cy="1188720"/>
          </a:xfrm>
          <a:prstGeom prst="rect">
            <a:avLst/>
          </a:prstGeom>
          <a:noFill/>
          <a:ln/>
        </p:spPr>
        <p:txBody>
          <a:bodyPr wrap="square" lIns="0" tIns="0" rIns="0" bIns="0" rtlCol="0" anchor="t"/>
          <a:lstStyle/>
          <a:p>
            <a:pPr algn="l" indent="0" marL="0">
              <a:buNone/>
            </a:pPr>
            <a:r>
              <a:rPr lang="en-US" sz="2000" dirty="0">
                <a:solidFill>
                  <a:schemeClr val="bg2"/>
                </a:solidFill>
              </a:rPr>
              <a:t>An AI agent that helps a parent in Bangladesh pay tuition abroad: clear costs, safe approval, full audit.</a:t>
            </a:r>
            <a:endParaRPr lang="en-US" sz="2000" dirty="0"/>
          </a:p>
        </p:txBody>
      </p:sp>
      <p:sp>
        <p:nvSpPr>
          <p:cNvPr id="5" name="title-1-text-3"/>
          <p:cNvSpPr txBox="1"/>
          <p:nvPr/>
        </p:nvSpPr>
        <p:spPr>
          <a:xfrm>
            <a:off x="548640" y="3520440"/>
            <a:ext cx="5212080" cy="914400"/>
          </a:xfrm>
          <a:prstGeom prst="rect">
            <a:avLst/>
          </a:prstGeom>
          <a:noFill/>
          <a:ln/>
        </p:spPr>
        <p:txBody>
          <a:bodyPr wrap="square" lIns="0" tIns="0" rIns="0" bIns="0" rtlCol="0" anchor="t"/>
          <a:lstStyle/>
          <a:p>
            <a:pPr algn="l" indent="0" marL="0">
              <a:buNone/>
            </a:pPr>
            <a:r>
              <a:rPr lang="en-US" sz="1600" i="1" dirty="0">
                <a:solidFill>
                  <a:schemeClr val="accent2"/>
                </a:solidFill>
              </a:rPr>
              <a:t>The engine calculates. The AI explains. The human approves. Every step is logged.</a:t>
            </a:r>
            <a:endParaRPr lang="en-US" sz="1600" dirty="0"/>
          </a:p>
        </p:txBody>
      </p:sp>
      <p:sp>
        <p:nvSpPr>
          <p:cNvPr id="6" name="title-1-text-4"/>
          <p:cNvSpPr txBox="1"/>
          <p:nvPr/>
        </p:nvSpPr>
        <p:spPr>
          <a:xfrm>
            <a:off x="548640" y="4572000"/>
            <a:ext cx="5303520" cy="274320"/>
          </a:xfrm>
          <a:prstGeom prst="rect">
            <a:avLst/>
          </a:prstGeom>
          <a:noFill/>
          <a:ln/>
        </p:spPr>
        <p:txBody>
          <a:bodyPr wrap="square" lIns="0" tIns="0" rIns="0" bIns="0" rtlCol="0" anchor="t"/>
          <a:lstStyle/>
          <a:p>
            <a:pPr algn="l" indent="0" marL="0">
              <a:buNone/>
            </a:pPr>
            <a:r>
              <a:rPr lang="en-US" sz="1200" dirty="0">
                <a:solidFill>
                  <a:schemeClr val="accent5"/>
                </a:solidFill>
              </a:rPr>
              <a:t>TeamEkxin  ·  Sandbox: synthetic data, no real money moves</a:t>
            </a:r>
            <a:endParaRPr lang="en-US" sz="1200" dirty="0"/>
          </a:p>
        </p:txBody>
      </p:sp>
      <p:sp>
        <p:nvSpPr>
          <p:cNvPr id="7" name="title-1-rect-5"/>
          <p:cNvSpPr/>
          <p:nvPr/>
        </p:nvSpPr>
        <p:spPr>
          <a:xfrm>
            <a:off x="6144768" y="47548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8" name="title-1-image-6" descr="StudyRoute compare screen ranking three providers">    </p:cNvPr>
          <p:cNvPicPr>
            <a:picLocks noChangeAspect="1"/>
          </p:cNvPicPr>
          <p:nvPr/>
        </p:nvPicPr>
        <p:blipFill>
          <a:blip r:embed="rId1"/>
          <a:stretch>
            <a:fillRect/>
          </a:stretch>
        </p:blipFill>
        <p:spPr>
          <a:xfrm>
            <a:off x="6217920" y="548640"/>
            <a:ext cx="2560320" cy="2002536"/>
          </a:xfrm>
          <a:prstGeom prst="rect">
            <a:avLst/>
          </a:prstGeom>
        </p:spPr>
      </p:pic>
      <p:sp>
        <p:nvSpPr>
          <p:cNvPr id="9" name="title-1-rect-7"/>
          <p:cNvSpPr/>
          <p:nvPr/>
        </p:nvSpPr>
        <p:spPr>
          <a:xfrm>
            <a:off x="6144768" y="271576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0" name="title-1-image-8" descr="Audit log with the hash chain verified">    </p:cNvPr>
          <p:cNvPicPr>
            <a:picLocks noChangeAspect="1"/>
          </p:cNvPicPr>
          <p:nvPr/>
        </p:nvPicPr>
        <p:blipFill>
          <a:blip r:embed="rId2"/>
          <a:stretch>
            <a:fillRect/>
          </a:stretch>
        </p:blipFill>
        <p:spPr>
          <a:xfrm>
            <a:off x="6217920" y="2788920"/>
            <a:ext cx="2560320" cy="20025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posted fee is not the price</a:t>
            </a:r>
            <a:endParaRPr lang="en-US" sz="3600" dirty="0"/>
          </a:p>
        </p:txBody>
      </p:sp>
      <p:sp>
        <p:nvSpPr>
          <p:cNvPr id="3" name="content-2-rect-1"/>
          <p:cNvSpPr/>
          <p:nvPr/>
        </p:nvSpPr>
        <p:spPr>
          <a:xfrm>
            <a:off x="457200" y="1234440"/>
            <a:ext cx="3017520" cy="3429000"/>
          </a:xfrm>
          <a:prstGeom prst="roundRect">
            <a:avLst>
              <a:gd name="adj" fmla="val 2424"/>
            </a:avLst>
          </a:prstGeom>
          <a:solidFill>
            <a:schemeClr val="bg2"/>
          </a:solidFill>
          <a:ln/>
        </p:spPr>
      </p:sp>
      <p:sp>
        <p:nvSpPr>
          <p:cNvPr id="4" name="content-2-text-2"/>
          <p:cNvSpPr txBox="1"/>
          <p:nvPr/>
        </p:nvSpPr>
        <p:spPr>
          <a:xfrm>
            <a:off x="640080" y="1371600"/>
            <a:ext cx="2651760" cy="1097280"/>
          </a:xfrm>
          <a:prstGeom prst="rect">
            <a:avLst/>
          </a:prstGeom>
          <a:noFill/>
          <a:ln/>
        </p:spPr>
        <p:txBody>
          <a:bodyPr wrap="square" lIns="0" tIns="0" rIns="0" bIns="0" rtlCol="0" anchor="ctr"/>
          <a:lstStyle/>
          <a:p>
            <a:pPr algn="l" indent="0" marL="0">
              <a:buNone/>
            </a:pPr>
            <a:r>
              <a:rPr lang="en-US" sz="6600" b="1" dirty="0">
                <a:solidFill>
                  <a:schemeClr val="accent1"/>
                </a:solidFill>
                <a:latin typeface="+mj-lt" pitchFamily="34" charset="0"/>
                <a:ea typeface="+mj-lt" pitchFamily="34" charset="-122"/>
                <a:cs typeface="+mj-lt" pitchFamily="34" charset="-120"/>
              </a:rPr>
              <a:t>63%</a:t>
            </a:r>
            <a:endParaRPr lang="en-US" sz="6600" dirty="0"/>
          </a:p>
        </p:txBody>
      </p:sp>
      <p:sp>
        <p:nvSpPr>
          <p:cNvPr id="5" name="content-2-text-3"/>
          <p:cNvSpPr txBox="1"/>
          <p:nvPr/>
        </p:nvSpPr>
        <p:spPr>
          <a:xfrm>
            <a:off x="640080" y="2560320"/>
            <a:ext cx="2651760" cy="1005840"/>
          </a:xfrm>
          <a:prstGeom prst="rect">
            <a:avLst/>
          </a:prstGeom>
          <a:noFill/>
          <a:ln/>
        </p:spPr>
        <p:txBody>
          <a:bodyPr wrap="square" lIns="0" tIns="0" rIns="0" bIns="0" rtlCol="0" anchor="t"/>
          <a:lstStyle/>
          <a:p>
            <a:pPr algn="l" indent="0" marL="0">
              <a:buNone/>
            </a:pPr>
            <a:r>
              <a:rPr lang="en-US" sz="1600" b="1" dirty="0">
                <a:solidFill>
                  <a:schemeClr val="tx1"/>
                </a:solidFill>
              </a:rPr>
              <a:t>of the real cost is the hidden exchange-rate margin</a:t>
            </a:r>
            <a:endParaRPr lang="en-US" sz="1600" dirty="0"/>
          </a:p>
        </p:txBody>
      </p:sp>
      <p:sp>
        <p:nvSpPr>
          <p:cNvPr id="6" name="content-2-text-4"/>
          <p:cNvSpPr txBox="1"/>
          <p:nvPr/>
        </p:nvSpPr>
        <p:spPr>
          <a:xfrm>
            <a:off x="640080" y="4023360"/>
            <a:ext cx="2651760" cy="502920"/>
          </a:xfrm>
          <a:prstGeom prst="rect">
            <a:avLst/>
          </a:prstGeom>
          <a:noFill/>
          <a:ln/>
        </p:spPr>
        <p:txBody>
          <a:bodyPr wrap="square" lIns="0" tIns="0" rIns="0" bIns="0" rtlCol="0" anchor="t"/>
          <a:lstStyle/>
          <a:p>
            <a:pPr algn="l" indent="0" marL="0">
              <a:buNone/>
            </a:pPr>
            <a:r>
              <a:rPr lang="en-US" sz="1100" dirty="0">
                <a:solidFill>
                  <a:schemeClr val="tx2"/>
                </a:solidFill>
              </a:rPr>
              <a:t>Provider B, GBP 10,000. Synthetic rates and fees.</a:t>
            </a:r>
            <a:endParaRPr lang="en-US" sz="1100" dirty="0"/>
          </a:p>
        </p:txBody>
      </p:sp>
      <p:sp>
        <p:nvSpPr>
          <p:cNvPr id="7" name="content-2-oval-5"/>
          <p:cNvSpPr/>
          <p:nvPr/>
        </p:nvSpPr>
        <p:spPr>
          <a:xfrm>
            <a:off x="3749040" y="1280160"/>
            <a:ext cx="329184" cy="329184"/>
          </a:xfrm>
          <a:prstGeom prst="ellipse">
            <a:avLst/>
          </a:prstGeom>
          <a:solidFill>
            <a:schemeClr val="accent1"/>
          </a:solidFill>
          <a:ln/>
        </p:spPr>
      </p:sp>
      <p:sp>
        <p:nvSpPr>
          <p:cNvPr id="8" name="content-2-text-6"/>
          <p:cNvSpPr txBox="1"/>
          <p:nvPr/>
        </p:nvSpPr>
        <p:spPr>
          <a:xfrm>
            <a:off x="3749040" y="12801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content-2-text-7"/>
          <p:cNvSpPr txBox="1"/>
          <p:nvPr/>
        </p:nvSpPr>
        <p:spPr>
          <a:xfrm>
            <a:off x="4251960" y="1234440"/>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Hidden margin.</a:t>
            </a:r>
            <a:pPr algn="l" indent="0" marL="0">
              <a:buNone/>
            </a:pPr>
            <a:r>
              <a:rPr lang="en-US" sz="1400" dirty="0">
                <a:solidFill>
                  <a:schemeClr val="tx2"/>
                </a:solidFill>
              </a:rPr>
              <a:t> The rate sits above mid-market, and banks show a fee, not the margin.</a:t>
            </a:r>
            <a:endParaRPr lang="en-US" sz="1400" dirty="0"/>
          </a:p>
        </p:txBody>
      </p:sp>
      <p:sp>
        <p:nvSpPr>
          <p:cNvPr id="10" name="content-2-oval-8"/>
          <p:cNvSpPr/>
          <p:nvPr/>
        </p:nvSpPr>
        <p:spPr>
          <a:xfrm>
            <a:off x="3749040" y="1975104"/>
            <a:ext cx="329184" cy="329184"/>
          </a:xfrm>
          <a:prstGeom prst="ellipse">
            <a:avLst/>
          </a:prstGeom>
          <a:solidFill>
            <a:schemeClr val="accent1"/>
          </a:solidFill>
          <a:ln/>
        </p:spPr>
      </p:sp>
      <p:sp>
        <p:nvSpPr>
          <p:cNvPr id="11" name="content-2-text-9"/>
          <p:cNvSpPr txBox="1"/>
          <p:nvPr/>
        </p:nvSpPr>
        <p:spPr>
          <a:xfrm>
            <a:off x="3749040" y="19751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ntent-2-text-10"/>
          <p:cNvSpPr txBox="1"/>
          <p:nvPr/>
        </p:nvSpPr>
        <p:spPr>
          <a:xfrm>
            <a:off x="4251960" y="1929384"/>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Fees on the way.</a:t>
            </a:r>
            <a:pPr algn="l" indent="0" marL="0">
              <a:buNone/>
            </a:pPr>
            <a:r>
              <a:rPr lang="en-US" sz="1400" dirty="0">
                <a:solidFill>
                  <a:schemeClr val="tx2"/>
                </a:solidFill>
              </a:rPr>
              <a:t> Correspondent and receiving banks deduct from the amount.</a:t>
            </a:r>
            <a:endParaRPr lang="en-US" sz="1400" dirty="0"/>
          </a:p>
        </p:txBody>
      </p:sp>
      <p:sp>
        <p:nvSpPr>
          <p:cNvPr id="13" name="content-2-oval-11"/>
          <p:cNvSpPr/>
          <p:nvPr/>
        </p:nvSpPr>
        <p:spPr>
          <a:xfrm>
            <a:off x="3749040" y="2670048"/>
            <a:ext cx="329184" cy="329184"/>
          </a:xfrm>
          <a:prstGeom prst="ellipse">
            <a:avLst/>
          </a:prstGeom>
          <a:solidFill>
            <a:schemeClr val="accent1"/>
          </a:solidFill>
          <a:ln/>
        </p:spPr>
      </p:sp>
      <p:sp>
        <p:nvSpPr>
          <p:cNvPr id="14" name="content-2-text-12"/>
          <p:cNvSpPr txBox="1"/>
          <p:nvPr/>
        </p:nvSpPr>
        <p:spPr>
          <a:xfrm>
            <a:off x="3749040" y="267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ontent-2-text-13"/>
          <p:cNvSpPr txBox="1"/>
          <p:nvPr/>
        </p:nvSpPr>
        <p:spPr>
          <a:xfrm>
            <a:off x="4251960" y="2624328"/>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Short payment.</a:t>
            </a:r>
            <a:pPr algn="l" indent="0" marL="0">
              <a:buNone/>
            </a:pPr>
            <a:r>
              <a:rPr lang="en-US" sz="1400" dirty="0">
                <a:solidFill>
                  <a:schemeClr val="tx2"/>
                </a:solidFill>
              </a:rPr>
              <a:t> The university gets less than invoiced and may add a late fee.</a:t>
            </a:r>
            <a:endParaRPr lang="en-US" sz="1400" dirty="0"/>
          </a:p>
        </p:txBody>
      </p:sp>
      <p:sp>
        <p:nvSpPr>
          <p:cNvPr id="16" name="content-2-oval-14"/>
          <p:cNvSpPr/>
          <p:nvPr/>
        </p:nvSpPr>
        <p:spPr>
          <a:xfrm>
            <a:off x="3749040" y="3364992"/>
            <a:ext cx="329184" cy="329184"/>
          </a:xfrm>
          <a:prstGeom prst="ellipse">
            <a:avLst/>
          </a:prstGeom>
          <a:solidFill>
            <a:schemeClr val="accent1"/>
          </a:solidFill>
          <a:ln/>
        </p:spPr>
      </p:sp>
      <p:sp>
        <p:nvSpPr>
          <p:cNvPr id="17" name="content-2-text-15"/>
          <p:cNvSpPr txBox="1"/>
          <p:nvPr/>
        </p:nvSpPr>
        <p:spPr>
          <a:xfrm>
            <a:off x="3749040" y="33649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content-2-text-16"/>
          <p:cNvSpPr txBox="1"/>
          <p:nvPr/>
        </p:nvSpPr>
        <p:spPr>
          <a:xfrm>
            <a:off x="4251960" y="3319272"/>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Missed deadlines.</a:t>
            </a:r>
            <a:pPr algn="l" indent="0" marL="0">
              <a:buNone/>
            </a:pPr>
            <a:r>
              <a:rPr lang="en-US" sz="1400" dirty="0">
                <a:solidFill>
                  <a:schemeClr val="tx2"/>
                </a:solidFill>
              </a:rPr>
              <a:t> Two calendars: Friday and Saturday off in Bangladesh, plus the host country.</a:t>
            </a:r>
            <a:endParaRPr lang="en-US" sz="1400" dirty="0"/>
          </a:p>
        </p:txBody>
      </p:sp>
      <p:sp>
        <p:nvSpPr>
          <p:cNvPr id="19" name="content-2-oval-17"/>
          <p:cNvSpPr/>
          <p:nvPr/>
        </p:nvSpPr>
        <p:spPr>
          <a:xfrm>
            <a:off x="3749040" y="4059936"/>
            <a:ext cx="329184" cy="329184"/>
          </a:xfrm>
          <a:prstGeom prst="ellipse">
            <a:avLst/>
          </a:prstGeom>
          <a:solidFill>
            <a:schemeClr val="accent1"/>
          </a:solidFill>
          <a:ln/>
        </p:spPr>
      </p:sp>
      <p:sp>
        <p:nvSpPr>
          <p:cNvPr id="20" name="content-2-text-18"/>
          <p:cNvSpPr txBox="1"/>
          <p:nvPr/>
        </p:nvSpPr>
        <p:spPr>
          <a:xfrm>
            <a:off x="3749040" y="405993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content-2-text-19"/>
          <p:cNvSpPr txBox="1"/>
          <p:nvPr/>
        </p:nvSpPr>
        <p:spPr>
          <a:xfrm>
            <a:off x="4251960" y="4014216"/>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Paperwork.</a:t>
            </a:r>
            <a:pPr algn="l" indent="0" marL="0">
              <a:buNone/>
            </a:pPr>
            <a:r>
              <a:rPr lang="en-US" sz="1400" dirty="0">
                <a:solidFill>
                  <a:schemeClr val="tx2"/>
                </a:solidFill>
              </a:rPr>
              <a:t> An unclear document list and weeks of back and forth.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family carries the risk</a:t>
            </a:r>
            <a:endParaRPr lang="en-US" sz="3600" dirty="0"/>
          </a:p>
        </p:txBody>
      </p:sp>
      <p:sp>
        <p:nvSpPr>
          <p:cNvPr id="3" name="content-3-rect-1"/>
          <p:cNvSpPr/>
          <p:nvPr/>
        </p:nvSpPr>
        <p:spPr>
          <a:xfrm>
            <a:off x="457200" y="1234440"/>
            <a:ext cx="4023360" cy="2926080"/>
          </a:xfrm>
          <a:prstGeom prst="roundRect">
            <a:avLst>
              <a:gd name="adj" fmla="val 2500"/>
            </a:avLst>
          </a:prstGeom>
          <a:solidFill>
            <a:schemeClr val="bg2"/>
          </a:solidFill>
          <a:ln/>
        </p:spPr>
      </p:sp>
      <p:sp>
        <p:nvSpPr>
          <p:cNvPr id="4" name="content-3-oval-2"/>
          <p:cNvSpPr/>
          <p:nvPr/>
        </p:nvSpPr>
        <p:spPr>
          <a:xfrm>
            <a:off x="640080" y="1417320"/>
            <a:ext cx="457200" cy="457200"/>
          </a:xfrm>
          <a:prstGeom prst="ellipse">
            <a:avLst/>
          </a:prstGeom>
          <a:solidFill>
            <a:schemeClr val="accent4"/>
          </a:solidFill>
          <a:ln/>
        </p:spPr>
      </p:sp>
      <p:sp>
        <p:nvSpPr>
          <p:cNvPr id="5" name="content-3-text-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P</a:t>
            </a:r>
            <a:endParaRPr lang="en-US" sz="1800" dirty="0"/>
          </a:p>
        </p:txBody>
      </p:sp>
      <p:sp>
        <p:nvSpPr>
          <p:cNvPr id="6" name="content-3-text-4"/>
          <p:cNvSpPr txBox="1"/>
          <p:nvPr/>
        </p:nvSpPr>
        <p:spPr>
          <a:xfrm>
            <a:off x="123444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parent in Bangladesh</a:t>
            </a:r>
            <a:endParaRPr lang="en-US" sz="1800" dirty="0"/>
          </a:p>
        </p:txBody>
      </p:sp>
      <p:sp>
        <p:nvSpPr>
          <p:cNvPr id="7" name="content-3-text-5"/>
          <p:cNvSpPr txBox="1"/>
          <p:nvPr/>
        </p:nvSpPr>
        <p:spPr>
          <a:xfrm>
            <a:off x="64008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Pays in BDT and carries the risk</a:t>
            </a:r>
            <a:endParaRPr lang="en-US" sz="1400" dirty="0"/>
          </a:p>
        </p:txBody>
      </p:sp>
      <p:sp>
        <p:nvSpPr>
          <p:cNvPr id="8" name="content-3-text-6"/>
          <p:cNvSpPr txBox="1"/>
          <p:nvPr/>
        </p:nvSpPr>
        <p:spPr>
          <a:xfrm>
            <a:off x="64008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Compares banks by the posted fee only</a:t>
            </a:r>
            <a:endParaRPr lang="en-US" sz="1400" dirty="0"/>
          </a:p>
          <a:p>
            <a:pPr algn="l" marL="342900" indent="-342900">
              <a:spcAft>
                <a:spcPts val="600"/>
              </a:spcAft>
              <a:buSzPct val="100000"/>
              <a:buChar char="•"/>
            </a:pPr>
            <a:r>
              <a:rPr lang="en-US" sz="1400" dirty="0">
                <a:solidFill>
                  <a:schemeClr val="tx1"/>
                </a:solidFill>
              </a:rPr>
              <a:t>Approves a large transfer with little to check it against</a:t>
            </a:r>
            <a:endParaRPr lang="en-US" sz="1400" dirty="0"/>
          </a:p>
          <a:p>
            <a:pPr algn="l" marL="342900" indent="-342900">
              <a:spcAft>
                <a:spcPts val="600"/>
              </a:spcAft>
              <a:buSzPct val="100000"/>
              <a:buChar char="•"/>
            </a:pPr>
            <a:r>
              <a:rPr lang="en-US" sz="1400" dirty="0">
                <a:solidFill>
                  <a:schemeClr val="tx1"/>
                </a:solidFill>
              </a:rPr>
              <a:t>Must prove source of funds and gather documents</a:t>
            </a:r>
            <a:endParaRPr lang="en-US" sz="1400" dirty="0"/>
          </a:p>
        </p:txBody>
      </p:sp>
      <p:sp>
        <p:nvSpPr>
          <p:cNvPr id="9" name="content-3-rect-7"/>
          <p:cNvSpPr/>
          <p:nvPr/>
        </p:nvSpPr>
        <p:spPr>
          <a:xfrm>
            <a:off x="4663440" y="1234440"/>
            <a:ext cx="4023360" cy="2926080"/>
          </a:xfrm>
          <a:prstGeom prst="roundRect">
            <a:avLst>
              <a:gd name="adj" fmla="val 2500"/>
            </a:avLst>
          </a:prstGeom>
          <a:solidFill>
            <a:schemeClr val="bg2"/>
          </a:solidFill>
          <a:ln/>
        </p:spPr>
      </p:sp>
      <p:sp>
        <p:nvSpPr>
          <p:cNvPr id="10" name="content-3-oval-8"/>
          <p:cNvSpPr/>
          <p:nvPr/>
        </p:nvSpPr>
        <p:spPr>
          <a:xfrm>
            <a:off x="4846320" y="1417320"/>
            <a:ext cx="457200" cy="457200"/>
          </a:xfrm>
          <a:prstGeom prst="ellipse">
            <a:avLst/>
          </a:prstGeom>
          <a:solidFill>
            <a:schemeClr val="accent1"/>
          </a:solidFill>
          <a:ln/>
        </p:spPr>
      </p:sp>
      <p:sp>
        <p:nvSpPr>
          <p:cNvPr id="11" name="content-3-text-9"/>
          <p:cNvSpPr txBox="1"/>
          <p:nvPr/>
        </p:nvSpPr>
        <p:spPr>
          <a:xfrm>
            <a:off x="484632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S</a:t>
            </a:r>
            <a:endParaRPr lang="en-US" sz="1800" dirty="0"/>
          </a:p>
        </p:txBody>
      </p:sp>
      <p:sp>
        <p:nvSpPr>
          <p:cNvPr id="12" name="content-3-text-10"/>
          <p:cNvSpPr txBox="1"/>
          <p:nvPr/>
        </p:nvSpPr>
        <p:spPr>
          <a:xfrm>
            <a:off x="544068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student abroad</a:t>
            </a:r>
            <a:endParaRPr lang="en-US" sz="1800" dirty="0"/>
          </a:p>
        </p:txBody>
      </p:sp>
      <p:sp>
        <p:nvSpPr>
          <p:cNvPr id="13" name="content-3-text-11"/>
          <p:cNvSpPr txBox="1"/>
          <p:nvPr/>
        </p:nvSpPr>
        <p:spPr>
          <a:xfrm>
            <a:off x="484632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Needs the university paid on time</a:t>
            </a:r>
            <a:endParaRPr lang="en-US" sz="1400" dirty="0"/>
          </a:p>
        </p:txBody>
      </p:sp>
      <p:sp>
        <p:nvSpPr>
          <p:cNvPr id="14" name="content-3-text-12"/>
          <p:cNvSpPr txBox="1"/>
          <p:nvPr/>
        </p:nvSpPr>
        <p:spPr>
          <a:xfrm>
            <a:off x="484632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Tuition arrives short or cannot be matched</a:t>
            </a:r>
            <a:endParaRPr lang="en-US" sz="1400" dirty="0"/>
          </a:p>
          <a:p>
            <a:pPr algn="l" marL="342900" indent="-342900">
              <a:spcAft>
                <a:spcPts val="600"/>
              </a:spcAft>
              <a:buSzPct val="100000"/>
              <a:buChar char="•"/>
            </a:pPr>
            <a:r>
              <a:rPr lang="en-US" sz="1400" dirty="0">
                <a:solidFill>
                  <a:schemeClr val="tx1"/>
                </a:solidFill>
              </a:rPr>
              <a:t>Late fees, or a payment the university cannot match</a:t>
            </a:r>
            <a:endParaRPr lang="en-US" sz="1400" dirty="0"/>
          </a:p>
          <a:p>
            <a:pPr algn="l" marL="342900" indent="-342900">
              <a:spcAft>
                <a:spcPts val="600"/>
              </a:spcAft>
              <a:buSzPct val="100000"/>
              <a:buChar char="•"/>
            </a:pPr>
            <a:r>
              <a:rPr lang="en-US" sz="1400" dirty="0">
                <a:solidFill>
                  <a:schemeClr val="tx1"/>
                </a:solidFill>
              </a:rPr>
              <a:t>Weeks of waiting with no status</a:t>
            </a:r>
            <a:endParaRPr lang="en-US" sz="1400" dirty="0"/>
          </a:p>
        </p:txBody>
      </p:sp>
      <p:sp>
        <p:nvSpPr>
          <p:cNvPr id="15" name="content-3-text-13"/>
          <p:cNvSpPr txBox="1"/>
          <p:nvPr/>
        </p:nvSpPr>
        <p:spPr>
          <a:xfrm>
            <a:off x="457200" y="4343400"/>
            <a:ext cx="8229600" cy="411480"/>
          </a:xfrm>
          <a:prstGeom prst="rect">
            <a:avLst/>
          </a:prstGeom>
          <a:noFill/>
          <a:ln/>
        </p:spPr>
        <p:txBody>
          <a:bodyPr wrap="square" lIns="0" tIns="0" rIns="0" bIns="0" rtlCol="0" anchor="ctr"/>
          <a:lstStyle/>
          <a:p>
            <a:pPr algn="l" indent="0" marL="0">
              <a:buNone/>
            </a:pPr>
            <a:r>
              <a:rPr lang="en-US" sz="1600" b="1" dirty="0">
                <a:solidFill>
                  <a:schemeClr val="accent1"/>
                </a:solidFill>
              </a:rPr>
              <a:t>StudyRoute gives both one plan: the parent decides, the student can see.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How money really moves</a:t>
            </a:r>
            <a:endParaRPr lang="en-US" sz="3600" dirty="0"/>
          </a:p>
        </p:txBody>
      </p:sp>
      <p:sp>
        <p:nvSpPr>
          <p:cNvPr id="3" name="content-4-rect-1"/>
          <p:cNvSpPr/>
          <p:nvPr/>
        </p:nvSpPr>
        <p:spPr>
          <a:xfrm>
            <a:off x="457200" y="1417320"/>
            <a:ext cx="1481328" cy="1417320"/>
          </a:xfrm>
          <a:prstGeom prst="roundRect">
            <a:avLst>
              <a:gd name="adj" fmla="val 5161"/>
            </a:avLst>
          </a:prstGeom>
          <a:solidFill>
            <a:schemeClr val="tx1"/>
          </a:solidFill>
          <a:ln/>
        </p:spPr>
      </p:sp>
      <p:sp>
        <p:nvSpPr>
          <p:cNvPr id="4" name="content-4-text-2"/>
          <p:cNvSpPr txBox="1"/>
          <p:nvPr/>
        </p:nvSpPr>
        <p:spPr>
          <a:xfrm>
            <a:off x="530352"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Parent</a:t>
            </a:r>
            <a:endParaRPr lang="en-US" sz="1400" dirty="0"/>
          </a:p>
        </p:txBody>
      </p:sp>
      <p:sp>
        <p:nvSpPr>
          <p:cNvPr id="5" name="content-4-text-3"/>
          <p:cNvSpPr txBox="1"/>
          <p:nvPr/>
        </p:nvSpPr>
        <p:spPr>
          <a:xfrm>
            <a:off x="530352"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pays BDT</a:t>
            </a:r>
            <a:endParaRPr lang="en-US" sz="1200" dirty="0"/>
          </a:p>
        </p:txBody>
      </p:sp>
      <p:sp>
        <p:nvSpPr>
          <p:cNvPr id="6" name="content-4-text-4"/>
          <p:cNvSpPr txBox="1"/>
          <p:nvPr/>
        </p:nvSpPr>
        <p:spPr>
          <a:xfrm>
            <a:off x="457200"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Missing document</a:t>
            </a:r>
            <a:endParaRPr lang="en-US" sz="1200" dirty="0"/>
          </a:p>
        </p:txBody>
      </p:sp>
      <p:sp>
        <p:nvSpPr>
          <p:cNvPr id="7" name="content-4-arrow-5"/>
          <p:cNvSpPr/>
          <p:nvPr/>
        </p:nvSpPr>
        <p:spPr>
          <a:xfrm>
            <a:off x="1956816" y="2130552"/>
            <a:ext cx="164592" cy="0"/>
          </a:xfrm>
          <a:prstGeom prst="line">
            <a:avLst/>
          </a:prstGeom>
          <a:noFill/>
          <a:ln w="25400">
            <a:solidFill>
              <a:schemeClr val="tx2"/>
            </a:solidFill>
            <a:prstDash val="solid"/>
            <a:tailEnd type="triangle"/>
          </a:ln>
        </p:spPr>
      </p:sp>
      <p:sp>
        <p:nvSpPr>
          <p:cNvPr id="8" name="content-4-rect-6"/>
          <p:cNvSpPr/>
          <p:nvPr/>
        </p:nvSpPr>
        <p:spPr>
          <a:xfrm>
            <a:off x="2139696" y="1417320"/>
            <a:ext cx="1481328" cy="1417320"/>
          </a:xfrm>
          <a:prstGeom prst="roundRect">
            <a:avLst>
              <a:gd name="adj" fmla="val 5161"/>
            </a:avLst>
          </a:prstGeom>
          <a:solidFill>
            <a:schemeClr val="tx1"/>
          </a:solidFill>
          <a:ln/>
        </p:spPr>
      </p:sp>
      <p:sp>
        <p:nvSpPr>
          <p:cNvPr id="9" name="content-4-text-7"/>
          <p:cNvSpPr txBox="1"/>
          <p:nvPr/>
        </p:nvSpPr>
        <p:spPr>
          <a:xfrm>
            <a:off x="2212848"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AD bank</a:t>
            </a:r>
            <a:endParaRPr lang="en-US" sz="1400" dirty="0"/>
          </a:p>
        </p:txBody>
      </p:sp>
      <p:sp>
        <p:nvSpPr>
          <p:cNvPr id="10" name="content-4-text-8"/>
          <p:cNvSpPr txBox="1"/>
          <p:nvPr/>
        </p:nvSpPr>
        <p:spPr>
          <a:xfrm>
            <a:off x="2212848"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sells FX, sends SWIFT message</a:t>
            </a:r>
            <a:endParaRPr lang="en-US" sz="1200" dirty="0"/>
          </a:p>
        </p:txBody>
      </p:sp>
      <p:sp>
        <p:nvSpPr>
          <p:cNvPr id="11" name="content-4-text-9"/>
          <p:cNvSpPr txBox="1"/>
          <p:nvPr/>
        </p:nvSpPr>
        <p:spPr>
          <a:xfrm>
            <a:off x="2139696"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Wrong BIC: payment bounces</a:t>
            </a:r>
            <a:endParaRPr lang="en-US" sz="1200" dirty="0"/>
          </a:p>
        </p:txBody>
      </p:sp>
      <p:sp>
        <p:nvSpPr>
          <p:cNvPr id="12" name="content-4-arrow-10"/>
          <p:cNvSpPr/>
          <p:nvPr/>
        </p:nvSpPr>
        <p:spPr>
          <a:xfrm>
            <a:off x="3639312" y="2130552"/>
            <a:ext cx="164592" cy="0"/>
          </a:xfrm>
          <a:prstGeom prst="line">
            <a:avLst/>
          </a:prstGeom>
          <a:noFill/>
          <a:ln w="25400">
            <a:solidFill>
              <a:schemeClr val="tx2"/>
            </a:solidFill>
            <a:prstDash val="solid"/>
            <a:tailEnd type="triangle"/>
          </a:ln>
        </p:spPr>
      </p:sp>
      <p:sp>
        <p:nvSpPr>
          <p:cNvPr id="13" name="content-4-rect-11"/>
          <p:cNvSpPr/>
          <p:nvPr/>
        </p:nvSpPr>
        <p:spPr>
          <a:xfrm>
            <a:off x="3822192" y="1417320"/>
            <a:ext cx="1481328" cy="1417320"/>
          </a:xfrm>
          <a:prstGeom prst="roundRect">
            <a:avLst>
              <a:gd name="adj" fmla="val 5161"/>
            </a:avLst>
          </a:prstGeom>
          <a:solidFill>
            <a:schemeClr val="tx1"/>
          </a:solidFill>
          <a:ln/>
        </p:spPr>
      </p:sp>
      <p:sp>
        <p:nvSpPr>
          <p:cNvPr id="14" name="content-4-text-12"/>
          <p:cNvSpPr txBox="1"/>
          <p:nvPr/>
        </p:nvSpPr>
        <p:spPr>
          <a:xfrm>
            <a:off x="3895344"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Correspondent bank</a:t>
            </a:r>
            <a:endParaRPr lang="en-US" sz="1400" dirty="0"/>
          </a:p>
        </p:txBody>
      </p:sp>
      <p:sp>
        <p:nvSpPr>
          <p:cNvPr id="15" name="content-4-text-13"/>
          <p:cNvSpPr txBox="1"/>
          <p:nvPr/>
        </p:nvSpPr>
        <p:spPr>
          <a:xfrm>
            <a:off x="3895344"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may deduct a lifting fee</a:t>
            </a:r>
            <a:endParaRPr lang="en-US" sz="1200" dirty="0"/>
          </a:p>
        </p:txBody>
      </p:sp>
      <p:sp>
        <p:nvSpPr>
          <p:cNvPr id="16" name="content-4-text-14"/>
          <p:cNvSpPr txBox="1"/>
          <p:nvPr/>
        </p:nvSpPr>
        <p:spPr>
          <a:xfrm>
            <a:off x="3822192"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Fee deducted: tuition short</a:t>
            </a:r>
            <a:endParaRPr lang="en-US" sz="1200" dirty="0"/>
          </a:p>
        </p:txBody>
      </p:sp>
      <p:sp>
        <p:nvSpPr>
          <p:cNvPr id="17" name="content-4-arrow-15"/>
          <p:cNvSpPr/>
          <p:nvPr/>
        </p:nvSpPr>
        <p:spPr>
          <a:xfrm>
            <a:off x="5321808" y="2130552"/>
            <a:ext cx="164592" cy="0"/>
          </a:xfrm>
          <a:prstGeom prst="line">
            <a:avLst/>
          </a:prstGeom>
          <a:noFill/>
          <a:ln w="25400">
            <a:solidFill>
              <a:schemeClr val="tx2"/>
            </a:solidFill>
            <a:prstDash val="solid"/>
            <a:tailEnd type="triangle"/>
          </a:ln>
        </p:spPr>
      </p:sp>
      <p:sp>
        <p:nvSpPr>
          <p:cNvPr id="18" name="content-4-rect-16"/>
          <p:cNvSpPr/>
          <p:nvPr/>
        </p:nvSpPr>
        <p:spPr>
          <a:xfrm>
            <a:off x="5504688" y="1417320"/>
            <a:ext cx="1481328" cy="1417320"/>
          </a:xfrm>
          <a:prstGeom prst="roundRect">
            <a:avLst>
              <a:gd name="adj" fmla="val 5161"/>
            </a:avLst>
          </a:prstGeom>
          <a:solidFill>
            <a:schemeClr val="tx1"/>
          </a:solidFill>
          <a:ln/>
        </p:spPr>
      </p:sp>
      <p:sp>
        <p:nvSpPr>
          <p:cNvPr id="19" name="content-4-text-17"/>
          <p:cNvSpPr txBox="1"/>
          <p:nvPr/>
        </p:nvSpPr>
        <p:spPr>
          <a:xfrm>
            <a:off x="5577840"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Receiving bank</a:t>
            </a:r>
            <a:endParaRPr lang="en-US" sz="1400" dirty="0"/>
          </a:p>
        </p:txBody>
      </p:sp>
      <p:sp>
        <p:nvSpPr>
          <p:cNvPr id="20" name="content-4-text-18"/>
          <p:cNvSpPr txBox="1"/>
          <p:nvPr/>
        </p:nvSpPr>
        <p:spPr>
          <a:xfrm>
            <a:off x="5577840"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credits, may deduct a fee</a:t>
            </a:r>
            <a:endParaRPr lang="en-US" sz="1200" dirty="0"/>
          </a:p>
        </p:txBody>
      </p:sp>
      <p:sp>
        <p:nvSpPr>
          <p:cNvPr id="21" name="content-4-text-19"/>
          <p:cNvSpPr txBox="1"/>
          <p:nvPr/>
        </p:nvSpPr>
        <p:spPr>
          <a:xfrm>
            <a:off x="5504688"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Hold or receiving fee</a:t>
            </a:r>
            <a:endParaRPr lang="en-US" sz="1200" dirty="0"/>
          </a:p>
        </p:txBody>
      </p:sp>
      <p:sp>
        <p:nvSpPr>
          <p:cNvPr id="22" name="content-4-arrow-20"/>
          <p:cNvSpPr/>
          <p:nvPr/>
        </p:nvSpPr>
        <p:spPr>
          <a:xfrm>
            <a:off x="7004304" y="2130552"/>
            <a:ext cx="164592" cy="0"/>
          </a:xfrm>
          <a:prstGeom prst="line">
            <a:avLst/>
          </a:prstGeom>
          <a:noFill/>
          <a:ln w="25400">
            <a:solidFill>
              <a:schemeClr val="tx2"/>
            </a:solidFill>
            <a:prstDash val="solid"/>
            <a:tailEnd type="triangle"/>
          </a:ln>
        </p:spPr>
      </p:sp>
      <p:sp>
        <p:nvSpPr>
          <p:cNvPr id="23" name="content-4-rect-21"/>
          <p:cNvSpPr/>
          <p:nvPr/>
        </p:nvSpPr>
        <p:spPr>
          <a:xfrm>
            <a:off x="7187184" y="1417320"/>
            <a:ext cx="1481328" cy="1417320"/>
          </a:xfrm>
          <a:prstGeom prst="roundRect">
            <a:avLst>
              <a:gd name="adj" fmla="val 5161"/>
            </a:avLst>
          </a:prstGeom>
          <a:solidFill>
            <a:schemeClr val="accent1"/>
          </a:solidFill>
          <a:ln/>
        </p:spPr>
      </p:sp>
      <p:sp>
        <p:nvSpPr>
          <p:cNvPr id="24" name="content-4-text-22"/>
          <p:cNvSpPr txBox="1"/>
          <p:nvPr/>
        </p:nvSpPr>
        <p:spPr>
          <a:xfrm>
            <a:off x="7260336"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University</a:t>
            </a:r>
            <a:endParaRPr lang="en-US" sz="1400" dirty="0"/>
          </a:p>
        </p:txBody>
      </p:sp>
      <p:sp>
        <p:nvSpPr>
          <p:cNvPr id="25" name="content-4-text-23"/>
          <p:cNvSpPr txBox="1"/>
          <p:nvPr/>
        </p:nvSpPr>
        <p:spPr>
          <a:xfrm>
            <a:off x="7260336"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matches by reference</a:t>
            </a:r>
            <a:endParaRPr lang="en-US" sz="1200" dirty="0"/>
          </a:p>
        </p:txBody>
      </p:sp>
      <p:sp>
        <p:nvSpPr>
          <p:cNvPr id="26" name="content-4-text-24"/>
          <p:cNvSpPr txBox="1"/>
          <p:nvPr/>
        </p:nvSpPr>
        <p:spPr>
          <a:xfrm>
            <a:off x="7187184"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No reference: unmatched</a:t>
            </a:r>
            <a:endParaRPr lang="en-US" sz="1200" dirty="0"/>
          </a:p>
        </p:txBody>
      </p:sp>
      <p:sp>
        <p:nvSpPr>
          <p:cNvPr id="27" name="content-4-text-25"/>
          <p:cNvSpPr txBox="1"/>
          <p:nvPr/>
        </p:nvSpPr>
        <p:spPr>
          <a:xfrm>
            <a:off x="457200" y="2926080"/>
            <a:ext cx="3657600" cy="256032"/>
          </a:xfrm>
          <a:prstGeom prst="rect">
            <a:avLst/>
          </a:prstGeom>
          <a:noFill/>
          <a:ln/>
        </p:spPr>
        <p:txBody>
          <a:bodyPr wrap="square" lIns="0" tIns="0" rIns="0" bIns="0" rtlCol="0" anchor="t"/>
          <a:lstStyle/>
          <a:p>
            <a:pPr algn="l" indent="0" marL="0">
              <a:buNone/>
            </a:pPr>
            <a:r>
              <a:rPr lang="en-US" sz="1200" b="1" dirty="0">
                <a:solidFill>
                  <a:schemeClr val="tx2"/>
                </a:solidFill>
              </a:rPr>
              <a:t>Where it goes wrong</a:t>
            </a:r>
            <a:endParaRPr lang="en-US" sz="1200" dirty="0"/>
          </a:p>
        </p:txBody>
      </p:sp>
      <p:sp>
        <p:nvSpPr>
          <p:cNvPr id="28" name="content-4-text-26"/>
          <p:cNvSpPr txBox="1"/>
          <p:nvPr/>
        </p:nvSpPr>
        <p:spPr>
          <a:xfrm>
            <a:off x="457200" y="397764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SWIFT carries the instruction. Banks settle between their own accounts.</a:t>
            </a:r>
            <a:endParaRPr lang="en-US" sz="1600" dirty="0"/>
          </a:p>
        </p:txBody>
      </p:sp>
      <p:sp>
        <p:nvSpPr>
          <p:cNvPr id="29" name="content-4-text-27"/>
          <p:cNvSpPr txBox="1"/>
          <p:nvPr/>
        </p:nvSpPr>
        <p:spPr>
          <a:xfrm>
            <a:off x="457200" y="4389120"/>
            <a:ext cx="8229600" cy="365760"/>
          </a:xfrm>
          <a:prstGeom prst="rect">
            <a:avLst/>
          </a:prstGeom>
          <a:noFill/>
          <a:ln/>
        </p:spPr>
        <p:txBody>
          <a:bodyPr wrap="square" lIns="0" tIns="0" rIns="0" bIns="0" rtlCol="0" anchor="ctr"/>
          <a:lstStyle/>
          <a:p>
            <a:pPr algn="l" indent="0" marL="0">
              <a:buNone/>
            </a:pPr>
            <a:r>
              <a:rPr lang="en-US" sz="1400" i="1" dirty="0">
                <a:solidFill>
                  <a:schemeClr val="accent1"/>
                </a:solidFill>
              </a:rPr>
              <a:t>StudyRoute simulates this chain with invented banks. It moves no real money.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From question to settled payment</a:t>
            </a:r>
            <a:endParaRPr lang="en-US" sz="3600" dirty="0"/>
          </a:p>
        </p:txBody>
      </p:sp>
      <p:sp>
        <p:nvSpPr>
          <p:cNvPr id="3" name="content-5-rect-1"/>
          <p:cNvSpPr/>
          <p:nvPr/>
        </p:nvSpPr>
        <p:spPr>
          <a:xfrm>
            <a:off x="457200" y="1234440"/>
            <a:ext cx="4114800" cy="3246120"/>
          </a:xfrm>
          <a:prstGeom prst="roundRect">
            <a:avLst>
              <a:gd name="adj" fmla="val 169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5-image-2" descr="The assistant's payment plan built from one sentence">    </p:cNvPr>
          <p:cNvPicPr>
            <a:picLocks noChangeAspect="1"/>
          </p:cNvPicPr>
          <p:nvPr/>
        </p:nvPicPr>
        <p:blipFill>
          <a:blip r:embed="rId1"/>
          <a:stretch>
            <a:fillRect/>
          </a:stretch>
        </p:blipFill>
        <p:spPr>
          <a:xfrm>
            <a:off x="530352" y="1307592"/>
            <a:ext cx="3968496" cy="3099816"/>
          </a:xfrm>
          <a:prstGeom prst="rect">
            <a:avLst/>
          </a:prstGeom>
        </p:spPr>
      </p:pic>
      <p:sp>
        <p:nvSpPr>
          <p:cNvPr id="5" name="content-5-text-3"/>
          <p:cNvSpPr txBox="1"/>
          <p:nvPr/>
        </p:nvSpPr>
        <p:spPr>
          <a:xfrm>
            <a:off x="457200" y="4526280"/>
            <a:ext cx="4114800" cy="274320"/>
          </a:xfrm>
          <a:prstGeom prst="rect">
            <a:avLst/>
          </a:prstGeom>
          <a:noFill/>
          <a:ln/>
        </p:spPr>
        <p:txBody>
          <a:bodyPr wrap="square" lIns="0" tIns="0" rIns="0" bIns="0" rtlCol="0" anchor="t"/>
          <a:lstStyle/>
          <a:p>
            <a:pPr algn="l" indent="0" marL="0">
              <a:buNone/>
            </a:pPr>
            <a:r>
              <a:rPr lang="en-US" sz="1100" dirty="0">
                <a:solidFill>
                  <a:schemeClr val="tx2"/>
                </a:solidFill>
              </a:rPr>
              <a:t>One sentence in the chat. Synthetic data.</a:t>
            </a:r>
            <a:endParaRPr lang="en-US" sz="1100" dirty="0"/>
          </a:p>
        </p:txBody>
      </p:sp>
      <p:sp>
        <p:nvSpPr>
          <p:cNvPr id="6" name="content-5-rect-4"/>
          <p:cNvSpPr/>
          <p:nvPr/>
        </p:nvSpPr>
        <p:spPr>
          <a:xfrm>
            <a:off x="4892040" y="1380744"/>
            <a:ext cx="713232" cy="292608"/>
          </a:xfrm>
          <a:prstGeom prst="roundRect">
            <a:avLst>
              <a:gd name="adj" fmla="val 25000"/>
            </a:avLst>
          </a:prstGeom>
          <a:solidFill>
            <a:schemeClr val="accent1"/>
          </a:solidFill>
          <a:ln/>
        </p:spPr>
      </p:sp>
      <p:sp>
        <p:nvSpPr>
          <p:cNvPr id="7" name="content-5-text-5"/>
          <p:cNvSpPr txBox="1"/>
          <p:nvPr/>
        </p:nvSpPr>
        <p:spPr>
          <a:xfrm>
            <a:off x="4892040" y="13807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8" name="content-5-text-6"/>
          <p:cNvSpPr txBox="1"/>
          <p:nvPr/>
        </p:nvSpPr>
        <p:spPr>
          <a:xfrm>
            <a:off x="5742432" y="13258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Reads one sentence, makes the quote</a:t>
            </a:r>
            <a:endParaRPr lang="en-US" sz="1400" dirty="0"/>
          </a:p>
        </p:txBody>
      </p:sp>
      <p:sp>
        <p:nvSpPr>
          <p:cNvPr id="9" name="content-5-rect-7"/>
          <p:cNvSpPr/>
          <p:nvPr/>
        </p:nvSpPr>
        <p:spPr>
          <a:xfrm>
            <a:off x="4892040" y="1929384"/>
            <a:ext cx="713232" cy="292608"/>
          </a:xfrm>
          <a:prstGeom prst="roundRect">
            <a:avLst>
              <a:gd name="adj" fmla="val 25000"/>
            </a:avLst>
          </a:prstGeom>
          <a:solidFill>
            <a:schemeClr val="accent1"/>
          </a:solidFill>
          <a:ln/>
        </p:spPr>
      </p:sp>
      <p:sp>
        <p:nvSpPr>
          <p:cNvPr id="10" name="content-5-text-8"/>
          <p:cNvSpPr txBox="1"/>
          <p:nvPr/>
        </p:nvSpPr>
        <p:spPr>
          <a:xfrm>
            <a:off x="4892040" y="192938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1" name="content-5-text-9"/>
          <p:cNvSpPr txBox="1"/>
          <p:nvPr/>
        </p:nvSpPr>
        <p:spPr>
          <a:xfrm>
            <a:off x="5742432" y="187452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Ranks, plans deadline, checks KYC</a:t>
            </a:r>
            <a:endParaRPr lang="en-US" sz="1400" dirty="0"/>
          </a:p>
        </p:txBody>
      </p:sp>
      <p:sp>
        <p:nvSpPr>
          <p:cNvPr id="12" name="content-5-rect-10"/>
          <p:cNvSpPr/>
          <p:nvPr/>
        </p:nvSpPr>
        <p:spPr>
          <a:xfrm>
            <a:off x="4892040" y="2478024"/>
            <a:ext cx="713232" cy="292608"/>
          </a:xfrm>
          <a:prstGeom prst="roundRect">
            <a:avLst>
              <a:gd name="adj" fmla="val 25000"/>
            </a:avLst>
          </a:prstGeom>
          <a:solidFill>
            <a:schemeClr val="tx1"/>
          </a:solidFill>
          <a:ln/>
        </p:spPr>
      </p:sp>
      <p:sp>
        <p:nvSpPr>
          <p:cNvPr id="13" name="content-5-text-11"/>
          <p:cNvSpPr txBox="1"/>
          <p:nvPr/>
        </p:nvSpPr>
        <p:spPr>
          <a:xfrm>
            <a:off x="4892040" y="247802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14" name="content-5-text-12"/>
          <p:cNvSpPr txBox="1"/>
          <p:nvPr/>
        </p:nvSpPr>
        <p:spPr>
          <a:xfrm>
            <a:off x="5742432" y="242316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Create a draft, choose recipient</a:t>
            </a:r>
            <a:endParaRPr lang="en-US" sz="1400" dirty="0"/>
          </a:p>
        </p:txBody>
      </p:sp>
      <p:sp>
        <p:nvSpPr>
          <p:cNvPr id="15" name="content-5-rect-13"/>
          <p:cNvSpPr/>
          <p:nvPr/>
        </p:nvSpPr>
        <p:spPr>
          <a:xfrm>
            <a:off x="4892040" y="3026664"/>
            <a:ext cx="713232" cy="292608"/>
          </a:xfrm>
          <a:prstGeom prst="roundRect">
            <a:avLst>
              <a:gd name="adj" fmla="val 25000"/>
            </a:avLst>
          </a:prstGeom>
          <a:solidFill>
            <a:schemeClr val="accent1"/>
          </a:solidFill>
          <a:ln/>
        </p:spPr>
      </p:sp>
      <p:sp>
        <p:nvSpPr>
          <p:cNvPr id="16" name="content-5-text-14"/>
          <p:cNvSpPr txBox="1"/>
          <p:nvPr/>
        </p:nvSpPr>
        <p:spPr>
          <a:xfrm>
            <a:off x="4892040" y="302666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7" name="content-5-text-15"/>
          <p:cNvSpPr txBox="1"/>
          <p:nvPr/>
        </p:nvSpPr>
        <p:spPr>
          <a:xfrm>
            <a:off x="5742432" y="297180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Gates: KYC, allowlist, caps</a:t>
            </a:r>
            <a:endParaRPr lang="en-US" sz="1400" dirty="0"/>
          </a:p>
        </p:txBody>
      </p:sp>
      <p:sp>
        <p:nvSpPr>
          <p:cNvPr id="18" name="content-5-rect-16"/>
          <p:cNvSpPr/>
          <p:nvPr/>
        </p:nvSpPr>
        <p:spPr>
          <a:xfrm>
            <a:off x="4892040" y="3575304"/>
            <a:ext cx="713232" cy="292608"/>
          </a:xfrm>
          <a:prstGeom prst="roundRect">
            <a:avLst>
              <a:gd name="adj" fmla="val 25000"/>
            </a:avLst>
          </a:prstGeom>
          <a:solidFill>
            <a:schemeClr val="tx1"/>
          </a:solidFill>
          <a:ln/>
        </p:spPr>
      </p:sp>
      <p:sp>
        <p:nvSpPr>
          <p:cNvPr id="19" name="content-5-text-17"/>
          <p:cNvSpPr txBox="1"/>
          <p:nvPr/>
        </p:nvSpPr>
        <p:spPr>
          <a:xfrm>
            <a:off x="4892040" y="357530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20" name="content-5-text-18"/>
          <p:cNvSpPr txBox="1"/>
          <p:nvPr/>
        </p:nvSpPr>
        <p:spPr>
          <a:xfrm>
            <a:off x="5742432" y="352044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Approve with a fresh MFA code</a:t>
            </a:r>
            <a:endParaRPr lang="en-US" sz="1400" dirty="0"/>
          </a:p>
        </p:txBody>
      </p:sp>
      <p:sp>
        <p:nvSpPr>
          <p:cNvPr id="21" name="content-5-rect-19"/>
          <p:cNvSpPr/>
          <p:nvPr/>
        </p:nvSpPr>
        <p:spPr>
          <a:xfrm>
            <a:off x="4892040" y="4123944"/>
            <a:ext cx="713232" cy="292608"/>
          </a:xfrm>
          <a:prstGeom prst="roundRect">
            <a:avLst>
              <a:gd name="adj" fmla="val 25000"/>
            </a:avLst>
          </a:prstGeom>
          <a:solidFill>
            <a:schemeClr val="accent1"/>
          </a:solidFill>
          <a:ln/>
        </p:spPr>
      </p:sp>
      <p:sp>
        <p:nvSpPr>
          <p:cNvPr id="22" name="content-5-text-20"/>
          <p:cNvSpPr txBox="1"/>
          <p:nvPr/>
        </p:nvSpPr>
        <p:spPr>
          <a:xfrm>
            <a:off x="4892040" y="41239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23" name="content-5-text-21"/>
          <p:cNvSpPr txBox="1"/>
          <p:nvPr/>
        </p:nvSpPr>
        <p:spPr>
          <a:xfrm>
            <a:off x="5742432" y="40690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Tracks to SETTLED, seals a report</a:t>
            </a:r>
            <a:endParaRPr lang="en-US" sz="1400" dirty="0"/>
          </a:p>
        </p:txBody>
      </p:sp>
      <p:sp>
        <p:nvSpPr>
          <p:cNvPr id="24" name="content-5-text-22"/>
          <p:cNvSpPr txBox="1"/>
          <p:nvPr/>
        </p:nvSpPr>
        <p:spPr>
          <a:xfrm>
            <a:off x="4892040" y="4572000"/>
            <a:ext cx="3840480" cy="274320"/>
          </a:xfrm>
          <a:prstGeom prst="rect">
            <a:avLst/>
          </a:prstGeom>
          <a:noFill/>
          <a:ln/>
        </p:spPr>
        <p:txBody>
          <a:bodyPr wrap="square" lIns="0" tIns="0" rIns="0" bIns="0" rtlCol="0" anchor="t"/>
          <a:lstStyle/>
          <a:p>
            <a:pPr algn="l" indent="0" marL="0">
              <a:buNone/>
            </a:pPr>
            <a:r>
              <a:rPr lang="en-US" sz="1100" dirty="0">
                <a:solidFill>
                  <a:schemeClr val="tx2"/>
                </a:solidFill>
              </a:rPr>
              <a:t>AGENT: StudyRoute does it. YOU: a person decides.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engine does the maths</a:t>
            </a:r>
            <a:endParaRPr lang="en-US" sz="3600" dirty="0"/>
          </a:p>
        </p:txBody>
      </p:sp>
      <p:graphicFrame>
        <p:nvGraphicFramePr>
          <p:cNvPr id="7" name="content-6-table-1"/>
          <p:cNvGraphicFramePr>
            <a:graphicFrameLocks noGrp="1"/>
          </p:cNvGraphicFramePr>
          <p:nvPr>
            <p:extLst>
              <p:ext uri="{D42A27DB-BD31-4B8C-83A1-F6EECF244321}">
                <p14:modId xmlns:p14="http://schemas.microsoft.com/office/powerpoint/2010/main" val="1579011935"/>
              </p:ext>
            </p:extLst>
          </p:nvPr>
        </p:nvGraphicFramePr>
        <p:xfrm>
          <a:off x="457200" y="1280160"/>
          <a:ext cx="4846320" cy="914400"/>
        </p:xfrm>
        <a:graphic>
          <a:graphicData uri="http://schemas.openxmlformats.org/drawingml/2006/table">
            <a:tbl>
              <a:tblPr/>
              <a:tblGrid>
                <a:gridCol w="868680"/>
                <a:gridCol w="685800"/>
                <a:gridCol w="1005840"/>
                <a:gridCol w="777240"/>
                <a:gridCol w="1508760"/>
              </a:tblGrid>
              <a:tr h="457200">
                <a:tc>
                  <a:txBody>
                    <a:bodyPr/>
                    <a:lstStyle/>
                    <a:p>
                      <a:pPr algn="l" indent="0" marL="0">
                        <a:buNone/>
                      </a:pPr>
                      <a:r>
                        <a:rPr lang="en-US" sz="1400" b="1" dirty="0">
                          <a:solidFill>
                            <a:schemeClr val="bg1"/>
                          </a:solidFill>
                        </a:rPr>
                        <a:t>Provider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Charge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Shortfall</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Cost %</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You pay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57200">
                <a:tc>
                  <a:txBody>
                    <a:bodyPr/>
                    <a:lstStyle/>
                    <a:p>
                      <a:pPr algn="l" indent="0" marL="0">
                        <a:buNone/>
                      </a:pPr>
                      <a:r>
                        <a:rPr lang="en-US" sz="1400" b="1" dirty="0">
                          <a:solidFill>
                            <a:schemeClr val="tx1"/>
                          </a:solidFill>
                        </a:rPr>
                        <a:t>B (1st)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tx1"/>
                          </a:solidFill>
                        </a:rPr>
                        <a:t>1.58%</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BDT 1,625,300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57200">
                <a:tc>
                  <a:txBody>
                    <a:bodyPr/>
                    <a:lstStyle/>
                    <a:p>
                      <a:pPr algn="l" indent="0" marL="0">
                        <a:buNone/>
                      </a:pPr>
                      <a:r>
                        <a:rPr lang="en-US" sz="1400" b="1" dirty="0">
                          <a:solidFill>
                            <a:schemeClr val="tx1"/>
                          </a:solidFill>
                        </a:rPr>
                        <a:t>C (2nd)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SHA</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3"/>
                          </a:solidFill>
                        </a:rPr>
                        <a:t>GBP 35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1.63%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1,620,500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algn="l" indent="0" marL="0">
                        <a:buNone/>
                      </a:pPr>
                      <a:r>
                        <a:rPr lang="en-US" sz="1400" b="1" dirty="0">
                          <a:solidFill>
                            <a:schemeClr val="tx1"/>
                          </a:solidFill>
                        </a:rPr>
                        <a:t>A (3rd)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2.16%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1,634,500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6-text-2"/>
          <p:cNvSpPr txBox="1"/>
          <p:nvPr/>
        </p:nvSpPr>
        <p:spPr>
          <a:xfrm>
            <a:off x="457200" y="3291840"/>
            <a:ext cx="4846320" cy="731520"/>
          </a:xfrm>
          <a:prstGeom prst="rect">
            <a:avLst/>
          </a:prstGeom>
          <a:noFill/>
          <a:ln/>
        </p:spPr>
        <p:txBody>
          <a:bodyPr wrap="square" lIns="0" tIns="0" rIns="0" bIns="0" rtlCol="0" anchor="t"/>
          <a:lstStyle/>
          <a:p>
            <a:pPr algn="l" indent="0" marL="0">
              <a:buNone/>
            </a:pPr>
            <a:r>
              <a:rPr lang="en-US" sz="1200" dirty="0">
                <a:solidFill>
                  <a:schemeClr val="tx2"/>
                </a:solidFill>
              </a:rPr>
              <a:t>Cost % = (FX margin + fixed fee + SWIFT fee + fees you pay + shortfall) / amount at the mid-market rate</a:t>
            </a:r>
            <a:endParaRPr lang="en-US" sz="1200" dirty="0"/>
          </a:p>
        </p:txBody>
      </p:sp>
      <p:sp>
        <p:nvSpPr>
          <p:cNvPr id="5" name="content-6-text-3"/>
          <p:cNvSpPr txBox="1"/>
          <p:nvPr/>
        </p:nvSpPr>
        <p:spPr>
          <a:xfrm>
            <a:off x="457200" y="4069080"/>
            <a:ext cx="4846320" cy="594360"/>
          </a:xfrm>
          <a:prstGeom prst="rect">
            <a:avLst/>
          </a:prstGeom>
          <a:noFill/>
          <a:ln/>
        </p:spPr>
        <p:txBody>
          <a:bodyPr wrap="square" lIns="0" tIns="0" rIns="0" bIns="0" rtlCol="0" anchor="t"/>
          <a:lstStyle/>
          <a:p>
            <a:pPr algn="l" indent="0" marL="0">
              <a:buNone/>
            </a:pPr>
            <a:r>
              <a:rPr lang="en-US" sz="1200" b="1" dirty="0">
                <a:solidFill>
                  <a:schemeClr val="tx1"/>
                </a:solidFill>
              </a:rPr>
              <a:t>Smart send plan: the same GBP 12,000 costs BDT 68,400 sent monthly and BDT 28,500 sent at once. Also: the cheapest that arrives before the due date, and a currency-drop stress test. Synthetic rates.</a:t>
            </a:r>
            <a:endParaRPr lang="en-US" sz="1200" dirty="0"/>
          </a:p>
        </p:txBody>
      </p:sp>
      <p:sp>
        <p:nvSpPr>
          <p:cNvPr id="6" name="content-6-text-4"/>
          <p:cNvSpPr txBox="1"/>
          <p:nvPr/>
        </p:nvSpPr>
        <p:spPr>
          <a:xfrm>
            <a:off x="5577840" y="1234440"/>
            <a:ext cx="3108960" cy="457200"/>
          </a:xfrm>
          <a:prstGeom prst="rect">
            <a:avLst/>
          </a:prstGeom>
          <a:noFill/>
          <a:ln/>
        </p:spPr>
        <p:txBody>
          <a:bodyPr wrap="square" lIns="0" tIns="0" rIns="0" bIns="0" rtlCol="0" anchor="t"/>
          <a:lstStyle/>
          <a:p>
            <a:pPr algn="l" indent="0" marL="0">
              <a:buNone/>
            </a:pPr>
            <a:r>
              <a:rPr lang="en-US" sz="1400" b="1" dirty="0">
                <a:solidFill>
                  <a:schemeClr val="tx1"/>
                </a:solidFill>
              </a:rPr>
              <a:t>Where Provider B's BDT 25,300 goes</a:t>
            </a:r>
            <a:endParaRPr lang="en-US" sz="1400" dirty="0"/>
          </a:p>
        </p:txBody>
      </p:sp>
      <p:graphicFrame>
        <p:nvGraphicFramePr>
          <p:cNvPr id="7" name="Chart 0" descr=""/>
          <p:cNvGraphicFramePr/>
          <p:nvPr/>
        </p:nvGraphicFramePr>
        <p:xfrm>
          <a:off x="6035040" y="173736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8" name="content-6-text-6"/>
          <p:cNvSpPr txBox="1"/>
          <p:nvPr/>
        </p:nvSpPr>
        <p:spPr>
          <a:xfrm>
            <a:off x="6035040" y="2423160"/>
            <a:ext cx="1920240" cy="548640"/>
          </a:xfrm>
          <a:prstGeom prst="rect">
            <a:avLst/>
          </a:prstGeom>
          <a:noFill/>
          <a:ln/>
        </p:spPr>
        <p:txBody>
          <a:bodyPr wrap="square" lIns="0" tIns="0" rIns="0" bIns="0" rtlCol="0" anchor="ctr"/>
          <a:lstStyle/>
          <a:p>
            <a:pPr algn="ctr" indent="0" marL="0">
              <a:buNone/>
            </a:pPr>
            <a:r>
              <a:rPr lang="en-US" sz="1400" b="1" dirty="0">
                <a:solidFill>
                  <a:schemeClr val="tx1"/>
                </a:solidFill>
              </a:rPr>
              <a:t>BDT 25,300</a:t>
            </a:r>
            <a:endParaRPr lang="en-US" sz="1400" dirty="0"/>
          </a:p>
        </p:txBody>
      </p:sp>
      <p:sp>
        <p:nvSpPr>
          <p:cNvPr id="9" name="content-6-rect-7"/>
          <p:cNvSpPr/>
          <p:nvPr/>
        </p:nvSpPr>
        <p:spPr>
          <a:xfrm>
            <a:off x="5577840" y="3931920"/>
            <a:ext cx="146304" cy="146304"/>
          </a:xfrm>
          <a:prstGeom prst="rect">
            <a:avLst/>
          </a:prstGeom>
          <a:solidFill>
            <a:schemeClr val="accent1"/>
          </a:solidFill>
          <a:ln/>
        </p:spPr>
      </p:sp>
      <p:sp>
        <p:nvSpPr>
          <p:cNvPr id="10" name="content-6-text-8"/>
          <p:cNvSpPr txBox="1"/>
          <p:nvPr/>
        </p:nvSpPr>
        <p:spPr>
          <a:xfrm>
            <a:off x="57972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FX margin 63%</a:t>
            </a:r>
            <a:endParaRPr lang="en-US" sz="1200" dirty="0"/>
          </a:p>
        </p:txBody>
      </p:sp>
      <p:sp>
        <p:nvSpPr>
          <p:cNvPr id="11" name="content-6-rect-9"/>
          <p:cNvSpPr/>
          <p:nvPr/>
        </p:nvSpPr>
        <p:spPr>
          <a:xfrm>
            <a:off x="7178040" y="3931920"/>
            <a:ext cx="146304" cy="146304"/>
          </a:xfrm>
          <a:prstGeom prst="rect">
            <a:avLst/>
          </a:prstGeom>
          <a:solidFill>
            <a:schemeClr val="accent4"/>
          </a:solidFill>
          <a:ln/>
        </p:spPr>
      </p:sp>
      <p:sp>
        <p:nvSpPr>
          <p:cNvPr id="12" name="content-6-text-10"/>
          <p:cNvSpPr txBox="1"/>
          <p:nvPr/>
        </p:nvSpPr>
        <p:spPr>
          <a:xfrm>
            <a:off x="73974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Fixed fee 12%</a:t>
            </a:r>
            <a:endParaRPr lang="en-US" sz="1200" dirty="0"/>
          </a:p>
        </p:txBody>
      </p:sp>
      <p:sp>
        <p:nvSpPr>
          <p:cNvPr id="13" name="content-6-rect-11"/>
          <p:cNvSpPr/>
          <p:nvPr/>
        </p:nvSpPr>
        <p:spPr>
          <a:xfrm>
            <a:off x="5577840" y="4343400"/>
            <a:ext cx="146304" cy="146304"/>
          </a:xfrm>
          <a:prstGeom prst="rect">
            <a:avLst/>
          </a:prstGeom>
          <a:solidFill>
            <a:schemeClr val="accent2"/>
          </a:solidFill>
          <a:ln/>
        </p:spPr>
      </p:sp>
      <p:sp>
        <p:nvSpPr>
          <p:cNvPr id="14" name="content-6-text-12"/>
          <p:cNvSpPr txBox="1"/>
          <p:nvPr/>
        </p:nvSpPr>
        <p:spPr>
          <a:xfrm>
            <a:off x="57972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SWIFT fee 6%</a:t>
            </a:r>
            <a:endParaRPr lang="en-US" sz="1200" dirty="0"/>
          </a:p>
        </p:txBody>
      </p:sp>
      <p:sp>
        <p:nvSpPr>
          <p:cNvPr id="15" name="content-6-rect-13"/>
          <p:cNvSpPr/>
          <p:nvPr/>
        </p:nvSpPr>
        <p:spPr>
          <a:xfrm>
            <a:off x="7178040" y="4343400"/>
            <a:ext cx="146304" cy="146304"/>
          </a:xfrm>
          <a:prstGeom prst="rect">
            <a:avLst/>
          </a:prstGeom>
          <a:solidFill>
            <a:schemeClr val="accent3"/>
          </a:solidFill>
          <a:ln/>
        </p:spPr>
      </p:sp>
      <p:sp>
        <p:nvSpPr>
          <p:cNvPr id="16" name="content-6-text-14"/>
          <p:cNvSpPr txBox="1"/>
          <p:nvPr/>
        </p:nvSpPr>
        <p:spPr>
          <a:xfrm>
            <a:off x="73974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OUR fees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Proven, and not proven yet</a:t>
            </a:r>
            <a:endParaRPr lang="en-US" sz="3600" dirty="0"/>
          </a:p>
        </p:txBody>
      </p:sp>
      <p:sp>
        <p:nvSpPr>
          <p:cNvPr id="3" name="content-7-rect-1"/>
          <p:cNvSpPr/>
          <p:nvPr/>
        </p:nvSpPr>
        <p:spPr>
          <a:xfrm>
            <a:off x="457200" y="1234440"/>
            <a:ext cx="4023360" cy="3154680"/>
          </a:xfrm>
          <a:prstGeom prst="roundRect">
            <a:avLst>
              <a:gd name="adj" fmla="val 2319"/>
            </a:avLst>
          </a:prstGeom>
          <a:solidFill>
            <a:schemeClr val="bg2"/>
          </a:solidFill>
          <a:ln/>
        </p:spPr>
      </p:sp>
      <p:sp>
        <p:nvSpPr>
          <p:cNvPr id="4" name="content-7-rect-2"/>
          <p:cNvSpPr/>
          <p:nvPr/>
        </p:nvSpPr>
        <p:spPr>
          <a:xfrm>
            <a:off x="640080" y="1371600"/>
            <a:ext cx="109728" cy="365760"/>
          </a:xfrm>
          <a:prstGeom prst="rect">
            <a:avLst/>
          </a:prstGeom>
          <a:solidFill>
            <a:schemeClr val="accent1"/>
          </a:solidFill>
          <a:ln/>
        </p:spPr>
      </p:sp>
      <p:sp>
        <p:nvSpPr>
          <p:cNvPr id="5" name="content-7-text-3"/>
          <p:cNvSpPr txBox="1"/>
          <p:nvPr/>
        </p:nvSpPr>
        <p:spPr>
          <a:xfrm>
            <a:off x="841248" y="1325880"/>
            <a:ext cx="3474720" cy="457200"/>
          </a:xfrm>
          <a:prstGeom prst="rect">
            <a:avLst/>
          </a:prstGeom>
          <a:noFill/>
          <a:ln/>
        </p:spPr>
        <p:txBody>
          <a:bodyPr wrap="square" lIns="0" tIns="0" rIns="0" bIns="0" rtlCol="0" anchor="ctr"/>
          <a:lstStyle/>
          <a:p>
            <a:pPr algn="l" indent="0" marL="0">
              <a:buNone/>
            </a:pPr>
            <a:r>
              <a:rPr lang="en-US" sz="1800" b="1" dirty="0">
                <a:solidFill>
                  <a:schemeClr val="accent1"/>
                </a:solidFill>
              </a:rPr>
              <a:t>Proven by tests and logs</a:t>
            </a:r>
            <a:endParaRPr lang="en-US" sz="1800" dirty="0"/>
          </a:p>
        </p:txBody>
      </p:sp>
      <p:sp>
        <p:nvSpPr>
          <p:cNvPr id="6" name="content-7-text-4"/>
          <p:cNvSpPr txBox="1"/>
          <p:nvPr/>
        </p:nvSpPr>
        <p:spPr>
          <a:xfrm>
            <a:off x="640080" y="1920240"/>
            <a:ext cx="3657600" cy="2377440"/>
          </a:xfrm>
          <a:prstGeom prst="rect">
            <a:avLst/>
          </a:prstGeom>
          <a:noFill/>
          <a:ln/>
        </p:spPr>
        <p:txBody>
          <a:bodyPr wrap="square" lIns="0" tIns="0" rIns="0" bIns="0" rtlCol="0" anchor="t"/>
          <a:lstStyle/>
          <a:p>
            <a:pPr algn="l" marL="342900" indent="-342900">
              <a:spcAft>
                <a:spcPts val="600"/>
              </a:spcAft>
              <a:buSzPct val="100000"/>
              <a:buChar char="•"/>
            </a:pPr>
            <a:r>
              <a:rPr lang="en-US" sz="1200" dirty="0">
                <a:solidFill>
                  <a:schemeClr val="tx1"/>
                </a:solidFill>
              </a:rPr>
              <a:t>Every number comes from one engine, in integer money. 1223 backend tests cover all 24 scenarios.</a:t>
            </a:r>
            <a:endParaRPr lang="en-US" sz="1200" dirty="0"/>
          </a:p>
          <a:p>
            <a:pPr algn="l" marL="342900" indent="-342900">
              <a:spcAft>
                <a:spcPts val="600"/>
              </a:spcAft>
              <a:buSzPct val="100000"/>
              <a:buChar char="•"/>
            </a:pPr>
            <a:r>
              <a:rPr lang="en-US" sz="1200" dirty="0">
                <a:solidFill>
                  <a:schemeClr val="tx1"/>
                </a:solidFill>
              </a:rPr>
              <a:t>Only a human with a fresh MFA code can approve. The AI has no such permission, and a test enforces the table.</a:t>
            </a:r>
            <a:endParaRPr lang="en-US" sz="1200" dirty="0"/>
          </a:p>
          <a:p>
            <a:pPr algn="l" marL="342900" indent="-342900">
              <a:spcAft>
                <a:spcPts val="600"/>
              </a:spcAft>
              <a:buSzPct val="100000"/>
              <a:buChar char="•"/>
            </a:pPr>
            <a:r>
              <a:rPr lang="en-US" sz="1200" dirty="0">
                <a:solidFill>
                  <a:schemeClr val="tx1"/>
                </a:solidFill>
              </a:rPr>
              <a:t>Edit one audit row and Verify fails at that event. A rewritten chain is caught by the anchor.</a:t>
            </a:r>
            <a:endParaRPr lang="en-US" sz="1200" dirty="0"/>
          </a:p>
          <a:p>
            <a:pPr algn="l" marL="342900" indent="-342900">
              <a:spcAft>
                <a:spcPts val="600"/>
              </a:spcAft>
              <a:buSzPct val="100000"/>
              <a:buChar char="•"/>
            </a:pPr>
            <a:r>
              <a:rPr lang="en-US" sz="1200" dirty="0">
                <a:solidFill>
                  <a:schemeClr val="tx1"/>
                </a:solidFill>
              </a:rPr>
              <a:t>The whole stack starts from the zipped archive with docker compose, run for real on 15 and 17 October.</a:t>
            </a:r>
            <a:endParaRPr lang="en-US" sz="1200" dirty="0"/>
          </a:p>
        </p:txBody>
      </p:sp>
      <p:sp>
        <p:nvSpPr>
          <p:cNvPr id="7" name="content-7-rect-5"/>
          <p:cNvSpPr/>
          <p:nvPr/>
        </p:nvSpPr>
        <p:spPr>
          <a:xfrm>
            <a:off x="4663440" y="1234440"/>
            <a:ext cx="4023360" cy="3154680"/>
          </a:xfrm>
          <a:prstGeom prst="roundRect">
            <a:avLst>
              <a:gd name="adj" fmla="val 2319"/>
            </a:avLst>
          </a:prstGeom>
          <a:solidFill>
            <a:schemeClr val="bg2"/>
          </a:solidFill>
          <a:ln/>
        </p:spPr>
      </p:sp>
      <p:sp>
        <p:nvSpPr>
          <p:cNvPr id="8" name="content-7-rect-6"/>
          <p:cNvSpPr/>
          <p:nvPr/>
        </p:nvSpPr>
        <p:spPr>
          <a:xfrm>
            <a:off x="4846320" y="1371600"/>
            <a:ext cx="109728" cy="365760"/>
          </a:xfrm>
          <a:prstGeom prst="rect">
            <a:avLst/>
          </a:prstGeom>
          <a:solidFill>
            <a:schemeClr val="accent3"/>
          </a:solidFill>
          <a:ln/>
        </p:spPr>
      </p:sp>
      <p:sp>
        <p:nvSpPr>
          <p:cNvPr id="9" name="content-7-text-7"/>
          <p:cNvSpPr txBox="1"/>
          <p:nvPr/>
        </p:nvSpPr>
        <p:spPr>
          <a:xfrm>
            <a:off x="5047488" y="1325880"/>
            <a:ext cx="3474720" cy="457200"/>
          </a:xfrm>
          <a:prstGeom prst="rect">
            <a:avLst/>
          </a:prstGeom>
          <a:noFill/>
          <a:ln/>
        </p:spPr>
        <p:txBody>
          <a:bodyPr wrap="square" lIns="0" tIns="0" rIns="0" bIns="0" rtlCol="0" anchor="ctr"/>
          <a:lstStyle/>
          <a:p>
            <a:pPr algn="l" indent="0" marL="0">
              <a:buNone/>
            </a:pPr>
            <a:r>
              <a:rPr lang="en-US" sz="1800" b="1" dirty="0">
                <a:solidFill>
                  <a:schemeClr val="accent3"/>
                </a:solidFill>
              </a:rPr>
              <a:t>Not proven, and we say so</a:t>
            </a:r>
            <a:endParaRPr lang="en-US" sz="1800" dirty="0"/>
          </a:p>
        </p:txBody>
      </p:sp>
      <p:sp>
        <p:nvSpPr>
          <p:cNvPr id="10" name="content-7-text-8"/>
          <p:cNvSpPr txBox="1"/>
          <p:nvPr/>
        </p:nvSpPr>
        <p:spPr>
          <a:xfrm>
            <a:off x="4846320" y="1920240"/>
            <a:ext cx="3657600" cy="2377440"/>
          </a:xfrm>
          <a:prstGeom prst="rect">
            <a:avLst/>
          </a:prstGeom>
          <a:noFill/>
          <a:ln/>
        </p:spPr>
        <p:txBody>
          <a:bodyPr wrap="square" lIns="0" tIns="0" rIns="0" bIns="0" rtlCol="0" anchor="t"/>
          <a:lstStyle/>
          <a:p>
            <a:pPr algn="l" marL="342900" indent="-342900">
              <a:spcAft>
                <a:spcPts val="600"/>
              </a:spcAft>
              <a:buSzPct val="100000"/>
              <a:buChar char="•"/>
            </a:pPr>
            <a:r>
              <a:rPr lang="en-US" sz="1200" dirty="0">
                <a:solidFill>
                  <a:schemeClr val="tx1"/>
                </a:solidFill>
              </a:rPr>
              <a:t>Rates, fees and city costs are invented. We have not compared them with real quotes yet.</a:t>
            </a:r>
            <a:endParaRPr lang="en-US" sz="1200" dirty="0"/>
          </a:p>
          <a:p>
            <a:pPr algn="l" marL="342900" indent="-342900">
              <a:spcAft>
                <a:spcPts val="600"/>
              </a:spcAft>
              <a:buSzPct val="100000"/>
              <a:buChar char="•"/>
            </a:pPr>
            <a:r>
              <a:rPr lang="en-US" sz="1200" dirty="0">
                <a:solidFill>
                  <a:schemeClr val="tx1"/>
                </a:solidFill>
              </a:rPr>
              <a:t>No real parent has used it. The trained models saw synthetic data.</a:t>
            </a:r>
            <a:endParaRPr lang="en-US" sz="1200" dirty="0"/>
          </a:p>
          <a:p>
            <a:pPr algn="l" marL="342900" indent="-342900">
              <a:spcAft>
                <a:spcPts val="600"/>
              </a:spcAft>
              <a:buSzPct val="100000"/>
              <a:buChar char="•"/>
            </a:pPr>
            <a:r>
              <a:rPr lang="en-US" sz="1200" dirty="0">
                <a:solidFill>
                  <a:schemeClr val="tx1"/>
                </a:solidFill>
              </a:rPr>
              <a:t>No outside security review or penetration test.</a:t>
            </a:r>
            <a:endParaRPr lang="en-US" sz="1200" dirty="0"/>
          </a:p>
          <a:p>
            <a:pPr algn="l" marL="342900" indent="-342900">
              <a:spcAft>
                <a:spcPts val="600"/>
              </a:spcAft>
              <a:buSzPct val="100000"/>
              <a:buChar char="•"/>
            </a:pPr>
            <a:r>
              <a:rPr lang="en-US" sz="1200" dirty="0">
                <a:solidFill>
                  <a:schemeClr val="tx1"/>
                </a:solidFill>
              </a:rPr>
              <a:t>Bangladesh Bank limits are placeholders, marked Not verified.</a:t>
            </a:r>
            <a:endParaRPr lang="en-US" sz="1200" dirty="0"/>
          </a:p>
        </p:txBody>
      </p:sp>
      <p:sp>
        <p:nvSpPr>
          <p:cNvPr id="11" name="content-7-text-9"/>
          <p:cNvSpPr txBox="1"/>
          <p:nvPr/>
        </p:nvSpPr>
        <p:spPr>
          <a:xfrm>
            <a:off x="457200" y="4526280"/>
            <a:ext cx="8229600" cy="320040"/>
          </a:xfrm>
          <a:prstGeom prst="rect">
            <a:avLst/>
          </a:prstGeom>
          <a:noFill/>
          <a:ln/>
        </p:spPr>
        <p:txBody>
          <a:bodyPr wrap="square" lIns="0" tIns="0" rIns="0" bIns="0" rtlCol="0" anchor="t"/>
          <a:lstStyle/>
          <a:p>
            <a:pPr algn="l" indent="0" marL="0">
              <a:buNone/>
            </a:pPr>
            <a:r>
              <a:rPr lang="en-US" sz="1200" dirty="0">
                <a:solidFill>
                  <a:schemeClr val="tx2"/>
                </a:solidFill>
              </a:rPr>
              <a:t>Both lists are in the repository: docs/OPEN_QUESTIONS.md and docs/SECURITY_SELF_ASSESSMENT.md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An AI that cannot cheat</a:t>
            </a:r>
            <a:endParaRPr lang="en-US" sz="3600" dirty="0"/>
          </a:p>
        </p:txBody>
      </p:sp>
      <p:sp>
        <p:nvSpPr>
          <p:cNvPr id="3" name="content-8-rect-1"/>
          <p:cNvSpPr/>
          <p:nvPr/>
        </p:nvSpPr>
        <p:spPr>
          <a:xfrm>
            <a:off x="457200" y="1280160"/>
            <a:ext cx="1051560" cy="731520"/>
          </a:xfrm>
          <a:prstGeom prst="roundRect">
            <a:avLst>
              <a:gd name="adj" fmla="val 10000"/>
            </a:avLst>
          </a:prstGeom>
          <a:solidFill>
            <a:schemeClr val="tx1"/>
          </a:solidFill>
          <a:ln/>
        </p:spPr>
      </p:sp>
      <p:sp>
        <p:nvSpPr>
          <p:cNvPr id="4" name="content-8-text-2"/>
          <p:cNvSpPr txBox="1"/>
          <p:nvPr/>
        </p:nvSpPr>
        <p:spPr>
          <a:xfrm>
            <a:off x="5029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1  Policy check</a:t>
            </a:r>
            <a:endParaRPr lang="en-US" sz="1200" dirty="0"/>
          </a:p>
        </p:txBody>
      </p:sp>
      <p:sp>
        <p:nvSpPr>
          <p:cNvPr id="5" name="content-8-rect-3"/>
          <p:cNvSpPr/>
          <p:nvPr/>
        </p:nvSpPr>
        <p:spPr>
          <a:xfrm>
            <a:off x="1645920" y="1280160"/>
            <a:ext cx="1051560" cy="731520"/>
          </a:xfrm>
          <a:prstGeom prst="roundRect">
            <a:avLst>
              <a:gd name="adj" fmla="val 10000"/>
            </a:avLst>
          </a:prstGeom>
          <a:solidFill>
            <a:schemeClr val="tx1"/>
          </a:solidFill>
          <a:ln/>
        </p:spPr>
      </p:sp>
      <p:sp>
        <p:nvSpPr>
          <p:cNvPr id="6" name="content-8-text-4"/>
          <p:cNvSpPr txBox="1"/>
          <p:nvPr/>
        </p:nvSpPr>
        <p:spPr>
          <a:xfrm>
            <a:off x="16916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2  Engine facts</a:t>
            </a:r>
            <a:endParaRPr lang="en-US" sz="1200" dirty="0"/>
          </a:p>
        </p:txBody>
      </p:sp>
      <p:sp>
        <p:nvSpPr>
          <p:cNvPr id="7" name="content-8-rect-5"/>
          <p:cNvSpPr/>
          <p:nvPr/>
        </p:nvSpPr>
        <p:spPr>
          <a:xfrm>
            <a:off x="2834640" y="1280160"/>
            <a:ext cx="1051560" cy="731520"/>
          </a:xfrm>
          <a:prstGeom prst="roundRect">
            <a:avLst>
              <a:gd name="adj" fmla="val 10000"/>
            </a:avLst>
          </a:prstGeom>
          <a:solidFill>
            <a:schemeClr val="tx1"/>
          </a:solidFill>
          <a:ln/>
        </p:spPr>
      </p:sp>
      <p:sp>
        <p:nvSpPr>
          <p:cNvPr id="8" name="content-8-text-6"/>
          <p:cNvSpPr txBox="1"/>
          <p:nvPr/>
        </p:nvSpPr>
        <p:spPr>
          <a:xfrm>
            <a:off x="288036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3  Mask personal data</a:t>
            </a:r>
            <a:endParaRPr lang="en-US" sz="1200" dirty="0"/>
          </a:p>
        </p:txBody>
      </p:sp>
      <p:sp>
        <p:nvSpPr>
          <p:cNvPr id="9" name="content-8-rect-7"/>
          <p:cNvSpPr/>
          <p:nvPr/>
        </p:nvSpPr>
        <p:spPr>
          <a:xfrm>
            <a:off x="4023360" y="1280160"/>
            <a:ext cx="1051560" cy="731520"/>
          </a:xfrm>
          <a:prstGeom prst="roundRect">
            <a:avLst>
              <a:gd name="adj" fmla="val 10000"/>
            </a:avLst>
          </a:prstGeom>
          <a:solidFill>
            <a:schemeClr val="accent2"/>
          </a:solidFill>
          <a:ln/>
        </p:spPr>
      </p:sp>
      <p:sp>
        <p:nvSpPr>
          <p:cNvPr id="10" name="content-8-text-8"/>
          <p:cNvSpPr txBox="1"/>
          <p:nvPr/>
        </p:nvSpPr>
        <p:spPr>
          <a:xfrm>
            <a:off x="4069080" y="1280160"/>
            <a:ext cx="960120" cy="731520"/>
          </a:xfrm>
          <a:prstGeom prst="rect">
            <a:avLst/>
          </a:prstGeom>
          <a:noFill/>
          <a:ln/>
        </p:spPr>
        <p:txBody>
          <a:bodyPr wrap="square" lIns="0" tIns="0" rIns="0" bIns="0" rtlCol="0" anchor="ctr"/>
          <a:lstStyle/>
          <a:p>
            <a:pPr algn="ctr" indent="0" marL="0">
              <a:buNone/>
            </a:pPr>
            <a:r>
              <a:rPr lang="en-US" sz="1200" b="1" dirty="0">
                <a:solidFill>
                  <a:schemeClr val="tx1"/>
                </a:solidFill>
              </a:rPr>
              <a:t>4  Model (optional)</a:t>
            </a:r>
            <a:endParaRPr lang="en-US" sz="1200" dirty="0"/>
          </a:p>
        </p:txBody>
      </p:sp>
      <p:sp>
        <p:nvSpPr>
          <p:cNvPr id="11" name="content-8-rect-9"/>
          <p:cNvSpPr/>
          <p:nvPr/>
        </p:nvSpPr>
        <p:spPr>
          <a:xfrm>
            <a:off x="5212080" y="1280160"/>
            <a:ext cx="1051560" cy="731520"/>
          </a:xfrm>
          <a:prstGeom prst="roundRect">
            <a:avLst>
              <a:gd name="adj" fmla="val 10000"/>
            </a:avLst>
          </a:prstGeom>
          <a:solidFill>
            <a:schemeClr val="tx1"/>
          </a:solidFill>
          <a:ln/>
        </p:spPr>
      </p:sp>
      <p:sp>
        <p:nvSpPr>
          <p:cNvPr id="12" name="content-8-text-10"/>
          <p:cNvSpPr txBox="1"/>
          <p:nvPr/>
        </p:nvSpPr>
        <p:spPr>
          <a:xfrm>
            <a:off x="525780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5  Number guard</a:t>
            </a:r>
            <a:endParaRPr lang="en-US" sz="1200" dirty="0"/>
          </a:p>
        </p:txBody>
      </p:sp>
      <p:sp>
        <p:nvSpPr>
          <p:cNvPr id="13" name="content-8-rect-11"/>
          <p:cNvSpPr/>
          <p:nvPr/>
        </p:nvSpPr>
        <p:spPr>
          <a:xfrm>
            <a:off x="6400800" y="1280160"/>
            <a:ext cx="1051560" cy="731520"/>
          </a:xfrm>
          <a:prstGeom prst="roundRect">
            <a:avLst>
              <a:gd name="adj" fmla="val 10000"/>
            </a:avLst>
          </a:prstGeom>
          <a:solidFill>
            <a:schemeClr val="tx1"/>
          </a:solidFill>
          <a:ln/>
        </p:spPr>
      </p:sp>
      <p:sp>
        <p:nvSpPr>
          <p:cNvPr id="14" name="content-8-text-12"/>
          <p:cNvSpPr txBox="1"/>
          <p:nvPr/>
        </p:nvSpPr>
        <p:spPr>
          <a:xfrm>
            <a:off x="64465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6  Tool guard</a:t>
            </a:r>
            <a:endParaRPr lang="en-US" sz="1200" dirty="0"/>
          </a:p>
        </p:txBody>
      </p:sp>
      <p:sp>
        <p:nvSpPr>
          <p:cNvPr id="15" name="content-8-rect-13"/>
          <p:cNvSpPr/>
          <p:nvPr/>
        </p:nvSpPr>
        <p:spPr>
          <a:xfrm>
            <a:off x="7589520" y="1280160"/>
            <a:ext cx="1051560" cy="731520"/>
          </a:xfrm>
          <a:prstGeom prst="roundRect">
            <a:avLst>
              <a:gd name="adj" fmla="val 10000"/>
            </a:avLst>
          </a:prstGeom>
          <a:solidFill>
            <a:schemeClr val="tx1"/>
          </a:solidFill>
          <a:ln/>
        </p:spPr>
      </p:sp>
      <p:sp>
        <p:nvSpPr>
          <p:cNvPr id="16" name="content-8-text-14"/>
          <p:cNvSpPr txBox="1"/>
          <p:nvPr/>
        </p:nvSpPr>
        <p:spPr>
          <a:xfrm>
            <a:off x="76352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7  Audit</a:t>
            </a:r>
            <a:endParaRPr lang="en-US" sz="1200" dirty="0"/>
          </a:p>
        </p:txBody>
      </p:sp>
      <p:sp>
        <p:nvSpPr>
          <p:cNvPr id="17" name="content-8-text-15"/>
          <p:cNvSpPr txBox="1"/>
          <p:nvPr/>
        </p:nvSpPr>
        <p:spPr>
          <a:xfrm>
            <a:off x="457200" y="2084832"/>
            <a:ext cx="8229600" cy="292608"/>
          </a:xfrm>
          <a:prstGeom prst="rect">
            <a:avLst/>
          </a:prstGeom>
          <a:noFill/>
          <a:ln/>
        </p:spPr>
        <p:txBody>
          <a:bodyPr wrap="square" lIns="0" tIns="0" rIns="0" bIns="0" rtlCol="0" anchor="t"/>
          <a:lstStyle/>
          <a:p>
            <a:pPr algn="l" indent="0" marL="0">
              <a:buNone/>
            </a:pPr>
            <a:r>
              <a:rPr lang="en-US" sz="1200" dirty="0">
                <a:solidFill>
                  <a:schemeClr val="tx2"/>
                </a:solidFill>
              </a:rPr>
              <a:t>Only step 4 is not deterministic, and it is optional. A flagged message never reaches it.</a:t>
            </a:r>
            <a:endParaRPr lang="en-US" sz="1200" dirty="0"/>
          </a:p>
        </p:txBody>
      </p:sp>
      <p:sp>
        <p:nvSpPr>
          <p:cNvPr id="18" name="content-8-rect-16"/>
          <p:cNvSpPr/>
          <p:nvPr/>
        </p:nvSpPr>
        <p:spPr>
          <a:xfrm>
            <a:off x="457200" y="2514600"/>
            <a:ext cx="2651760" cy="2194560"/>
          </a:xfrm>
          <a:prstGeom prst="roundRect">
            <a:avLst>
              <a:gd name="adj" fmla="val 3333"/>
            </a:avLst>
          </a:prstGeom>
          <a:solidFill>
            <a:schemeClr val="bg2"/>
          </a:solidFill>
          <a:ln/>
        </p:spPr>
      </p:sp>
      <p:sp>
        <p:nvSpPr>
          <p:cNvPr id="19" name="content-8-text-17"/>
          <p:cNvSpPr txBox="1"/>
          <p:nvPr/>
        </p:nvSpPr>
        <p:spPr>
          <a:xfrm>
            <a:off x="64008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Every number comes from the engine</a:t>
            </a:r>
            <a:endParaRPr lang="en-US" sz="1600" dirty="0"/>
          </a:p>
        </p:txBody>
      </p:sp>
      <p:sp>
        <p:nvSpPr>
          <p:cNvPr id="20" name="content-8-text-18"/>
          <p:cNvSpPr txBox="1"/>
          <p:nvPr/>
        </p:nvSpPr>
        <p:spPr>
          <a:xfrm>
            <a:off x="64008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A number guard rejects any figure the engine did not produce, then a template answer takes over.</a:t>
            </a:r>
            <a:endParaRPr lang="en-US" sz="1400" dirty="0"/>
          </a:p>
        </p:txBody>
      </p:sp>
      <p:sp>
        <p:nvSpPr>
          <p:cNvPr id="21" name="content-8-rect-19"/>
          <p:cNvSpPr/>
          <p:nvPr/>
        </p:nvSpPr>
        <p:spPr>
          <a:xfrm>
            <a:off x="3246120" y="2514600"/>
            <a:ext cx="2651760" cy="2194560"/>
          </a:xfrm>
          <a:prstGeom prst="roundRect">
            <a:avLst>
              <a:gd name="adj" fmla="val 3333"/>
            </a:avLst>
          </a:prstGeom>
          <a:solidFill>
            <a:schemeClr val="bg2"/>
          </a:solidFill>
          <a:ln/>
        </p:spPr>
      </p:sp>
      <p:sp>
        <p:nvSpPr>
          <p:cNvPr id="22" name="content-8-text-20"/>
          <p:cNvSpPr txBox="1"/>
          <p:nvPr/>
        </p:nvSpPr>
        <p:spPr>
          <a:xfrm>
            <a:off x="342900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It can only propose</a:t>
            </a:r>
            <a:endParaRPr lang="en-US" sz="1600" dirty="0"/>
          </a:p>
        </p:txBody>
      </p:sp>
      <p:sp>
        <p:nvSpPr>
          <p:cNvPr id="23" name="content-8-text-21"/>
          <p:cNvSpPr txBox="1"/>
          <p:nvPr/>
        </p:nvSpPr>
        <p:spPr>
          <a:xfrm>
            <a:off x="342900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It may make a quote. It cannot create a payment, approve, submit or cancel. A human approves with MFA.</a:t>
            </a:r>
            <a:endParaRPr lang="en-US" sz="1400" dirty="0"/>
          </a:p>
        </p:txBody>
      </p:sp>
      <p:sp>
        <p:nvSpPr>
          <p:cNvPr id="24" name="content-8-rect-22"/>
          <p:cNvSpPr/>
          <p:nvPr/>
        </p:nvSpPr>
        <p:spPr>
          <a:xfrm>
            <a:off x="6035040" y="2514600"/>
            <a:ext cx="2651760" cy="2194560"/>
          </a:xfrm>
          <a:prstGeom prst="roundRect">
            <a:avLst>
              <a:gd name="adj" fmla="val 3333"/>
            </a:avLst>
          </a:prstGeom>
          <a:solidFill>
            <a:schemeClr val="bg2"/>
          </a:solidFill>
          <a:ln/>
        </p:spPr>
      </p:sp>
      <p:sp>
        <p:nvSpPr>
          <p:cNvPr id="25" name="content-8-text-23"/>
          <p:cNvSpPr txBox="1"/>
          <p:nvPr/>
        </p:nvSpPr>
        <p:spPr>
          <a:xfrm>
            <a:off x="621792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Works with no key</a:t>
            </a:r>
            <a:endParaRPr lang="en-US" sz="1600" dirty="0"/>
          </a:p>
        </p:txBody>
      </p:sp>
      <p:sp>
        <p:nvSpPr>
          <p:cNvPr id="26" name="content-8-text-24"/>
          <p:cNvSpPr txBox="1"/>
          <p:nvPr/>
        </p:nvSpPr>
        <p:spPr>
          <a:xfrm>
            <a:off x="621792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Template mode runs the same checks. A real model is one command away: check_ai.</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trained agent, measured</a:t>
            </a:r>
            <a:endParaRPr lang="en-US" sz="3600" dirty="0"/>
          </a:p>
        </p:txBody>
      </p:sp>
      <p:graphicFrame>
        <p:nvGraphicFramePr>
          <p:cNvPr id="10" name="content-9-table-1"/>
          <p:cNvGraphicFramePr>
            <a:graphicFrameLocks noGrp="1"/>
          </p:cNvGraphicFramePr>
          <p:nvPr>
            <p:extLst>
              <p:ext uri="{D42A27DB-BD31-4B8C-83A1-F6EECF244321}">
                <p14:modId xmlns:p14="http://schemas.microsoft.com/office/powerpoint/2010/main" val="1579011935"/>
              </p:ext>
            </p:extLst>
          </p:nvPr>
        </p:nvGraphicFramePr>
        <p:xfrm>
          <a:off x="457200" y="1280160"/>
          <a:ext cx="3931920" cy="914400"/>
        </p:xfrm>
        <a:graphic>
          <a:graphicData uri="http://schemas.openxmlformats.org/drawingml/2006/table">
            <a:tbl>
              <a:tblPr/>
              <a:tblGrid>
                <a:gridCol w="1920240"/>
                <a:gridCol w="1005840"/>
                <a:gridCol w="1005840"/>
              </a:tblGrid>
              <a:tr h="502920">
                <a:tc>
                  <a:txBody>
                    <a:bodyPr/>
                    <a:lstStyle/>
                    <a:p>
                      <a:pPr algn="l" indent="0" marL="0">
                        <a:buNone/>
                      </a:pPr>
                      <a:r>
                        <a:rPr lang="en-US" sz="1400" b="1" dirty="0">
                          <a:solidFill>
                            <a:schemeClr val="bg1"/>
                          </a:solidFill>
                        </a:rPr>
                        <a:t>On 113 new messages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Rules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Agent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502920">
                <a:tc>
                  <a:txBody>
                    <a:bodyPr/>
                    <a:lstStyle/>
                    <a:p>
                      <a:pPr algn="l" indent="0" marL="0">
                        <a:buNone/>
                      </a:pPr>
                      <a:r>
                        <a:rPr lang="en-US" sz="1400" dirty="0">
                          <a:solidFill>
                            <a:schemeClr val="tx1"/>
                          </a:solidFill>
                        </a:rPr>
                        <a:t>Right intent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61.1%</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88.5%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Plan read exactly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57.6%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1"/>
                          </a:solidFill>
                        </a:rPr>
                        <a:t>100%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502920">
                <a:tc>
                  <a:txBody>
                    <a:bodyPr/>
                    <a:lstStyle/>
                    <a:p>
                      <a:pPr algn="l" indent="0" marL="0">
                        <a:buNone/>
                      </a:pPr>
                      <a:r>
                        <a:rPr lang="en-US" sz="1400" dirty="0">
                          <a:solidFill>
                            <a:schemeClr val="tx1"/>
                          </a:solidFill>
                        </a:rPr>
                        <a:t>Attacks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28.6%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92.9%</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Harmless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9-text-2"/>
          <p:cNvSpPr txBox="1"/>
          <p:nvPr/>
        </p:nvSpPr>
        <p:spPr>
          <a:xfrm>
            <a:off x="457200" y="3931920"/>
            <a:ext cx="4023360" cy="822960"/>
          </a:xfrm>
          <a:prstGeom prst="rect">
            <a:avLst/>
          </a:prstGeom>
          <a:noFill/>
          <a:ln/>
        </p:spPr>
        <p:txBody>
          <a:bodyPr wrap="square" lIns="0" tIns="0" rIns="0" bIns="0" rtlCol="0" anchor="t"/>
          <a:lstStyle/>
          <a:p>
            <a:pPr algn="l" indent="0" marL="0">
              <a:buNone/>
            </a:pPr>
            <a:r>
              <a:rPr lang="en-US" sz="1200" dirty="0">
                <a:solidFill>
                  <a:schemeClr val="tx2"/>
                </a:solidFill>
              </a:rPr>
              <a:t>Written by hand after the model was frozen, scored once. A small sample: about plus or minus 7 points. Real bank questions: rules 40.1%, agent 95.1%.</a:t>
            </a:r>
            <a:endParaRPr lang="en-US" sz="1200" dirty="0"/>
          </a:p>
        </p:txBody>
      </p:sp>
      <p:sp>
        <p:nvSpPr>
          <p:cNvPr id="5" name="content-9-rect-3"/>
          <p:cNvSpPr/>
          <p:nvPr/>
        </p:nvSpPr>
        <p:spPr>
          <a:xfrm>
            <a:off x="4846320" y="1280160"/>
            <a:ext cx="3840480" cy="1051560"/>
          </a:xfrm>
          <a:prstGeom prst="roundRect">
            <a:avLst>
              <a:gd name="adj" fmla="val 6957"/>
            </a:avLst>
          </a:prstGeom>
          <a:solidFill>
            <a:schemeClr val="bg2"/>
          </a:solidFill>
          <a:ln/>
        </p:spPr>
      </p:sp>
      <p:sp>
        <p:nvSpPr>
          <p:cNvPr id="6" name="content-9-text-4"/>
          <p:cNvSpPr txBox="1"/>
          <p:nvPr/>
        </p:nvSpPr>
        <p:spPr>
          <a:xfrm>
            <a:off x="4983480" y="1316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What it does</a:t>
            </a:r>
            <a:endParaRPr lang="en-US" sz="1400" dirty="0"/>
          </a:p>
        </p:txBody>
      </p:sp>
      <p:sp>
        <p:nvSpPr>
          <p:cNvPr id="7" name="content-9-text-5"/>
          <p:cNvSpPr txBox="1"/>
          <p:nvPr/>
        </p:nvSpPr>
        <p:spPr>
          <a:xfrm>
            <a:off x="4983480" y="1609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Reads the intent and marks the words that carry an amount, a currency or a date. It proposes; plain code checks; the engine calculates. A GPU run of a few minutes on 35,588 messages; 34 MB, 6 ms on a CPU.</a:t>
            </a:r>
            <a:endParaRPr lang="en-US" sz="1100" dirty="0"/>
          </a:p>
        </p:txBody>
      </p:sp>
      <p:sp>
        <p:nvSpPr>
          <p:cNvPr id="8" name="content-9-rect-6"/>
          <p:cNvSpPr/>
          <p:nvPr/>
        </p:nvSpPr>
        <p:spPr>
          <a:xfrm>
            <a:off x="4846320" y="2423160"/>
            <a:ext cx="3840480" cy="1051560"/>
          </a:xfrm>
          <a:prstGeom prst="roundRect">
            <a:avLst>
              <a:gd name="adj" fmla="val 6957"/>
            </a:avLst>
          </a:prstGeom>
          <a:solidFill>
            <a:schemeClr val="bg2"/>
          </a:solidFill>
          <a:ln/>
        </p:spPr>
      </p:sp>
      <p:sp>
        <p:nvSpPr>
          <p:cNvPr id="9" name="content-9-text-7"/>
          <p:cNvSpPr txBox="1"/>
          <p:nvPr/>
        </p:nvSpPr>
        <p:spPr>
          <a:xfrm>
            <a:off x="4983480" y="2459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Reinforcement learning</a:t>
            </a:r>
            <a:endParaRPr lang="en-US" sz="1400" dirty="0"/>
          </a:p>
        </p:txBody>
      </p:sp>
      <p:sp>
        <p:nvSpPr>
          <p:cNvPr id="10" name="content-9-text-8"/>
          <p:cNvSpPr txBox="1"/>
          <p:nvPr/>
        </p:nvSpPr>
        <p:spPr>
          <a:xfrm>
            <a:off x="4983480" y="2752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A policy trained by Double DQN decides when to ask, read back or plan. On simulated parents: wrong plans 0.8% against 2.8%, 1.17 questions against 0.44. Code limits its legal moves.</a:t>
            </a:r>
            <a:endParaRPr lang="en-US" sz="1100" dirty="0"/>
          </a:p>
        </p:txBody>
      </p:sp>
      <p:sp>
        <p:nvSpPr>
          <p:cNvPr id="11" name="content-9-rect-9"/>
          <p:cNvSpPr/>
          <p:nvPr/>
        </p:nvSpPr>
        <p:spPr>
          <a:xfrm>
            <a:off x="4846320" y="3566160"/>
            <a:ext cx="3840480" cy="1051560"/>
          </a:xfrm>
          <a:prstGeom prst="roundRect">
            <a:avLst>
              <a:gd name="adj" fmla="val 6957"/>
            </a:avLst>
          </a:prstGeom>
          <a:solidFill>
            <a:schemeClr val="bg2"/>
          </a:solidFill>
          <a:ln/>
        </p:spPr>
      </p:sp>
      <p:sp>
        <p:nvSpPr>
          <p:cNvPr id="12" name="content-9-text-10"/>
          <p:cNvSpPr txBox="1"/>
          <p:nvPr/>
        </p:nvSpPr>
        <p:spPr>
          <a:xfrm>
            <a:off x="4983480" y="3602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Honest limits</a:t>
            </a:r>
            <a:endParaRPr lang="en-US" sz="1400" dirty="0"/>
          </a:p>
        </p:txBody>
      </p:sp>
      <p:sp>
        <p:nvSpPr>
          <p:cNvPr id="13" name="content-9-text-11"/>
          <p:cNvSpPr txBox="1"/>
          <p:nvPr/>
        </p:nvSpPr>
        <p:spPr>
          <a:xfrm>
            <a:off x="4983480" y="3895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Synthetic data, English, no real users yet. The simulated parents and rewards are our assumptions. About 1 attack in 14 still slips past; permissions and MFA remain the real defence.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you can verify</a:t>
            </a:r>
            <a:endParaRPr lang="en-US" sz="3600" dirty="0"/>
          </a:p>
        </p:txBody>
      </p:sp>
      <p:sp>
        <p:nvSpPr>
          <p:cNvPr id="3" name="content-10-rect-1"/>
          <p:cNvSpPr/>
          <p:nvPr/>
        </p:nvSpPr>
        <p:spPr>
          <a:xfrm>
            <a:off x="457200" y="1280160"/>
            <a:ext cx="4023360" cy="402336"/>
          </a:xfrm>
          <a:prstGeom prst="roundRect">
            <a:avLst>
              <a:gd name="adj" fmla="val 13636"/>
            </a:avLst>
          </a:prstGeom>
          <a:solidFill>
            <a:schemeClr val="bg2"/>
          </a:solidFill>
          <a:ln/>
        </p:spPr>
      </p:sp>
      <p:sp>
        <p:nvSpPr>
          <p:cNvPr id="4" name="content-10-text-2"/>
          <p:cNvSpPr txBox="1"/>
          <p:nvPr/>
        </p:nvSpPr>
        <p:spPr>
          <a:xfrm>
            <a:off x="594360" y="1280160"/>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Public:</a:t>
            </a:r>
            <a:pPr algn="l" indent="0" marL="0">
              <a:buNone/>
            </a:pPr>
            <a:r>
              <a:rPr lang="en-US" sz="1400" dirty="0">
                <a:solidFill>
                  <a:schemeClr val="tx1"/>
                </a:solidFill>
              </a:rPr>
              <a:t> sign in, health</a:t>
            </a:r>
            <a:endParaRPr lang="en-US" sz="1400" dirty="0"/>
          </a:p>
        </p:txBody>
      </p:sp>
      <p:sp>
        <p:nvSpPr>
          <p:cNvPr id="5" name="content-10-rect-3"/>
          <p:cNvSpPr/>
          <p:nvPr/>
        </p:nvSpPr>
        <p:spPr>
          <a:xfrm>
            <a:off x="457200" y="1755648"/>
            <a:ext cx="4023360" cy="402336"/>
          </a:xfrm>
          <a:prstGeom prst="roundRect">
            <a:avLst>
              <a:gd name="adj" fmla="val 13636"/>
            </a:avLst>
          </a:prstGeom>
          <a:solidFill>
            <a:schemeClr val="bg2"/>
          </a:solidFill>
          <a:ln/>
        </p:spPr>
      </p:sp>
      <p:sp>
        <p:nvSpPr>
          <p:cNvPr id="6" name="content-10-text-4"/>
          <p:cNvSpPr txBox="1"/>
          <p:nvPr/>
        </p:nvSpPr>
        <p:spPr>
          <a:xfrm>
            <a:off x="594360" y="1755648"/>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Read:</a:t>
            </a:r>
            <a:pPr algn="l" indent="0" marL="0">
              <a:buNone/>
            </a:pPr>
            <a:r>
              <a:rPr lang="en-US" sz="1400" dirty="0">
                <a:solidFill>
                  <a:schemeClr val="tx1"/>
                </a:solidFill>
              </a:rPr>
              <a:t> own household only</a:t>
            </a:r>
            <a:endParaRPr lang="en-US" sz="1400" dirty="0"/>
          </a:p>
        </p:txBody>
      </p:sp>
      <p:sp>
        <p:nvSpPr>
          <p:cNvPr id="7" name="content-10-rect-5"/>
          <p:cNvSpPr/>
          <p:nvPr/>
        </p:nvSpPr>
        <p:spPr>
          <a:xfrm>
            <a:off x="457200" y="2231136"/>
            <a:ext cx="4023360" cy="402336"/>
          </a:xfrm>
          <a:prstGeom prst="roundRect">
            <a:avLst>
              <a:gd name="adj" fmla="val 13636"/>
            </a:avLst>
          </a:prstGeom>
          <a:solidFill>
            <a:schemeClr val="bg2"/>
          </a:solidFill>
          <a:ln/>
        </p:spPr>
      </p:sp>
      <p:sp>
        <p:nvSpPr>
          <p:cNvPr id="8" name="content-10-text-6"/>
          <p:cNvSpPr txBox="1"/>
          <p:nvPr/>
        </p:nvSpPr>
        <p:spPr>
          <a:xfrm>
            <a:off x="594360" y="2231136"/>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Prepare:</a:t>
            </a:r>
            <a:pPr algn="l" indent="0" marL="0">
              <a:buNone/>
            </a:pPr>
            <a:r>
              <a:rPr lang="en-US" sz="1400" dirty="0">
                <a:solidFill>
                  <a:schemeClr val="tx1"/>
                </a:solidFill>
              </a:rPr>
              <a:t> drafts, recipients, documents</a:t>
            </a:r>
            <a:endParaRPr lang="en-US" sz="1400" dirty="0"/>
          </a:p>
        </p:txBody>
      </p:sp>
      <p:sp>
        <p:nvSpPr>
          <p:cNvPr id="9" name="content-10-rect-7"/>
          <p:cNvSpPr/>
          <p:nvPr/>
        </p:nvSpPr>
        <p:spPr>
          <a:xfrm>
            <a:off x="457200" y="2706624"/>
            <a:ext cx="4023360" cy="402336"/>
          </a:xfrm>
          <a:prstGeom prst="roundRect">
            <a:avLst>
              <a:gd name="adj" fmla="val 13636"/>
            </a:avLst>
          </a:prstGeom>
          <a:solidFill>
            <a:schemeClr val="accent1"/>
          </a:solidFill>
          <a:ln/>
        </p:spPr>
      </p:sp>
      <p:sp>
        <p:nvSpPr>
          <p:cNvPr id="10" name="content-10-text-8"/>
          <p:cNvSpPr txBox="1"/>
          <p:nvPr/>
        </p:nvSpPr>
        <p:spPr>
          <a:xfrm>
            <a:off x="594360" y="2706624"/>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Decide:</a:t>
            </a:r>
            <a:pPr algn="l" indent="0" marL="0">
              <a:buNone/>
            </a:pPr>
            <a:r>
              <a:rPr lang="en-US" sz="1400" dirty="0">
                <a:solidFill>
                  <a:schemeClr val="bg1"/>
                </a:solidFill>
              </a:rPr>
              <a:t> human parent with fresh MFA</a:t>
            </a:r>
            <a:endParaRPr lang="en-US" sz="1400" dirty="0"/>
          </a:p>
        </p:txBody>
      </p:sp>
      <p:sp>
        <p:nvSpPr>
          <p:cNvPr id="11" name="content-10-rect-9"/>
          <p:cNvSpPr/>
          <p:nvPr/>
        </p:nvSpPr>
        <p:spPr>
          <a:xfrm>
            <a:off x="457200" y="3182112"/>
            <a:ext cx="4023360" cy="402336"/>
          </a:xfrm>
          <a:prstGeom prst="roundRect">
            <a:avLst>
              <a:gd name="adj" fmla="val 13636"/>
            </a:avLst>
          </a:prstGeom>
          <a:solidFill>
            <a:schemeClr val="bg2"/>
          </a:solidFill>
          <a:ln/>
        </p:spPr>
      </p:sp>
      <p:sp>
        <p:nvSpPr>
          <p:cNvPr id="12" name="content-10-text-10"/>
          <p:cNvSpPr txBox="1"/>
          <p:nvPr/>
        </p:nvSpPr>
        <p:spPr>
          <a:xfrm>
            <a:off x="594360" y="3182112"/>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Administer:</a:t>
            </a:r>
            <a:pPr algn="l" indent="0" marL="0">
              <a:buNone/>
            </a:pPr>
            <a:r>
              <a:rPr lang="en-US" sz="1400" dirty="0">
                <a:solidFill>
                  <a:schemeClr val="tx1"/>
                </a:solidFill>
              </a:rPr>
              <a:t> reviewer rules and Verify</a:t>
            </a:r>
            <a:endParaRPr lang="en-US" sz="1400" dirty="0"/>
          </a:p>
        </p:txBody>
      </p:sp>
      <p:sp>
        <p:nvSpPr>
          <p:cNvPr id="13" name="content-10-rect-11"/>
          <p:cNvSpPr/>
          <p:nvPr/>
        </p:nvSpPr>
        <p:spPr>
          <a:xfrm>
            <a:off x="457200" y="3657600"/>
            <a:ext cx="4023360" cy="402336"/>
          </a:xfrm>
          <a:prstGeom prst="roundRect">
            <a:avLst>
              <a:gd name="adj" fmla="val 13636"/>
            </a:avLst>
          </a:prstGeom>
          <a:solidFill>
            <a:schemeClr val="accent3"/>
          </a:solidFill>
          <a:ln/>
        </p:spPr>
      </p:sp>
      <p:sp>
        <p:nvSpPr>
          <p:cNvPr id="14" name="content-10-text-12"/>
          <p:cNvSpPr txBox="1"/>
          <p:nvPr/>
        </p:nvSpPr>
        <p:spPr>
          <a:xfrm>
            <a:off x="594360" y="3657600"/>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Never for the AI:</a:t>
            </a:r>
            <a:pPr algn="l" indent="0" marL="0">
              <a:buNone/>
            </a:pPr>
            <a:r>
              <a:rPr lang="en-US" sz="1400" dirty="0">
                <a:solidFill>
                  <a:schemeClr val="bg1"/>
                </a:solidFill>
              </a:rPr>
              <a:t> approve, cancel, limits</a:t>
            </a:r>
            <a:endParaRPr lang="en-US" sz="1400" dirty="0"/>
          </a:p>
        </p:txBody>
      </p:sp>
      <p:sp>
        <p:nvSpPr>
          <p:cNvPr id="15" name="content-10-rect-13"/>
          <p:cNvSpPr/>
          <p:nvPr/>
        </p:nvSpPr>
        <p:spPr>
          <a:xfrm>
            <a:off x="4663440" y="1280160"/>
            <a:ext cx="1920240" cy="1188720"/>
          </a:xfrm>
          <a:prstGeom prst="roundRect">
            <a:avLst>
              <a:gd name="adj" fmla="val 6154"/>
            </a:avLst>
          </a:prstGeom>
          <a:solidFill>
            <a:schemeClr val="bg2"/>
          </a:solidFill>
          <a:ln/>
        </p:spPr>
      </p:sp>
      <p:sp>
        <p:nvSpPr>
          <p:cNvPr id="16" name="content-10-text-14"/>
          <p:cNvSpPr txBox="1"/>
          <p:nvPr/>
        </p:nvSpPr>
        <p:spPr>
          <a:xfrm>
            <a:off x="480060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1223</a:t>
            </a:r>
            <a:endParaRPr lang="en-US" sz="3200" dirty="0"/>
          </a:p>
        </p:txBody>
      </p:sp>
      <p:sp>
        <p:nvSpPr>
          <p:cNvPr id="17" name="content-10-text-15"/>
          <p:cNvSpPr txBox="1"/>
          <p:nvPr/>
        </p:nvSpPr>
        <p:spPr>
          <a:xfrm>
            <a:off x="480060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backend tests, all passing</a:t>
            </a:r>
            <a:endParaRPr lang="en-US" sz="1200" dirty="0"/>
          </a:p>
        </p:txBody>
      </p:sp>
      <p:sp>
        <p:nvSpPr>
          <p:cNvPr id="18" name="content-10-rect-16"/>
          <p:cNvSpPr/>
          <p:nvPr/>
        </p:nvSpPr>
        <p:spPr>
          <a:xfrm>
            <a:off x="6766560" y="1280160"/>
            <a:ext cx="1920240" cy="1188720"/>
          </a:xfrm>
          <a:prstGeom prst="roundRect">
            <a:avLst>
              <a:gd name="adj" fmla="val 6154"/>
            </a:avLst>
          </a:prstGeom>
          <a:solidFill>
            <a:schemeClr val="bg2"/>
          </a:solidFill>
          <a:ln/>
        </p:spPr>
      </p:sp>
      <p:sp>
        <p:nvSpPr>
          <p:cNvPr id="19" name="content-10-text-17"/>
          <p:cNvSpPr txBox="1"/>
          <p:nvPr/>
        </p:nvSpPr>
        <p:spPr>
          <a:xfrm>
            <a:off x="690372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406</a:t>
            </a:r>
            <a:endParaRPr lang="en-US" sz="3200" dirty="0"/>
          </a:p>
        </p:txBody>
      </p:sp>
      <p:sp>
        <p:nvSpPr>
          <p:cNvPr id="20" name="content-10-text-18"/>
          <p:cNvSpPr txBox="1"/>
          <p:nvPr/>
        </p:nvSpPr>
        <p:spPr>
          <a:xfrm>
            <a:off x="690372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frontend tests</a:t>
            </a:r>
            <a:endParaRPr lang="en-US" sz="1200" dirty="0"/>
          </a:p>
        </p:txBody>
      </p:sp>
      <p:sp>
        <p:nvSpPr>
          <p:cNvPr id="21" name="content-10-rect-19"/>
          <p:cNvSpPr/>
          <p:nvPr/>
        </p:nvSpPr>
        <p:spPr>
          <a:xfrm>
            <a:off x="4663440" y="2651760"/>
            <a:ext cx="1920240" cy="1188720"/>
          </a:xfrm>
          <a:prstGeom prst="roundRect">
            <a:avLst>
              <a:gd name="adj" fmla="val 6154"/>
            </a:avLst>
          </a:prstGeom>
          <a:solidFill>
            <a:schemeClr val="bg2"/>
          </a:solidFill>
          <a:ln/>
        </p:spPr>
      </p:sp>
      <p:sp>
        <p:nvSpPr>
          <p:cNvPr id="22" name="content-10-text-20"/>
          <p:cNvSpPr txBox="1"/>
          <p:nvPr/>
        </p:nvSpPr>
        <p:spPr>
          <a:xfrm>
            <a:off x="480060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24 of 24</a:t>
            </a:r>
            <a:endParaRPr lang="en-US" sz="3200" dirty="0"/>
          </a:p>
        </p:txBody>
      </p:sp>
      <p:sp>
        <p:nvSpPr>
          <p:cNvPr id="23" name="content-10-text-21"/>
          <p:cNvSpPr txBox="1"/>
          <p:nvPr/>
        </p:nvSpPr>
        <p:spPr>
          <a:xfrm>
            <a:off x="480060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blueprint scenarios mapped to tests</a:t>
            </a:r>
            <a:endParaRPr lang="en-US" sz="1200" dirty="0"/>
          </a:p>
        </p:txBody>
      </p:sp>
      <p:sp>
        <p:nvSpPr>
          <p:cNvPr id="24" name="content-10-rect-22"/>
          <p:cNvSpPr/>
          <p:nvPr/>
        </p:nvSpPr>
        <p:spPr>
          <a:xfrm>
            <a:off x="6766560" y="2651760"/>
            <a:ext cx="1920240" cy="1188720"/>
          </a:xfrm>
          <a:prstGeom prst="roundRect">
            <a:avLst>
              <a:gd name="adj" fmla="val 6154"/>
            </a:avLst>
          </a:prstGeom>
          <a:solidFill>
            <a:schemeClr val="bg2"/>
          </a:solidFill>
          <a:ln/>
        </p:spPr>
      </p:sp>
      <p:sp>
        <p:nvSpPr>
          <p:cNvPr id="25" name="content-10-text-23"/>
          <p:cNvSpPr txBox="1"/>
          <p:nvPr/>
        </p:nvSpPr>
        <p:spPr>
          <a:xfrm>
            <a:off x="690372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44</a:t>
            </a:r>
            <a:endParaRPr lang="en-US" sz="3200" dirty="0"/>
          </a:p>
        </p:txBody>
      </p:sp>
      <p:sp>
        <p:nvSpPr>
          <p:cNvPr id="26" name="content-10-text-24"/>
          <p:cNvSpPr txBox="1"/>
          <p:nvPr/>
        </p:nvSpPr>
        <p:spPr>
          <a:xfrm>
            <a:off x="690372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known risks listed openly</a:t>
            </a:r>
            <a:endParaRPr lang="en-US" sz="1200" dirty="0"/>
          </a:p>
        </p:txBody>
      </p:sp>
      <p:sp>
        <p:nvSpPr>
          <p:cNvPr id="27" name="content-10-text-25"/>
          <p:cNvSpPr txBox="1"/>
          <p:nvPr/>
        </p:nvSpPr>
        <p:spPr>
          <a:xfrm>
            <a:off x="4663440" y="4069080"/>
            <a:ext cx="4023360" cy="685800"/>
          </a:xfrm>
          <a:prstGeom prst="rect">
            <a:avLst/>
          </a:prstGeom>
          <a:noFill/>
          <a:ln/>
        </p:spPr>
        <p:txBody>
          <a:bodyPr wrap="square" lIns="0" tIns="0" rIns="0" bIns="0" rtlCol="0" anchor="t"/>
          <a:lstStyle/>
          <a:p>
            <a:pPr algn="l" indent="0" marL="0">
              <a:buNone/>
            </a:pPr>
            <a:r>
              <a:rPr lang="en-US" sz="1200" dirty="0">
                <a:solidFill>
                  <a:schemeClr val="tx2"/>
                </a:solidFill>
              </a:rPr>
              <a:t>Each payment has a compliance report with a hash your browser can check. Every threat has a test: docs/SECURITY.md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Honest by design</a:t>
            </a:r>
            <a:endParaRPr lang="en-US" sz="3600" dirty="0"/>
          </a:p>
        </p:txBody>
      </p:sp>
      <p:sp>
        <p:nvSpPr>
          <p:cNvPr id="3" name="content-11-text-1"/>
          <p:cNvSpPr txBox="1"/>
          <p:nvPr/>
        </p:nvSpPr>
        <p:spPr>
          <a:xfrm>
            <a:off x="457200" y="109728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Every simulated part is labelled. Every unverified rule carries a badge.</a:t>
            </a:r>
            <a:endParaRPr lang="en-US" sz="1600" dirty="0"/>
          </a:p>
        </p:txBody>
      </p:sp>
      <p:sp>
        <p:nvSpPr>
          <p:cNvPr id="4" name="content-11-rect-2"/>
          <p:cNvSpPr/>
          <p:nvPr/>
        </p:nvSpPr>
        <p:spPr>
          <a:xfrm>
            <a:off x="457200"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5" name="content-11-image-3" descr="Sandbox screen listing what is simulated">    </p:cNvPr>
          <p:cNvPicPr>
            <a:picLocks noChangeAspect="1"/>
          </p:cNvPicPr>
          <p:nvPr/>
        </p:nvPicPr>
        <p:blipFill>
          <a:blip r:embed="rId1"/>
          <a:stretch>
            <a:fillRect/>
          </a:stretch>
        </p:blipFill>
        <p:spPr>
          <a:xfrm>
            <a:off x="530352" y="1627632"/>
            <a:ext cx="3657600" cy="2852928"/>
          </a:xfrm>
          <a:prstGeom prst="rect">
            <a:avLst/>
          </a:prstGeom>
        </p:spPr>
      </p:pic>
      <p:sp>
        <p:nvSpPr>
          <p:cNvPr id="6" name="content-11-rect-4"/>
          <p:cNvSpPr/>
          <p:nvPr/>
        </p:nvSpPr>
        <p:spPr>
          <a:xfrm>
            <a:off x="4882896"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11-image-5" descr="Compliance report whose hash verifies in the browser">    </p:cNvPr>
          <p:cNvPicPr>
            <a:picLocks noChangeAspect="1"/>
          </p:cNvPicPr>
          <p:nvPr/>
        </p:nvPicPr>
        <p:blipFill>
          <a:blip r:embed="rId2"/>
          <a:stretch>
            <a:fillRect/>
          </a:stretch>
        </p:blipFill>
        <p:spPr>
          <a:xfrm>
            <a:off x="4956048" y="1627632"/>
            <a:ext cx="3657600" cy="2852928"/>
          </a:xfrm>
          <a:prstGeom prst="rect">
            <a:avLst/>
          </a:prstGeom>
        </p:spPr>
      </p:pic>
      <p:sp>
        <p:nvSpPr>
          <p:cNvPr id="8" name="content-11-text-6"/>
          <p:cNvSpPr txBox="1"/>
          <p:nvPr/>
        </p:nvSpPr>
        <p:spPr>
          <a:xfrm>
            <a:off x="457200"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Sandbox screen: what is simulated, how to test it</a:t>
            </a:r>
            <a:endParaRPr lang="en-US" sz="1100" dirty="0"/>
          </a:p>
        </p:txBody>
      </p:sp>
      <p:sp>
        <p:nvSpPr>
          <p:cNvPr id="9" name="content-11-text-7"/>
          <p:cNvSpPr txBox="1"/>
          <p:nvPr/>
        </p:nvSpPr>
        <p:spPr>
          <a:xfrm>
            <a:off x="4882896"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Compliance report: the hash verifies in the browser</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mj-lt" pitchFamily="34" charset="0"/>
                <a:ea typeface="+mj-lt" pitchFamily="34" charset="-122"/>
                <a:cs typeface="+mj-lt" pitchFamily="34" charset="-120"/>
              </a:rPr>
              <a:t>What comes next</a:t>
            </a:r>
            <a:endParaRPr lang="en-US" sz="3600" dirty="0"/>
          </a:p>
        </p:txBody>
      </p:sp>
      <p:sp>
        <p:nvSpPr>
          <p:cNvPr id="3" name="closing-12-rect-1"/>
          <p:cNvSpPr/>
          <p:nvPr/>
        </p:nvSpPr>
        <p:spPr>
          <a:xfrm>
            <a:off x="457200" y="1234440"/>
            <a:ext cx="4023360" cy="1143000"/>
          </a:xfrm>
          <a:prstGeom prst="roundRect">
            <a:avLst>
              <a:gd name="adj" fmla="val 6400"/>
            </a:avLst>
          </a:prstGeom>
          <a:solidFill>
            <a:schemeClr val="tx2"/>
          </a:solidFill>
          <a:ln/>
        </p:spPr>
      </p:sp>
      <p:sp>
        <p:nvSpPr>
          <p:cNvPr id="4" name="closing-12-text-2"/>
          <p:cNvSpPr txBox="1"/>
          <p:nvPr/>
        </p:nvSpPr>
        <p:spPr>
          <a:xfrm>
            <a:off x="64008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Verified rules</a:t>
            </a:r>
            <a:endParaRPr lang="en-US" sz="1800" dirty="0"/>
          </a:p>
        </p:txBody>
      </p:sp>
      <p:sp>
        <p:nvSpPr>
          <p:cNvPr id="5" name="closing-12-text-3"/>
          <p:cNvSpPr txBox="1"/>
          <p:nvPr/>
        </p:nvSpPr>
        <p:spPr>
          <a:xfrm>
            <a:off x="64008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Replace each placeholder rule with an official Bangladesh Bank source.</a:t>
            </a:r>
            <a:endParaRPr lang="en-US" sz="1400" dirty="0"/>
          </a:p>
        </p:txBody>
      </p:sp>
      <p:sp>
        <p:nvSpPr>
          <p:cNvPr id="6" name="closing-12-rect-4"/>
          <p:cNvSpPr/>
          <p:nvPr/>
        </p:nvSpPr>
        <p:spPr>
          <a:xfrm>
            <a:off x="4663440" y="1234440"/>
            <a:ext cx="4023360" cy="1143000"/>
          </a:xfrm>
          <a:prstGeom prst="roundRect">
            <a:avLst>
              <a:gd name="adj" fmla="val 6400"/>
            </a:avLst>
          </a:prstGeom>
          <a:solidFill>
            <a:schemeClr val="tx2"/>
          </a:solidFill>
          <a:ln/>
        </p:spPr>
      </p:sp>
      <p:sp>
        <p:nvSpPr>
          <p:cNvPr id="7" name="closing-12-text-5"/>
          <p:cNvSpPr txBox="1"/>
          <p:nvPr/>
        </p:nvSpPr>
        <p:spPr>
          <a:xfrm>
            <a:off x="484632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AD bank partner</a:t>
            </a:r>
            <a:endParaRPr lang="en-US" sz="1800" dirty="0"/>
          </a:p>
        </p:txBody>
      </p:sp>
      <p:sp>
        <p:nvSpPr>
          <p:cNvPr id="8" name="closing-12-text-6"/>
          <p:cNvSpPr txBox="1"/>
          <p:nvPr/>
        </p:nvSpPr>
        <p:spPr>
          <a:xfrm>
            <a:off x="484632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Real quotes, real KYC, and regulator-ready reports from the audit log.</a:t>
            </a:r>
            <a:endParaRPr lang="en-US" sz="1400" dirty="0"/>
          </a:p>
        </p:txBody>
      </p:sp>
      <p:sp>
        <p:nvSpPr>
          <p:cNvPr id="9" name="closing-12-rect-7"/>
          <p:cNvSpPr/>
          <p:nvPr/>
        </p:nvSpPr>
        <p:spPr>
          <a:xfrm>
            <a:off x="457200" y="2514600"/>
            <a:ext cx="4023360" cy="1143000"/>
          </a:xfrm>
          <a:prstGeom prst="roundRect">
            <a:avLst>
              <a:gd name="adj" fmla="val 6400"/>
            </a:avLst>
          </a:prstGeom>
          <a:solidFill>
            <a:schemeClr val="tx2"/>
          </a:solidFill>
          <a:ln/>
        </p:spPr>
      </p:sp>
      <p:sp>
        <p:nvSpPr>
          <p:cNvPr id="10" name="closing-12-text-8"/>
          <p:cNvSpPr txBox="1"/>
          <p:nvPr/>
        </p:nvSpPr>
        <p:spPr>
          <a:xfrm>
            <a:off x="64008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Credit building</a:t>
            </a:r>
            <a:endParaRPr lang="en-US" sz="1800" dirty="0"/>
          </a:p>
        </p:txBody>
      </p:sp>
      <p:sp>
        <p:nvSpPr>
          <p:cNvPr id="11" name="closing-12-text-9"/>
          <p:cNvSpPr txBox="1"/>
          <p:nvPr/>
        </p:nvSpPr>
        <p:spPr>
          <a:xfrm>
            <a:off x="64008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Topic C scope we have not built: help a student build a credit history abroad.</a:t>
            </a:r>
            <a:endParaRPr lang="en-US" sz="1400" dirty="0"/>
          </a:p>
        </p:txBody>
      </p:sp>
      <p:sp>
        <p:nvSpPr>
          <p:cNvPr id="12" name="closing-12-rect-10"/>
          <p:cNvSpPr/>
          <p:nvPr/>
        </p:nvSpPr>
        <p:spPr>
          <a:xfrm>
            <a:off x="4663440" y="2514600"/>
            <a:ext cx="4023360" cy="1143000"/>
          </a:xfrm>
          <a:prstGeom prst="roundRect">
            <a:avLst>
              <a:gd name="adj" fmla="val 6400"/>
            </a:avLst>
          </a:prstGeom>
          <a:solidFill>
            <a:schemeClr val="tx2"/>
          </a:solidFill>
          <a:ln/>
        </p:spPr>
      </p:sp>
      <p:sp>
        <p:nvSpPr>
          <p:cNvPr id="13" name="closing-12-text-11"/>
          <p:cNvSpPr txBox="1"/>
          <p:nvPr/>
        </p:nvSpPr>
        <p:spPr>
          <a:xfrm>
            <a:off x="484632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chain</a:t>
            </a:r>
            <a:endParaRPr lang="en-US" sz="1800" dirty="0"/>
          </a:p>
        </p:txBody>
      </p:sp>
      <p:sp>
        <p:nvSpPr>
          <p:cNvPr id="14" name="closing-12-text-12"/>
          <p:cNvSpPr txBox="1"/>
          <p:nvPr/>
        </p:nvSpPr>
        <p:spPr>
          <a:xfrm>
            <a:off x="484632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Escrow already runs in the sandbox. Next: a permissioned chain and a bank-issued token.</a:t>
            </a:r>
            <a:endParaRPr lang="en-US" sz="1400" dirty="0"/>
          </a:p>
        </p:txBody>
      </p:sp>
      <p:sp>
        <p:nvSpPr>
          <p:cNvPr id="15" name="closing-12-text-13"/>
          <p:cNvSpPr txBox="1"/>
          <p:nvPr/>
        </p:nvSpPr>
        <p:spPr>
          <a:xfrm>
            <a:off x="457200" y="3886200"/>
            <a:ext cx="8229600" cy="502920"/>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Clear, cheap and safe.</a:t>
            </a:r>
            <a:endParaRPr lang="en-US" sz="2400" dirty="0"/>
          </a:p>
        </p:txBody>
      </p:sp>
      <p:sp>
        <p:nvSpPr>
          <p:cNvPr id="16" name="closing-12-text-14"/>
          <p:cNvSpPr txBox="1"/>
          <p:nvPr/>
        </p:nvSpPr>
        <p:spPr>
          <a:xfrm>
            <a:off x="457200" y="4434840"/>
            <a:ext cx="8229600" cy="320040"/>
          </a:xfrm>
          <a:prstGeom prst="rect">
            <a:avLst/>
          </a:prstGeom>
          <a:noFill/>
          <a:ln/>
        </p:spPr>
        <p:txBody>
          <a:bodyPr wrap="square" lIns="0" tIns="0" rIns="0" bIns="0" rtlCol="0" anchor="t"/>
          <a:lstStyle/>
          <a:p>
            <a:pPr algn="l" indent="0" marL="0">
              <a:buNone/>
            </a:pPr>
            <a:r>
              <a:rPr lang="en-US" sz="1200" dirty="0">
                <a:solidFill>
                  <a:schemeClr val="accent5"/>
                </a:solidFill>
              </a:rPr>
              <a:t>TeamEkxin  ·  https://github.com/NoobCrow/StudyRoute  ·  Sandbox: no real money moves</a:t>
            </a:r>
            <a:endParaRPr lang="en-US" sz="1200" dirty="0"/>
          </a:p>
        </p:txBody>
      </p:sp>
    </p:spTree>
  </p:cSld>
  <p:clrMapOvr>
    <a:masterClrMapping/>
  </p:clrMapOvr>
</p:sld>
</file>

<file path=ppt/theme/theme1.xml><?xml version="1.0" encoding="utf-8"?>
<a:theme xmlns:a="http://schemas.openxmlformats.org/drawingml/2006/main"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StudyRo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StudyRoute: sandbox AI agent for tuition payments from Bangladesh</dc:title>
  <dc:subject>FinTechathon 2026, International Track, Topic C</dc:subject>
  <dc:creator>TeamEkxin</dc:creator>
  <cp:lastModifiedBy>TeamEkxin</cp:lastModifiedBy>
  <cp:revision>1</cp:revision>
  <dcterms:created xsi:type="dcterms:W3CDTF">2026-10-17T13:00:32Z</dcterms:created>
  <dcterms:modified xsi:type="dcterms:W3CDTF">2026-10-17T13:00:32Z</dcterms:modified>
</cp:coreProperties>
</file>