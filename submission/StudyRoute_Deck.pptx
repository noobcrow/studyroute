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1.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hNP6+auCwqnoOMdEZ6D02IYrrQ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FCBD0EA-42DF-4A38-8C5C-F2C40DA175B8}">
  <a:tblStyle styleId="{9FCBD0EA-42DF-4A38-8C5C-F2C40DA175B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7"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We are team TeamEkxin, and this is StudyRoute, our Topic C entry: a sandbox AI agent that helps a parent in Bangladesh pay tuition abroad. Everything is synthetic, no real money moves, and it runs live at studyroute dot bot-keep dot xyz. Our rule: the engine calculates, the AI explains, the human approves, every step is logged.</a:t>
            </a:r>
            <a:endParaRP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Parents compare banks by the fee they are shown. In our synthetic example, for ten thousand pounds with Provider B, 63 percent of the real cost is the hidden exchange-rate margin. Correspondent banks can deduct fees on the way, so the university may be paid short; the deadline spans two calendars; and the paperwork is unclear. Those five problems shape StudyRoute.</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real chain: taka to an authorised dealer bank, a SWIFT instruction, a correspondent bank that may take a fee, a receiving bank that may take another, and the university matching by reference. Each step fails in a typical way, shown in red. We simulate the chain with invented banks and a double-entry ledger; no real money moves.</a:t>
            </a:r>
            <a:endParaRPr/>
          </a:p>
        </p:txBody>
      </p:sp>
      <p:sp>
        <p:nvSpPr>
          <p:cNvPr id="62" name="Google Shape;6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task completion. The parent types one sentence; the agent makes the quote, ranks providers, plans the deadline, checks KYC, and builds this plan card from engine output. A person creates the draft and approves with a fresh MFA code. The agent blocks the payment until KYC, allowlist and caps pass, then tracks it to settled. It never creates a payment itself.</a:t>
            </a:r>
            <a:endParaRPr/>
          </a:p>
        </p:txBody>
      </p:sp>
      <p:sp>
        <p:nvSpPr>
          <p:cNvPr id="95" name="Google Shape;9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public site, studyroute dot bot-keep dot xyz, opened on the 19th: ten thousand pounds of UK tuition. The ranking is the one our test T01 asserts: Provider B at 1.58 percent, Provider C at 1.63 with a warning that the university would be 35 pounds short, Provider A at 2.16. The engine calculates; the screen only shows it.</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number comes from a deterministic engine: integer money, no floats. In our synthetic example Provider B is first at 1.58 percent. Provider C looks cheap but is quoted as SHA, so the university would receive 35 pounds less. Provider A is third at 2.16. The same engine drives the send plan and the currency stress test.</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 the live site the parent types one sentence. The trained reader only proposes; plain code turns the words into values; and the assistant must read them back before it plans. Only after a yes does it plan. Beside it, the deadline planner works backwards: send by 22 October. The assistant cannot approve; only the parent can, with a fresh MFA code.</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Everything a parent can do is here. Compare providers by true cost, plan the date across two calendars, choose how often to send, and test a falling taka. Prepare documents and recipients, then approve with one MFA code that only the parent can give. Track it to settled with a sealed compliance report, or lock tuition in smart escrow. The assistant helps; it never approves.</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Smart escrow, on a schedule. The parent plans tranches, say three monthly living-cost payments, and locks them with one MFA code; the contract pays each on its date. The bank's reviewer can freeze it with a reason, and then nothing moves, even for the parent. The AI has no access. It is simulated: an in-memory chain inside our backend, no network, no real tokens, and only amounts, dates and hashes go on chain, never a name or account number.</a:t>
            </a:r>
            <a:endParaRPr/>
          </a:p>
        </p:txBody>
      </p:sp>
      <p:sp>
        <p:nvSpPr>
          <p:cNvPr id="246" name="Google Shape;24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student gets a guide, not a payment button. Set a monthly budget in taka and twenty cities show rent, a month in local money and in taka, and whether it fits, rounded up so never too low. An arrival checklist covers before flying, the first week and the first month. The student can look and ask the assistant, but only the parent approves. City costs are invented and marked Not verified.</a:t>
            </a:r>
            <a:endParaRPr/>
          </a:p>
        </p:txBody>
      </p:sp>
      <p:sp>
        <p:nvSpPr>
          <p:cNvPr id="273" name="Google Shape;2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assistant follows a fixed pipeline: policy check, engine facts, masking of personal data, an optional model, a number guard, a tool guard and the audit log. Any figure the model invents is rejected, then a template answers. So the AI can only propose: it cannot approve, submit or cancel, and it works with no API key.</a:t>
            </a:r>
            <a:endParaRPr/>
          </a:p>
        </p:txBody>
      </p:sp>
      <p:sp>
        <p:nvSpPr>
          <p:cNvPr id="299" name="Google Shape;29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assistant has a trained part, and we measured it, but the envelope matters more than the benchmark. A small model reads the intent and marks amounts, currencies and dates. A reinforcement-learning policy decides when to ask, read back or plan. A third rewords the engine's answer, every rewrite checked in code; a fourth scores each payment for a person to review.</a:t>
            </a:r>
            <a:endParaRPr/>
          </a:p>
        </p:txBody>
      </p:sp>
      <p:sp>
        <p:nvSpPr>
          <p:cNvPr id="330" name="Google Shape;33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numbers as a graph. Left: the trained reader against our old rules on 113 messages written after it was frozen. Top right: the risk router's top one percent holds 63.2% of flagged payments; random order finds 1.2%. Bottom right: the dialogue policy cut wrong plans from 2.8% to 0.8% on simulated parents. Small samples, and as a plain yes or no the router is modest.</a:t>
            </a:r>
            <a:endParaRPr/>
          </a:p>
        </p:txBody>
      </p:sp>
      <p:sp>
        <p:nvSpPr>
          <p:cNvPr id="348" name="Google Shape;34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payment gets an AI risk score out of 100 from four factors: amount, frequency, timeline and person. Low means no warning and nobody waits. Medium or high shows a warning and sends the payment to a person at the bank, who answers yes, ask for more, or no, with MFA. The score never approves; the parent still authorizes.</a:t>
            </a:r>
            <a:endParaRPr/>
          </a:p>
        </p:txBody>
      </p:sp>
      <p:sp>
        <p:nvSpPr>
          <p:cNvPr id="393" name="Google Shape;39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we have shown: one engine for every number, a human-only approval, an audit log that fails Verify when one row is edited, a Docker run, and attack probes defended. What we have not shown: rates and costs are invented, no real parent has used it, there was no outside penetration test, and most Bangladesh Bank figures are placeholders. Both lists are in the repository.</a:t>
            </a:r>
            <a:endParaRPr/>
          </a:p>
        </p:txBody>
      </p:sp>
      <p:sp>
        <p:nvSpPr>
          <p:cNvPr id="422" name="Google Shape;4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7" name="Google Shape;437;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Everything we ran: 1,705 backend tests, one skipped on Windows, including 25 assistant prompts that all give the expected tool and safety outcome; 463 web tests; 24 browser tests; all 24 scenarios pass; 314 security probe records. On the right is GitHub's own page for our latest commit: all six CI jobs green. These are our own tests, and no outside party has tested it yet.</a:t>
            </a:r>
            <a:endParaRPr/>
          </a:p>
        </p:txBody>
      </p:sp>
      <p:sp>
        <p:nvSpPr>
          <p:cNvPr id="438" name="Google Shape;438;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and compliance is thirty percent of the score, so we made it checkable. Permission tiers are enforced in the domain layer, not just the screens. Only a human parent with a fresh MFA proof, bound to that payment, can approve; the AI has no approve, cancel or limit permission. On the right, the live audit log says PASS, and one edited row makes it fail.</a:t>
            </a:r>
            <a:endParaRPr/>
          </a:p>
        </p:txBody>
      </p:sp>
      <p:sp>
        <p:nvSpPr>
          <p:cNvPr id="466" name="Google Shape;46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attacked our own application with six tools: access control, browser and XSS, planted secrets, hostile prompts, man-in-the-middle and replay, and login guessing. 314 records, all pass or informational. The man-in-the-middle test is the honest one: altered approvals, swapped MFA proofs, a stolen token and replayed webhooks were refused. But on plain HTTP a listener reads the password and token, and a stolen token can cancel a draft. We do not call that safe.</a:t>
            </a:r>
            <a:endParaRPr/>
          </a:p>
        </p:txBody>
      </p:sp>
      <p:sp>
        <p:nvSpPr>
          <p:cNvPr id="492" name="Google Shape;49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list our security problems because hiding them would cost more. On plain HTTP a listener reads the password and token; the public site uses HTTPS with HSTS, but nobody else has tested that. A stolen token can read payments and cancel a draft, not approve. We fixed account guessing and a telemetry leak. Old document rows stay readable, development tools carry advisories, and no outside penetration test has been done.</a:t>
            </a:r>
            <a:endParaRPr/>
          </a:p>
        </p:txBody>
      </p:sp>
      <p:sp>
        <p:nvSpPr>
          <p:cNvPr id="526" name="Google Shape;526;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3" name="Google Shape;53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Bangladesh Bank data show 881.7 million dollars sent through banks for overseas education last year, a record, up 32 percent. If a comparison took one percentage point off that volume, families would keep about 8.8 million dollars: our arithmetic, not a forecast. We have no partner, pilot or real users yet; these are numbers to test.</a:t>
            </a:r>
            <a:endParaRPr/>
          </a:p>
        </p:txBody>
      </p:sp>
      <p:sp>
        <p:nvSpPr>
          <p:cNvPr id="534" name="Google Shape;53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Next: replace placeholder rules with official Bangladesh Bank sources, partner with an authorised dealer bank for real quotes and KYC, and move the escrow from our simulated chain to a permissioned one. Credit building is in the brief and not built, and multi-currency exists only as simulated accounts; we would rather say so. To close: the engine calculates, the AI explains, the human approves, and every step is logged. Thank you.</a:t>
            </a:r>
            <a:endParaRPr/>
          </a:p>
        </p:txBody>
      </p:sp>
      <p:sp>
        <p:nvSpPr>
          <p:cNvPr id="558" name="Google Shape;558;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solidFill>
          <a:srgbClr val="0B2545"/>
        </a:solidFill>
      </p:bgPr>
    </p:bg>
    <p:spTree>
      <p:nvGrpSpPr>
        <p:cNvPr id="10" name="Shape 10"/>
        <p:cNvGrpSpPr/>
        <p:nvPr/>
      </p:nvGrpSpPr>
      <p:grpSpPr>
        <a:xfrm>
          <a:off x="0" y="0"/>
          <a:ext cx="0" cy="0"/>
          <a:chOff x="0" y="0"/>
          <a:chExt cx="0" cy="0"/>
        </a:xfrm>
      </p:grpSpPr>
      <p:sp>
        <p:nvSpPr>
          <p:cNvPr id="11" name="Google Shape;11;p23"/>
          <p:cNvSpPr txBox="1"/>
          <p:nvPr>
            <p:ph type="title"/>
          </p:nvPr>
        </p:nvSpPr>
        <p:spPr>
          <a:xfrm>
            <a:off x="548640" y="960120"/>
            <a:ext cx="5303520" cy="10515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6000"/>
              <a:buFont typeface="Cambria"/>
              <a:buNone/>
              <a:defRPr b="1" i="0" sz="60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FFFFF"/>
        </a:solidFill>
      </p:bgPr>
    </p:bg>
    <p:spTree>
      <p:nvGrpSpPr>
        <p:cNvPr id="12" name="Shape 12"/>
        <p:cNvGrpSpPr/>
        <p:nvPr/>
      </p:nvGrpSpPr>
      <p:grpSpPr>
        <a:xfrm>
          <a:off x="0" y="0"/>
          <a:ext cx="0" cy="0"/>
          <a:chOff x="0" y="0"/>
          <a:chExt cx="0" cy="0"/>
        </a:xfrm>
      </p:grpSpPr>
      <p:sp>
        <p:nvSpPr>
          <p:cNvPr id="13" name="Google Shape;13;p24"/>
          <p:cNvSpPr txBox="1"/>
          <p:nvPr>
            <p:ph type="title"/>
          </p:nvPr>
        </p:nvSpPr>
        <p:spPr>
          <a:xfrm>
            <a:off x="457200" y="274320"/>
            <a:ext cx="8229600" cy="77724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3600"/>
              <a:buFont typeface="Cambria"/>
              <a:buNone/>
              <a:defRPr b="1" i="0" sz="3600" u="none" cap="none" strike="noStrike">
                <a:solidFill>
                  <a:schemeClr val="dk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OSING">
  <p:cSld name="CLOSING">
    <p:bg>
      <p:bgPr>
        <a:solidFill>
          <a:srgbClr val="0B2545"/>
        </a:solidFill>
      </p:bgPr>
    </p:bg>
    <p:spTree>
      <p:nvGrpSpPr>
        <p:cNvPr id="14" name="Shape 14"/>
        <p:cNvGrpSpPr/>
        <p:nvPr/>
      </p:nvGrpSpPr>
      <p:grpSpPr>
        <a:xfrm>
          <a:off x="0" y="0"/>
          <a:ext cx="0" cy="0"/>
          <a:chOff x="0" y="0"/>
          <a:chExt cx="0" cy="0"/>
        </a:xfrm>
      </p:grpSpPr>
      <p:sp>
        <p:nvSpPr>
          <p:cNvPr id="15" name="Google Shape;15;p25"/>
          <p:cNvSpPr txBox="1"/>
          <p:nvPr>
            <p:ph type="title"/>
          </p:nvPr>
        </p:nvSpPr>
        <p:spPr>
          <a:xfrm>
            <a:off x="457200" y="274320"/>
            <a:ext cx="8229600" cy="77724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3600"/>
              <a:buFont typeface="Cambria"/>
              <a:buNone/>
              <a:defRPr b="1" i="0" sz="36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6" name="Shape 1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1"/>
          <p:cNvSpPr txBox="1"/>
          <p:nvPr>
            <p:ph type="title"/>
          </p:nvPr>
        </p:nvSpPr>
        <p:spPr>
          <a:xfrm>
            <a:off x="548640" y="960120"/>
            <a:ext cx="5303520" cy="105156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6000"/>
              <a:buFont typeface="Cambria"/>
              <a:buNone/>
            </a:pPr>
            <a:r>
              <a:rPr b="1" lang="en-US" sz="6000">
                <a:solidFill>
                  <a:schemeClr val="lt1"/>
                </a:solidFill>
                <a:latin typeface="Cambria"/>
                <a:ea typeface="Cambria"/>
                <a:cs typeface="Cambria"/>
                <a:sym typeface="Cambria"/>
              </a:rPr>
              <a:t>StudyRoute</a:t>
            </a:r>
            <a:endParaRPr sz="6000"/>
          </a:p>
        </p:txBody>
      </p:sp>
      <p:sp>
        <p:nvSpPr>
          <p:cNvPr id="23" name="Google Shape;23;p1"/>
          <p:cNvSpPr txBox="1"/>
          <p:nvPr/>
        </p:nvSpPr>
        <p:spPr>
          <a:xfrm>
            <a:off x="548640" y="502920"/>
            <a:ext cx="5486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200"/>
              <a:buFont typeface="Calibri"/>
              <a:buNone/>
            </a:pPr>
            <a:r>
              <a:rPr b="1" i="0" lang="en-US" sz="1200" u="none" cap="none" strike="noStrike">
                <a:solidFill>
                  <a:schemeClr val="accent2"/>
                </a:solidFill>
                <a:latin typeface="Calibri"/>
                <a:ea typeface="Calibri"/>
                <a:cs typeface="Calibri"/>
                <a:sym typeface="Calibri"/>
              </a:rPr>
              <a:t>TOPIC C  ·  CROSS-BORDER AND STUDENT FINANCE ASSISTANT</a:t>
            </a:r>
            <a:endParaRPr b="0" i="0" sz="1200" u="none" cap="none" strike="noStrike">
              <a:solidFill>
                <a:schemeClr val="dk1"/>
              </a:solidFill>
              <a:latin typeface="Calibri"/>
              <a:ea typeface="Calibri"/>
              <a:cs typeface="Calibri"/>
              <a:sym typeface="Calibri"/>
            </a:endParaRPr>
          </a:p>
        </p:txBody>
      </p:sp>
      <p:sp>
        <p:nvSpPr>
          <p:cNvPr id="24" name="Google Shape;24;p1"/>
          <p:cNvSpPr txBox="1"/>
          <p:nvPr/>
        </p:nvSpPr>
        <p:spPr>
          <a:xfrm>
            <a:off x="548640" y="2148840"/>
            <a:ext cx="521208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2000"/>
              <a:buFont typeface="Calibri"/>
              <a:buNone/>
            </a:pPr>
            <a:r>
              <a:rPr b="0" i="0" lang="en-US" sz="2000" u="none" cap="none" strike="noStrike">
                <a:solidFill>
                  <a:schemeClr val="lt2"/>
                </a:solidFill>
                <a:latin typeface="Calibri"/>
                <a:ea typeface="Calibri"/>
                <a:cs typeface="Calibri"/>
                <a:sym typeface="Calibri"/>
              </a:rPr>
              <a:t>An AI agent that helps a parent in Bangladesh pay tuition abroad: clear costs, safe approval, full audit.</a:t>
            </a:r>
            <a:endParaRPr b="0" i="0" sz="2000" u="none" cap="none" strike="noStrike">
              <a:solidFill>
                <a:schemeClr val="dk1"/>
              </a:solidFill>
              <a:latin typeface="Calibri"/>
              <a:ea typeface="Calibri"/>
              <a:cs typeface="Calibri"/>
              <a:sym typeface="Calibri"/>
            </a:endParaRPr>
          </a:p>
        </p:txBody>
      </p:sp>
      <p:sp>
        <p:nvSpPr>
          <p:cNvPr id="25" name="Google Shape;25;p1"/>
          <p:cNvSpPr txBox="1"/>
          <p:nvPr/>
        </p:nvSpPr>
        <p:spPr>
          <a:xfrm>
            <a:off x="548640" y="3520440"/>
            <a:ext cx="521208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600"/>
              <a:buFont typeface="Calibri"/>
              <a:buNone/>
            </a:pPr>
            <a:r>
              <a:rPr b="0" i="1" lang="en-US" sz="1600" u="none" cap="none" strike="noStrike">
                <a:solidFill>
                  <a:schemeClr val="accent2"/>
                </a:solidFill>
                <a:latin typeface="Calibri"/>
                <a:ea typeface="Calibri"/>
                <a:cs typeface="Calibri"/>
                <a:sym typeface="Calibri"/>
              </a:rPr>
              <a:t>The engine calculates. The AI explains. The human approves. Every step is logged.</a:t>
            </a:r>
            <a:endParaRPr b="0" i="0" sz="1600" u="none" cap="none" strike="noStrike">
              <a:solidFill>
                <a:schemeClr val="dk1"/>
              </a:solidFill>
              <a:latin typeface="Calibri"/>
              <a:ea typeface="Calibri"/>
              <a:cs typeface="Calibri"/>
              <a:sym typeface="Calibri"/>
            </a:endParaRPr>
          </a:p>
        </p:txBody>
      </p:sp>
      <p:sp>
        <p:nvSpPr>
          <p:cNvPr id="26" name="Google Shape;26;p1"/>
          <p:cNvSpPr txBox="1"/>
          <p:nvPr/>
        </p:nvSpPr>
        <p:spPr>
          <a:xfrm>
            <a:off x="548640" y="4572000"/>
            <a:ext cx="53035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0" lang="en-US" sz="1200" u="none" cap="none" strike="noStrike">
                <a:solidFill>
                  <a:schemeClr val="accent5"/>
                </a:solidFill>
                <a:latin typeface="Calibri"/>
                <a:ea typeface="Calibri"/>
                <a:cs typeface="Calibri"/>
                <a:sym typeface="Calibri"/>
              </a:rPr>
              <a:t>TeamEkxin  ·  Sandbox: synthetic data, no real money moves</a:t>
            </a:r>
            <a:endParaRPr b="0" i="0" sz="1200" u="none" cap="none" strike="noStrike">
              <a:solidFill>
                <a:schemeClr val="dk1"/>
              </a:solidFill>
              <a:latin typeface="Calibri"/>
              <a:ea typeface="Calibri"/>
              <a:cs typeface="Calibri"/>
              <a:sym typeface="Calibri"/>
            </a:endParaRPr>
          </a:p>
        </p:txBody>
      </p:sp>
      <p:sp>
        <p:nvSpPr>
          <p:cNvPr id="27" name="Google Shape;27;p1"/>
          <p:cNvSpPr/>
          <p:nvPr/>
        </p:nvSpPr>
        <p:spPr>
          <a:xfrm>
            <a:off x="6236208" y="384048"/>
            <a:ext cx="2523744" cy="1483614"/>
          </a:xfrm>
          <a:prstGeom prst="roundRect">
            <a:avLst>
              <a:gd fmla="val 3698"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student guide finding cities that fit a budget" id="28" name="Google Shape;28;p1"/>
          <p:cNvPicPr preferRelativeResize="0"/>
          <p:nvPr/>
        </p:nvPicPr>
        <p:blipFill rotWithShape="1">
          <a:blip r:embed="rId3">
            <a:alphaModFix/>
          </a:blip>
          <a:srcRect b="0" l="0" r="0" t="0"/>
          <a:stretch/>
        </p:blipFill>
        <p:spPr>
          <a:xfrm>
            <a:off x="6309360" y="457200"/>
            <a:ext cx="2377440" cy="1337310"/>
          </a:xfrm>
          <a:prstGeom prst="rect">
            <a:avLst/>
          </a:prstGeom>
          <a:noFill/>
          <a:ln>
            <a:noFill/>
          </a:ln>
        </p:spPr>
      </p:pic>
      <p:sp>
        <p:nvSpPr>
          <p:cNvPr id="29" name="Google Shape;29;p1"/>
          <p:cNvSpPr/>
          <p:nvPr/>
        </p:nvSpPr>
        <p:spPr>
          <a:xfrm>
            <a:off x="6236208" y="1938528"/>
            <a:ext cx="2523744" cy="1483614"/>
          </a:xfrm>
          <a:prstGeom prst="roundRect">
            <a:avLst>
              <a:gd fmla="val 3698"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bank network screen with invented banks" id="30" name="Google Shape;30;p1"/>
          <p:cNvPicPr preferRelativeResize="0"/>
          <p:nvPr/>
        </p:nvPicPr>
        <p:blipFill rotWithShape="1">
          <a:blip r:embed="rId4">
            <a:alphaModFix/>
          </a:blip>
          <a:srcRect b="0" l="0" r="0" t="0"/>
          <a:stretch/>
        </p:blipFill>
        <p:spPr>
          <a:xfrm>
            <a:off x="6309360" y="2011680"/>
            <a:ext cx="2377440" cy="1337310"/>
          </a:xfrm>
          <a:prstGeom prst="rect">
            <a:avLst/>
          </a:prstGeom>
          <a:noFill/>
          <a:ln>
            <a:noFill/>
          </a:ln>
        </p:spPr>
      </p:pic>
      <p:sp>
        <p:nvSpPr>
          <p:cNvPr id="31" name="Google Shape;31;p1"/>
          <p:cNvSpPr/>
          <p:nvPr/>
        </p:nvSpPr>
        <p:spPr>
          <a:xfrm>
            <a:off x="6236208" y="3493008"/>
            <a:ext cx="2523744" cy="1483614"/>
          </a:xfrm>
          <a:prstGeom prst="roundRect">
            <a:avLst>
              <a:gd fmla="val 3698"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smart escrow screen on a simulated chain" id="32" name="Google Shape;32;p1"/>
          <p:cNvPicPr preferRelativeResize="0"/>
          <p:nvPr/>
        </p:nvPicPr>
        <p:blipFill rotWithShape="1">
          <a:blip r:embed="rId5">
            <a:alphaModFix/>
          </a:blip>
          <a:srcRect b="0" l="0" r="0" t="0"/>
          <a:stretch/>
        </p:blipFill>
        <p:spPr>
          <a:xfrm>
            <a:off x="6309360" y="3566160"/>
            <a:ext cx="2377440" cy="1337310"/>
          </a:xfrm>
          <a:prstGeom prst="rect">
            <a:avLst/>
          </a:prstGeom>
          <a:noFill/>
          <a:ln>
            <a:noFill/>
          </a:ln>
        </p:spPr>
      </p:pic>
      <p:sp>
        <p:nvSpPr>
          <p:cNvPr id="33" name="Google Shape;33;p1"/>
          <p:cNvSpPr txBox="1"/>
          <p:nvPr/>
        </p:nvSpPr>
        <p:spPr>
          <a:xfrm>
            <a:off x="548640" y="4828032"/>
            <a:ext cx="530352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2"/>
              </a:buClr>
              <a:buSzPts val="1100"/>
              <a:buFont typeface="Calibri"/>
              <a:buNone/>
            </a:pPr>
            <a:r>
              <a:rPr b="1" i="0" lang="en-US" sz="1100" u="none" cap="none" strike="noStrike">
                <a:solidFill>
                  <a:schemeClr val="accent2"/>
                </a:solidFill>
                <a:latin typeface="Calibri"/>
                <a:ea typeface="Calibri"/>
                <a:cs typeface="Calibri"/>
                <a:sym typeface="Calibri"/>
              </a:rPr>
              <a:t>Live: studyroute.bot-keep.xyz</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2"/>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The posted fee is not the price</a:t>
            </a:r>
            <a:endParaRPr sz="3600"/>
          </a:p>
        </p:txBody>
      </p:sp>
      <p:sp>
        <p:nvSpPr>
          <p:cNvPr id="40" name="Google Shape;40;p2"/>
          <p:cNvSpPr/>
          <p:nvPr/>
        </p:nvSpPr>
        <p:spPr>
          <a:xfrm>
            <a:off x="457200" y="1234440"/>
            <a:ext cx="3017520" cy="3429000"/>
          </a:xfrm>
          <a:prstGeom prst="roundRect">
            <a:avLst>
              <a:gd fmla="val 2424"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txBox="1"/>
          <p:nvPr/>
        </p:nvSpPr>
        <p:spPr>
          <a:xfrm>
            <a:off x="640080" y="1371600"/>
            <a:ext cx="265176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6600"/>
              <a:buFont typeface="Cambria"/>
              <a:buNone/>
            </a:pPr>
            <a:r>
              <a:rPr b="1" i="0" lang="en-US" sz="6600" u="none" cap="none" strike="noStrike">
                <a:solidFill>
                  <a:schemeClr val="accent1"/>
                </a:solidFill>
                <a:latin typeface="Cambria"/>
                <a:ea typeface="Cambria"/>
                <a:cs typeface="Cambria"/>
                <a:sym typeface="Cambria"/>
              </a:rPr>
              <a:t>63%</a:t>
            </a:r>
            <a:endParaRPr b="0" i="0" sz="6600" u="none" cap="none" strike="noStrike">
              <a:solidFill>
                <a:schemeClr val="dk1"/>
              </a:solidFill>
              <a:latin typeface="Calibri"/>
              <a:ea typeface="Calibri"/>
              <a:cs typeface="Calibri"/>
              <a:sym typeface="Calibri"/>
            </a:endParaRPr>
          </a:p>
        </p:txBody>
      </p:sp>
      <p:sp>
        <p:nvSpPr>
          <p:cNvPr id="42" name="Google Shape;42;p2"/>
          <p:cNvSpPr txBox="1"/>
          <p:nvPr/>
        </p:nvSpPr>
        <p:spPr>
          <a:xfrm>
            <a:off x="640080" y="2560320"/>
            <a:ext cx="2651760"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of the real cost is the hidden exchange-rate margin</a:t>
            </a:r>
            <a:endParaRPr b="0" i="0" sz="1600" u="none" cap="none" strike="noStrike">
              <a:solidFill>
                <a:schemeClr val="dk1"/>
              </a:solidFill>
              <a:latin typeface="Calibri"/>
              <a:ea typeface="Calibri"/>
              <a:cs typeface="Calibri"/>
              <a:sym typeface="Calibri"/>
            </a:endParaRPr>
          </a:p>
        </p:txBody>
      </p:sp>
      <p:sp>
        <p:nvSpPr>
          <p:cNvPr id="43" name="Google Shape;43;p2"/>
          <p:cNvSpPr txBox="1"/>
          <p:nvPr/>
        </p:nvSpPr>
        <p:spPr>
          <a:xfrm>
            <a:off x="640080" y="4023360"/>
            <a:ext cx="265176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Provider B, GBP 10,000. Synthetic rates and fees.</a:t>
            </a:r>
            <a:endParaRPr b="0" i="0" sz="1100" u="none" cap="none" strike="noStrike">
              <a:solidFill>
                <a:schemeClr val="dk1"/>
              </a:solidFill>
              <a:latin typeface="Calibri"/>
              <a:ea typeface="Calibri"/>
              <a:cs typeface="Calibri"/>
              <a:sym typeface="Calibri"/>
            </a:endParaRPr>
          </a:p>
        </p:txBody>
      </p:sp>
      <p:sp>
        <p:nvSpPr>
          <p:cNvPr id="44" name="Google Shape;44;p2"/>
          <p:cNvSpPr/>
          <p:nvPr/>
        </p:nvSpPr>
        <p:spPr>
          <a:xfrm>
            <a:off x="3749040" y="1280160"/>
            <a:ext cx="329184" cy="329184"/>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txBox="1"/>
          <p:nvPr/>
        </p:nvSpPr>
        <p:spPr>
          <a:xfrm>
            <a:off x="3749040" y="128016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1</a:t>
            </a:r>
            <a:endParaRPr b="0" i="0" sz="1400" u="none" cap="none" strike="noStrike">
              <a:solidFill>
                <a:schemeClr val="dk1"/>
              </a:solidFill>
              <a:latin typeface="Calibri"/>
              <a:ea typeface="Calibri"/>
              <a:cs typeface="Calibri"/>
              <a:sym typeface="Calibri"/>
            </a:endParaRPr>
          </a:p>
        </p:txBody>
      </p:sp>
      <p:sp>
        <p:nvSpPr>
          <p:cNvPr id="46" name="Google Shape;46;p2"/>
          <p:cNvSpPr txBox="1"/>
          <p:nvPr/>
        </p:nvSpPr>
        <p:spPr>
          <a:xfrm>
            <a:off x="4251960" y="1234440"/>
            <a:ext cx="44348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Hidden margin.</a:t>
            </a:r>
            <a:r>
              <a:rPr b="0" i="0" lang="en-US" sz="1400" u="none" cap="none" strike="noStrike">
                <a:solidFill>
                  <a:schemeClr val="dk2"/>
                </a:solidFill>
                <a:latin typeface="Calibri"/>
                <a:ea typeface="Calibri"/>
                <a:cs typeface="Calibri"/>
                <a:sym typeface="Calibri"/>
              </a:rPr>
              <a:t> The rate sits above mid-market, and banks show a fee, not the margin.</a:t>
            </a:r>
            <a:endParaRPr b="0" i="0" sz="1400" u="none" cap="none" strike="noStrike">
              <a:solidFill>
                <a:schemeClr val="dk1"/>
              </a:solidFill>
              <a:latin typeface="Calibri"/>
              <a:ea typeface="Calibri"/>
              <a:cs typeface="Calibri"/>
              <a:sym typeface="Calibri"/>
            </a:endParaRPr>
          </a:p>
        </p:txBody>
      </p:sp>
      <p:sp>
        <p:nvSpPr>
          <p:cNvPr id="47" name="Google Shape;47;p2"/>
          <p:cNvSpPr/>
          <p:nvPr/>
        </p:nvSpPr>
        <p:spPr>
          <a:xfrm>
            <a:off x="3749040" y="1975104"/>
            <a:ext cx="329184" cy="329184"/>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txBox="1"/>
          <p:nvPr/>
        </p:nvSpPr>
        <p:spPr>
          <a:xfrm>
            <a:off x="3749040" y="1975104"/>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2</a:t>
            </a:r>
            <a:endParaRPr b="0" i="0" sz="1400" u="none" cap="none" strike="noStrike">
              <a:solidFill>
                <a:schemeClr val="dk1"/>
              </a:solidFill>
              <a:latin typeface="Calibri"/>
              <a:ea typeface="Calibri"/>
              <a:cs typeface="Calibri"/>
              <a:sym typeface="Calibri"/>
            </a:endParaRPr>
          </a:p>
        </p:txBody>
      </p:sp>
      <p:sp>
        <p:nvSpPr>
          <p:cNvPr id="49" name="Google Shape;49;p2"/>
          <p:cNvSpPr txBox="1"/>
          <p:nvPr/>
        </p:nvSpPr>
        <p:spPr>
          <a:xfrm>
            <a:off x="4251960" y="1929384"/>
            <a:ext cx="44348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Fees on the way.</a:t>
            </a:r>
            <a:r>
              <a:rPr b="0" i="0" lang="en-US" sz="1400" u="none" cap="none" strike="noStrike">
                <a:solidFill>
                  <a:schemeClr val="dk2"/>
                </a:solidFill>
                <a:latin typeface="Calibri"/>
                <a:ea typeface="Calibri"/>
                <a:cs typeface="Calibri"/>
                <a:sym typeface="Calibri"/>
              </a:rPr>
              <a:t> Correspondent and receiving banks deduct from the amount.</a:t>
            </a:r>
            <a:endParaRPr b="0" i="0" sz="1400" u="none" cap="none" strike="noStrike">
              <a:solidFill>
                <a:schemeClr val="dk1"/>
              </a:solidFill>
              <a:latin typeface="Calibri"/>
              <a:ea typeface="Calibri"/>
              <a:cs typeface="Calibri"/>
              <a:sym typeface="Calibri"/>
            </a:endParaRPr>
          </a:p>
        </p:txBody>
      </p:sp>
      <p:sp>
        <p:nvSpPr>
          <p:cNvPr id="50" name="Google Shape;50;p2"/>
          <p:cNvSpPr/>
          <p:nvPr/>
        </p:nvSpPr>
        <p:spPr>
          <a:xfrm>
            <a:off x="3749040" y="2670048"/>
            <a:ext cx="329184" cy="329184"/>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txBox="1"/>
          <p:nvPr/>
        </p:nvSpPr>
        <p:spPr>
          <a:xfrm>
            <a:off x="3749040" y="2670048"/>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3</a:t>
            </a:r>
            <a:endParaRPr b="0" i="0" sz="1400" u="none" cap="none" strike="noStrike">
              <a:solidFill>
                <a:schemeClr val="dk1"/>
              </a:solidFill>
              <a:latin typeface="Calibri"/>
              <a:ea typeface="Calibri"/>
              <a:cs typeface="Calibri"/>
              <a:sym typeface="Calibri"/>
            </a:endParaRPr>
          </a:p>
        </p:txBody>
      </p:sp>
      <p:sp>
        <p:nvSpPr>
          <p:cNvPr id="52" name="Google Shape;52;p2"/>
          <p:cNvSpPr txBox="1"/>
          <p:nvPr/>
        </p:nvSpPr>
        <p:spPr>
          <a:xfrm>
            <a:off x="4251960" y="2624328"/>
            <a:ext cx="44348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Short payment.</a:t>
            </a:r>
            <a:r>
              <a:rPr b="0" i="0" lang="en-US" sz="1400" u="none" cap="none" strike="noStrike">
                <a:solidFill>
                  <a:schemeClr val="dk2"/>
                </a:solidFill>
                <a:latin typeface="Calibri"/>
                <a:ea typeface="Calibri"/>
                <a:cs typeface="Calibri"/>
                <a:sym typeface="Calibri"/>
              </a:rPr>
              <a:t> The university gets less than invoiced and may add a late fee.</a:t>
            </a:r>
            <a:endParaRPr b="0" i="0" sz="1400" u="none" cap="none" strike="noStrike">
              <a:solidFill>
                <a:schemeClr val="dk1"/>
              </a:solidFill>
              <a:latin typeface="Calibri"/>
              <a:ea typeface="Calibri"/>
              <a:cs typeface="Calibri"/>
              <a:sym typeface="Calibri"/>
            </a:endParaRPr>
          </a:p>
        </p:txBody>
      </p:sp>
      <p:sp>
        <p:nvSpPr>
          <p:cNvPr id="53" name="Google Shape;53;p2"/>
          <p:cNvSpPr/>
          <p:nvPr/>
        </p:nvSpPr>
        <p:spPr>
          <a:xfrm>
            <a:off x="3749040" y="3364992"/>
            <a:ext cx="329184" cy="329184"/>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txBox="1"/>
          <p:nvPr/>
        </p:nvSpPr>
        <p:spPr>
          <a:xfrm>
            <a:off x="3749040" y="3364992"/>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4</a:t>
            </a:r>
            <a:endParaRPr b="0" i="0" sz="1400" u="none" cap="none" strike="noStrike">
              <a:solidFill>
                <a:schemeClr val="dk1"/>
              </a:solidFill>
              <a:latin typeface="Calibri"/>
              <a:ea typeface="Calibri"/>
              <a:cs typeface="Calibri"/>
              <a:sym typeface="Calibri"/>
            </a:endParaRPr>
          </a:p>
        </p:txBody>
      </p:sp>
      <p:sp>
        <p:nvSpPr>
          <p:cNvPr id="55" name="Google Shape;55;p2"/>
          <p:cNvSpPr txBox="1"/>
          <p:nvPr/>
        </p:nvSpPr>
        <p:spPr>
          <a:xfrm>
            <a:off x="4251960" y="3319272"/>
            <a:ext cx="44348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Missed deadlines.</a:t>
            </a:r>
            <a:r>
              <a:rPr b="0" i="0" lang="en-US" sz="1400" u="none" cap="none" strike="noStrike">
                <a:solidFill>
                  <a:schemeClr val="dk2"/>
                </a:solidFill>
                <a:latin typeface="Calibri"/>
                <a:ea typeface="Calibri"/>
                <a:cs typeface="Calibri"/>
                <a:sym typeface="Calibri"/>
              </a:rPr>
              <a:t> Two calendars: Friday and Saturday off in Bangladesh, plus the host country.</a:t>
            </a:r>
            <a:endParaRPr b="0" i="0" sz="1400" u="none" cap="none" strike="noStrike">
              <a:solidFill>
                <a:schemeClr val="dk1"/>
              </a:solidFill>
              <a:latin typeface="Calibri"/>
              <a:ea typeface="Calibri"/>
              <a:cs typeface="Calibri"/>
              <a:sym typeface="Calibri"/>
            </a:endParaRPr>
          </a:p>
        </p:txBody>
      </p:sp>
      <p:sp>
        <p:nvSpPr>
          <p:cNvPr id="56" name="Google Shape;56;p2"/>
          <p:cNvSpPr/>
          <p:nvPr/>
        </p:nvSpPr>
        <p:spPr>
          <a:xfrm>
            <a:off x="3749040" y="4059936"/>
            <a:ext cx="329184" cy="329184"/>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txBox="1"/>
          <p:nvPr/>
        </p:nvSpPr>
        <p:spPr>
          <a:xfrm>
            <a:off x="3749040" y="4059936"/>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5</a:t>
            </a:r>
            <a:endParaRPr b="0" i="0" sz="1400" u="none" cap="none" strike="noStrike">
              <a:solidFill>
                <a:schemeClr val="dk1"/>
              </a:solidFill>
              <a:latin typeface="Calibri"/>
              <a:ea typeface="Calibri"/>
              <a:cs typeface="Calibri"/>
              <a:sym typeface="Calibri"/>
            </a:endParaRPr>
          </a:p>
        </p:txBody>
      </p:sp>
      <p:sp>
        <p:nvSpPr>
          <p:cNvPr id="58" name="Google Shape;58;p2"/>
          <p:cNvSpPr txBox="1"/>
          <p:nvPr/>
        </p:nvSpPr>
        <p:spPr>
          <a:xfrm>
            <a:off x="4251960" y="4014216"/>
            <a:ext cx="443484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Paperwork.</a:t>
            </a:r>
            <a:r>
              <a:rPr b="0" i="0" lang="en-US" sz="1400" u="none" cap="none" strike="noStrike">
                <a:solidFill>
                  <a:schemeClr val="dk2"/>
                </a:solidFill>
                <a:latin typeface="Calibri"/>
                <a:ea typeface="Calibri"/>
                <a:cs typeface="Calibri"/>
                <a:sym typeface="Calibri"/>
              </a:rPr>
              <a:t> An unclear document list and weeks of back and forth.</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3"/>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How money really moves</a:t>
            </a:r>
            <a:endParaRPr sz="3600"/>
          </a:p>
        </p:txBody>
      </p:sp>
      <p:sp>
        <p:nvSpPr>
          <p:cNvPr id="65" name="Google Shape;65;p3"/>
          <p:cNvSpPr/>
          <p:nvPr/>
        </p:nvSpPr>
        <p:spPr>
          <a:xfrm>
            <a:off x="457200" y="1417320"/>
            <a:ext cx="1481328" cy="1417320"/>
          </a:xfrm>
          <a:prstGeom prst="roundRect">
            <a:avLst>
              <a:gd fmla="val 5161"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txBox="1"/>
          <p:nvPr/>
        </p:nvSpPr>
        <p:spPr>
          <a:xfrm>
            <a:off x="530352" y="1508760"/>
            <a:ext cx="1335024"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Parent</a:t>
            </a:r>
            <a:endParaRPr b="0" i="0" sz="1400" u="none" cap="none" strike="noStrike">
              <a:solidFill>
                <a:schemeClr val="dk1"/>
              </a:solidFill>
              <a:latin typeface="Calibri"/>
              <a:ea typeface="Calibri"/>
              <a:cs typeface="Calibri"/>
              <a:sym typeface="Calibri"/>
            </a:endParaRPr>
          </a:p>
        </p:txBody>
      </p:sp>
      <p:sp>
        <p:nvSpPr>
          <p:cNvPr id="67" name="Google Shape;67;p3"/>
          <p:cNvSpPr txBox="1"/>
          <p:nvPr/>
        </p:nvSpPr>
        <p:spPr>
          <a:xfrm>
            <a:off x="530352" y="2103120"/>
            <a:ext cx="133502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2"/>
              </a:buClr>
              <a:buSzPts val="1200"/>
              <a:buFont typeface="Calibri"/>
              <a:buNone/>
            </a:pPr>
            <a:r>
              <a:rPr b="0" i="0" lang="en-US" sz="1200" u="none" cap="none" strike="noStrike">
                <a:solidFill>
                  <a:schemeClr val="lt2"/>
                </a:solidFill>
                <a:latin typeface="Calibri"/>
                <a:ea typeface="Calibri"/>
                <a:cs typeface="Calibri"/>
                <a:sym typeface="Calibri"/>
              </a:rPr>
              <a:t>pays BDT</a:t>
            </a:r>
            <a:endParaRPr b="0" i="0" sz="1200" u="none" cap="none" strike="noStrike">
              <a:solidFill>
                <a:schemeClr val="dk1"/>
              </a:solidFill>
              <a:latin typeface="Calibri"/>
              <a:ea typeface="Calibri"/>
              <a:cs typeface="Calibri"/>
              <a:sym typeface="Calibri"/>
            </a:endParaRPr>
          </a:p>
        </p:txBody>
      </p:sp>
      <p:sp>
        <p:nvSpPr>
          <p:cNvPr id="68" name="Google Shape;68;p3"/>
          <p:cNvSpPr txBox="1"/>
          <p:nvPr/>
        </p:nvSpPr>
        <p:spPr>
          <a:xfrm>
            <a:off x="457200" y="3200400"/>
            <a:ext cx="1481328"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Missing document</a:t>
            </a:r>
            <a:endParaRPr b="0" i="0" sz="1200" u="none" cap="none" strike="noStrike">
              <a:solidFill>
                <a:schemeClr val="dk1"/>
              </a:solidFill>
              <a:latin typeface="Calibri"/>
              <a:ea typeface="Calibri"/>
              <a:cs typeface="Calibri"/>
              <a:sym typeface="Calibri"/>
            </a:endParaRPr>
          </a:p>
        </p:txBody>
      </p:sp>
      <p:cxnSp>
        <p:nvCxnSpPr>
          <p:cNvPr id="69" name="Google Shape;69;p3"/>
          <p:cNvCxnSpPr/>
          <p:nvPr/>
        </p:nvCxnSpPr>
        <p:spPr>
          <a:xfrm>
            <a:off x="1956816" y="2130552"/>
            <a:ext cx="164592" cy="0"/>
          </a:xfrm>
          <a:prstGeom prst="straightConnector1">
            <a:avLst/>
          </a:prstGeom>
          <a:noFill/>
          <a:ln cap="flat" cmpd="sng" w="25400">
            <a:solidFill>
              <a:schemeClr val="dk2"/>
            </a:solidFill>
            <a:prstDash val="solid"/>
            <a:round/>
            <a:headEnd len="sm" w="sm" type="none"/>
            <a:tailEnd len="med" w="med" type="triangle"/>
          </a:ln>
        </p:spPr>
      </p:cxnSp>
      <p:sp>
        <p:nvSpPr>
          <p:cNvPr id="70" name="Google Shape;70;p3"/>
          <p:cNvSpPr/>
          <p:nvPr/>
        </p:nvSpPr>
        <p:spPr>
          <a:xfrm>
            <a:off x="2139696" y="1417320"/>
            <a:ext cx="1481328" cy="1417320"/>
          </a:xfrm>
          <a:prstGeom prst="roundRect">
            <a:avLst>
              <a:gd fmla="val 5161"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txBox="1"/>
          <p:nvPr/>
        </p:nvSpPr>
        <p:spPr>
          <a:xfrm>
            <a:off x="2212848" y="1508760"/>
            <a:ext cx="1335024"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AD bank</a:t>
            </a:r>
            <a:endParaRPr b="0" i="0" sz="1400" u="none" cap="none" strike="noStrike">
              <a:solidFill>
                <a:schemeClr val="dk1"/>
              </a:solidFill>
              <a:latin typeface="Calibri"/>
              <a:ea typeface="Calibri"/>
              <a:cs typeface="Calibri"/>
              <a:sym typeface="Calibri"/>
            </a:endParaRPr>
          </a:p>
        </p:txBody>
      </p:sp>
      <p:sp>
        <p:nvSpPr>
          <p:cNvPr id="72" name="Google Shape;72;p3"/>
          <p:cNvSpPr txBox="1"/>
          <p:nvPr/>
        </p:nvSpPr>
        <p:spPr>
          <a:xfrm>
            <a:off x="2212848" y="2103120"/>
            <a:ext cx="133502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2"/>
              </a:buClr>
              <a:buSzPts val="1200"/>
              <a:buFont typeface="Calibri"/>
              <a:buNone/>
            </a:pPr>
            <a:r>
              <a:rPr b="0" i="0" lang="en-US" sz="1200" u="none" cap="none" strike="noStrike">
                <a:solidFill>
                  <a:schemeClr val="lt2"/>
                </a:solidFill>
                <a:latin typeface="Calibri"/>
                <a:ea typeface="Calibri"/>
                <a:cs typeface="Calibri"/>
                <a:sym typeface="Calibri"/>
              </a:rPr>
              <a:t>sells FX, sends SWIFT message</a:t>
            </a:r>
            <a:endParaRPr b="0" i="0" sz="1200" u="none" cap="none" strike="noStrike">
              <a:solidFill>
                <a:schemeClr val="dk1"/>
              </a:solidFill>
              <a:latin typeface="Calibri"/>
              <a:ea typeface="Calibri"/>
              <a:cs typeface="Calibri"/>
              <a:sym typeface="Calibri"/>
            </a:endParaRPr>
          </a:p>
        </p:txBody>
      </p:sp>
      <p:sp>
        <p:nvSpPr>
          <p:cNvPr id="73" name="Google Shape;73;p3"/>
          <p:cNvSpPr txBox="1"/>
          <p:nvPr/>
        </p:nvSpPr>
        <p:spPr>
          <a:xfrm>
            <a:off x="2139696" y="3200400"/>
            <a:ext cx="1481328"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Wrong BIC: payment bounces</a:t>
            </a:r>
            <a:endParaRPr b="0" i="0" sz="1200" u="none" cap="none" strike="noStrike">
              <a:solidFill>
                <a:schemeClr val="dk1"/>
              </a:solidFill>
              <a:latin typeface="Calibri"/>
              <a:ea typeface="Calibri"/>
              <a:cs typeface="Calibri"/>
              <a:sym typeface="Calibri"/>
            </a:endParaRPr>
          </a:p>
        </p:txBody>
      </p:sp>
      <p:cxnSp>
        <p:nvCxnSpPr>
          <p:cNvPr id="74" name="Google Shape;74;p3"/>
          <p:cNvCxnSpPr/>
          <p:nvPr/>
        </p:nvCxnSpPr>
        <p:spPr>
          <a:xfrm>
            <a:off x="3639312" y="2130552"/>
            <a:ext cx="164592" cy="0"/>
          </a:xfrm>
          <a:prstGeom prst="straightConnector1">
            <a:avLst/>
          </a:prstGeom>
          <a:noFill/>
          <a:ln cap="flat" cmpd="sng" w="25400">
            <a:solidFill>
              <a:schemeClr val="dk2"/>
            </a:solidFill>
            <a:prstDash val="solid"/>
            <a:round/>
            <a:headEnd len="sm" w="sm" type="none"/>
            <a:tailEnd len="med" w="med" type="triangle"/>
          </a:ln>
        </p:spPr>
      </p:cxnSp>
      <p:sp>
        <p:nvSpPr>
          <p:cNvPr id="75" name="Google Shape;75;p3"/>
          <p:cNvSpPr/>
          <p:nvPr/>
        </p:nvSpPr>
        <p:spPr>
          <a:xfrm>
            <a:off x="3822192" y="1417320"/>
            <a:ext cx="1481328" cy="1417320"/>
          </a:xfrm>
          <a:prstGeom prst="roundRect">
            <a:avLst>
              <a:gd fmla="val 5161"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txBox="1"/>
          <p:nvPr/>
        </p:nvSpPr>
        <p:spPr>
          <a:xfrm>
            <a:off x="3895344" y="1508760"/>
            <a:ext cx="1335024"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Correspondent bank</a:t>
            </a:r>
            <a:endParaRPr b="0" i="0" sz="1400" u="none" cap="none" strike="noStrike">
              <a:solidFill>
                <a:schemeClr val="dk1"/>
              </a:solidFill>
              <a:latin typeface="Calibri"/>
              <a:ea typeface="Calibri"/>
              <a:cs typeface="Calibri"/>
              <a:sym typeface="Calibri"/>
            </a:endParaRPr>
          </a:p>
        </p:txBody>
      </p:sp>
      <p:sp>
        <p:nvSpPr>
          <p:cNvPr id="77" name="Google Shape;77;p3"/>
          <p:cNvSpPr txBox="1"/>
          <p:nvPr/>
        </p:nvSpPr>
        <p:spPr>
          <a:xfrm>
            <a:off x="3895344" y="2103120"/>
            <a:ext cx="133502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2"/>
              </a:buClr>
              <a:buSzPts val="1200"/>
              <a:buFont typeface="Calibri"/>
              <a:buNone/>
            </a:pPr>
            <a:r>
              <a:rPr b="0" i="0" lang="en-US" sz="1200" u="none" cap="none" strike="noStrike">
                <a:solidFill>
                  <a:schemeClr val="lt2"/>
                </a:solidFill>
                <a:latin typeface="Calibri"/>
                <a:ea typeface="Calibri"/>
                <a:cs typeface="Calibri"/>
                <a:sym typeface="Calibri"/>
              </a:rPr>
              <a:t>may deduct a lifting fee</a:t>
            </a:r>
            <a:endParaRPr b="0" i="0" sz="1200" u="none" cap="none" strike="noStrike">
              <a:solidFill>
                <a:schemeClr val="dk1"/>
              </a:solidFill>
              <a:latin typeface="Calibri"/>
              <a:ea typeface="Calibri"/>
              <a:cs typeface="Calibri"/>
              <a:sym typeface="Calibri"/>
            </a:endParaRPr>
          </a:p>
        </p:txBody>
      </p:sp>
      <p:sp>
        <p:nvSpPr>
          <p:cNvPr id="78" name="Google Shape;78;p3"/>
          <p:cNvSpPr txBox="1"/>
          <p:nvPr/>
        </p:nvSpPr>
        <p:spPr>
          <a:xfrm>
            <a:off x="3822192" y="3200400"/>
            <a:ext cx="1481328"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Fee deducted: tuition short</a:t>
            </a:r>
            <a:endParaRPr b="0" i="0" sz="1200" u="none" cap="none" strike="noStrike">
              <a:solidFill>
                <a:schemeClr val="dk1"/>
              </a:solidFill>
              <a:latin typeface="Calibri"/>
              <a:ea typeface="Calibri"/>
              <a:cs typeface="Calibri"/>
              <a:sym typeface="Calibri"/>
            </a:endParaRPr>
          </a:p>
        </p:txBody>
      </p:sp>
      <p:cxnSp>
        <p:nvCxnSpPr>
          <p:cNvPr id="79" name="Google Shape;79;p3"/>
          <p:cNvCxnSpPr/>
          <p:nvPr/>
        </p:nvCxnSpPr>
        <p:spPr>
          <a:xfrm>
            <a:off x="5321808" y="2130552"/>
            <a:ext cx="164592" cy="0"/>
          </a:xfrm>
          <a:prstGeom prst="straightConnector1">
            <a:avLst/>
          </a:prstGeom>
          <a:noFill/>
          <a:ln cap="flat" cmpd="sng" w="25400">
            <a:solidFill>
              <a:schemeClr val="dk2"/>
            </a:solidFill>
            <a:prstDash val="solid"/>
            <a:round/>
            <a:headEnd len="sm" w="sm" type="none"/>
            <a:tailEnd len="med" w="med" type="triangle"/>
          </a:ln>
        </p:spPr>
      </p:cxnSp>
      <p:sp>
        <p:nvSpPr>
          <p:cNvPr id="80" name="Google Shape;80;p3"/>
          <p:cNvSpPr/>
          <p:nvPr/>
        </p:nvSpPr>
        <p:spPr>
          <a:xfrm>
            <a:off x="5504688" y="1417320"/>
            <a:ext cx="1481328" cy="1417320"/>
          </a:xfrm>
          <a:prstGeom prst="roundRect">
            <a:avLst>
              <a:gd fmla="val 5161"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3"/>
          <p:cNvSpPr txBox="1"/>
          <p:nvPr/>
        </p:nvSpPr>
        <p:spPr>
          <a:xfrm>
            <a:off x="5577840" y="1508760"/>
            <a:ext cx="1335024"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Receiving bank</a:t>
            </a:r>
            <a:endParaRPr b="0" i="0" sz="1400" u="none" cap="none" strike="noStrike">
              <a:solidFill>
                <a:schemeClr val="dk1"/>
              </a:solidFill>
              <a:latin typeface="Calibri"/>
              <a:ea typeface="Calibri"/>
              <a:cs typeface="Calibri"/>
              <a:sym typeface="Calibri"/>
            </a:endParaRPr>
          </a:p>
        </p:txBody>
      </p:sp>
      <p:sp>
        <p:nvSpPr>
          <p:cNvPr id="82" name="Google Shape;82;p3"/>
          <p:cNvSpPr txBox="1"/>
          <p:nvPr/>
        </p:nvSpPr>
        <p:spPr>
          <a:xfrm>
            <a:off x="5577840" y="2103120"/>
            <a:ext cx="133502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2"/>
              </a:buClr>
              <a:buSzPts val="1200"/>
              <a:buFont typeface="Calibri"/>
              <a:buNone/>
            </a:pPr>
            <a:r>
              <a:rPr b="0" i="0" lang="en-US" sz="1200" u="none" cap="none" strike="noStrike">
                <a:solidFill>
                  <a:schemeClr val="lt2"/>
                </a:solidFill>
                <a:latin typeface="Calibri"/>
                <a:ea typeface="Calibri"/>
                <a:cs typeface="Calibri"/>
                <a:sym typeface="Calibri"/>
              </a:rPr>
              <a:t>credits, may deduct a fee</a:t>
            </a:r>
            <a:endParaRPr b="0" i="0" sz="1200" u="none" cap="none" strike="noStrike">
              <a:solidFill>
                <a:schemeClr val="dk1"/>
              </a:solidFill>
              <a:latin typeface="Calibri"/>
              <a:ea typeface="Calibri"/>
              <a:cs typeface="Calibri"/>
              <a:sym typeface="Calibri"/>
            </a:endParaRPr>
          </a:p>
        </p:txBody>
      </p:sp>
      <p:sp>
        <p:nvSpPr>
          <p:cNvPr id="83" name="Google Shape;83;p3"/>
          <p:cNvSpPr txBox="1"/>
          <p:nvPr/>
        </p:nvSpPr>
        <p:spPr>
          <a:xfrm>
            <a:off x="5504688" y="3200400"/>
            <a:ext cx="1481328"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Hold or receiving fee</a:t>
            </a:r>
            <a:endParaRPr b="0" i="0" sz="1200" u="none" cap="none" strike="noStrike">
              <a:solidFill>
                <a:schemeClr val="dk1"/>
              </a:solidFill>
              <a:latin typeface="Calibri"/>
              <a:ea typeface="Calibri"/>
              <a:cs typeface="Calibri"/>
              <a:sym typeface="Calibri"/>
            </a:endParaRPr>
          </a:p>
        </p:txBody>
      </p:sp>
      <p:cxnSp>
        <p:nvCxnSpPr>
          <p:cNvPr id="84" name="Google Shape;84;p3"/>
          <p:cNvCxnSpPr/>
          <p:nvPr/>
        </p:nvCxnSpPr>
        <p:spPr>
          <a:xfrm>
            <a:off x="7004304" y="2130552"/>
            <a:ext cx="164592" cy="0"/>
          </a:xfrm>
          <a:prstGeom prst="straightConnector1">
            <a:avLst/>
          </a:prstGeom>
          <a:noFill/>
          <a:ln cap="flat" cmpd="sng" w="25400">
            <a:solidFill>
              <a:schemeClr val="dk2"/>
            </a:solidFill>
            <a:prstDash val="solid"/>
            <a:round/>
            <a:headEnd len="sm" w="sm" type="none"/>
            <a:tailEnd len="med" w="med" type="triangle"/>
          </a:ln>
        </p:spPr>
      </p:cxnSp>
      <p:sp>
        <p:nvSpPr>
          <p:cNvPr id="85" name="Google Shape;85;p3"/>
          <p:cNvSpPr/>
          <p:nvPr/>
        </p:nvSpPr>
        <p:spPr>
          <a:xfrm>
            <a:off x="7187184" y="1417320"/>
            <a:ext cx="1481328" cy="1417320"/>
          </a:xfrm>
          <a:prstGeom prst="roundRect">
            <a:avLst>
              <a:gd fmla="val 5161"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txBox="1"/>
          <p:nvPr/>
        </p:nvSpPr>
        <p:spPr>
          <a:xfrm>
            <a:off x="7260336" y="1508760"/>
            <a:ext cx="1335024"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University</a:t>
            </a:r>
            <a:endParaRPr b="0" i="0" sz="1400" u="none" cap="none" strike="noStrike">
              <a:solidFill>
                <a:schemeClr val="dk1"/>
              </a:solidFill>
              <a:latin typeface="Calibri"/>
              <a:ea typeface="Calibri"/>
              <a:cs typeface="Calibri"/>
              <a:sym typeface="Calibri"/>
            </a:endParaRPr>
          </a:p>
        </p:txBody>
      </p:sp>
      <p:sp>
        <p:nvSpPr>
          <p:cNvPr id="87" name="Google Shape;87;p3"/>
          <p:cNvSpPr txBox="1"/>
          <p:nvPr/>
        </p:nvSpPr>
        <p:spPr>
          <a:xfrm>
            <a:off x="7260336" y="2103120"/>
            <a:ext cx="1335024" cy="6858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lt2"/>
              </a:buClr>
              <a:buSzPts val="1200"/>
              <a:buFont typeface="Calibri"/>
              <a:buNone/>
            </a:pPr>
            <a:r>
              <a:rPr b="0" i="0" lang="en-US" sz="1200" u="none" cap="none" strike="noStrike">
                <a:solidFill>
                  <a:schemeClr val="lt2"/>
                </a:solidFill>
                <a:latin typeface="Calibri"/>
                <a:ea typeface="Calibri"/>
                <a:cs typeface="Calibri"/>
                <a:sym typeface="Calibri"/>
              </a:rPr>
              <a:t>matches by reference</a:t>
            </a:r>
            <a:endParaRPr b="0" i="0" sz="1200" u="none" cap="none" strike="noStrike">
              <a:solidFill>
                <a:schemeClr val="dk1"/>
              </a:solidFill>
              <a:latin typeface="Calibri"/>
              <a:ea typeface="Calibri"/>
              <a:cs typeface="Calibri"/>
              <a:sym typeface="Calibri"/>
            </a:endParaRPr>
          </a:p>
        </p:txBody>
      </p:sp>
      <p:sp>
        <p:nvSpPr>
          <p:cNvPr id="88" name="Google Shape;88;p3"/>
          <p:cNvSpPr txBox="1"/>
          <p:nvPr/>
        </p:nvSpPr>
        <p:spPr>
          <a:xfrm>
            <a:off x="7187184" y="3200400"/>
            <a:ext cx="1481328" cy="5943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No reference: unmatched</a:t>
            </a:r>
            <a:endParaRPr b="0" i="0" sz="1200" u="none" cap="none" strike="noStrike">
              <a:solidFill>
                <a:schemeClr val="dk1"/>
              </a:solidFill>
              <a:latin typeface="Calibri"/>
              <a:ea typeface="Calibri"/>
              <a:cs typeface="Calibri"/>
              <a:sym typeface="Calibri"/>
            </a:endParaRPr>
          </a:p>
        </p:txBody>
      </p:sp>
      <p:sp>
        <p:nvSpPr>
          <p:cNvPr id="89" name="Google Shape;89;p3"/>
          <p:cNvSpPr txBox="1"/>
          <p:nvPr/>
        </p:nvSpPr>
        <p:spPr>
          <a:xfrm>
            <a:off x="457200" y="2926080"/>
            <a:ext cx="365760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1" i="0" lang="en-US" sz="1200" u="none" cap="none" strike="noStrike">
                <a:solidFill>
                  <a:schemeClr val="dk2"/>
                </a:solidFill>
                <a:latin typeface="Calibri"/>
                <a:ea typeface="Calibri"/>
                <a:cs typeface="Calibri"/>
                <a:sym typeface="Calibri"/>
              </a:rPr>
              <a:t>Where it goes wrong</a:t>
            </a:r>
            <a:endParaRPr b="0" i="0" sz="1200" u="none" cap="none" strike="noStrike">
              <a:solidFill>
                <a:schemeClr val="dk1"/>
              </a:solidFill>
              <a:latin typeface="Calibri"/>
              <a:ea typeface="Calibri"/>
              <a:cs typeface="Calibri"/>
              <a:sym typeface="Calibri"/>
            </a:endParaRPr>
          </a:p>
        </p:txBody>
      </p:sp>
      <p:sp>
        <p:nvSpPr>
          <p:cNvPr id="90" name="Google Shape;90;p3"/>
          <p:cNvSpPr txBox="1"/>
          <p:nvPr/>
        </p:nvSpPr>
        <p:spPr>
          <a:xfrm>
            <a:off x="457200" y="397764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SWIFT carries the instruction. Banks settle between their own accounts.</a:t>
            </a:r>
            <a:endParaRPr b="0" i="0" sz="1600" u="none" cap="none" strike="noStrike">
              <a:solidFill>
                <a:schemeClr val="dk1"/>
              </a:solidFill>
              <a:latin typeface="Calibri"/>
              <a:ea typeface="Calibri"/>
              <a:cs typeface="Calibri"/>
              <a:sym typeface="Calibri"/>
            </a:endParaRPr>
          </a:p>
        </p:txBody>
      </p:sp>
      <p:sp>
        <p:nvSpPr>
          <p:cNvPr id="91" name="Google Shape;91;p3"/>
          <p:cNvSpPr txBox="1"/>
          <p:nvPr/>
        </p:nvSpPr>
        <p:spPr>
          <a:xfrm>
            <a:off x="457200" y="4389120"/>
            <a:ext cx="8229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400"/>
              <a:buFont typeface="Calibri"/>
              <a:buNone/>
            </a:pPr>
            <a:r>
              <a:rPr b="0" i="1" lang="en-US" sz="1400" u="none" cap="none" strike="noStrike">
                <a:solidFill>
                  <a:schemeClr val="accent1"/>
                </a:solidFill>
                <a:latin typeface="Calibri"/>
                <a:ea typeface="Calibri"/>
                <a:cs typeface="Calibri"/>
                <a:sym typeface="Calibri"/>
              </a:rPr>
              <a:t>StudyRoute simulates this chain with invented banks. It moves no real money.</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4"/>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From question to settled payment</a:t>
            </a:r>
            <a:endParaRPr sz="3600"/>
          </a:p>
        </p:txBody>
      </p:sp>
      <p:sp>
        <p:nvSpPr>
          <p:cNvPr id="98" name="Google Shape;98;p4"/>
          <p:cNvSpPr/>
          <p:nvPr/>
        </p:nvSpPr>
        <p:spPr>
          <a:xfrm>
            <a:off x="457200" y="1234440"/>
            <a:ext cx="4114800" cy="3246120"/>
          </a:xfrm>
          <a:prstGeom prst="roundRect">
            <a:avLst>
              <a:gd fmla="val 1690"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assistant's payment plan built from one sentence" id="99" name="Google Shape;99;p4"/>
          <p:cNvPicPr preferRelativeResize="0"/>
          <p:nvPr/>
        </p:nvPicPr>
        <p:blipFill rotWithShape="1">
          <a:blip r:embed="rId3">
            <a:alphaModFix/>
          </a:blip>
          <a:srcRect b="0" l="0" r="0" t="0"/>
          <a:stretch/>
        </p:blipFill>
        <p:spPr>
          <a:xfrm>
            <a:off x="530352" y="1307592"/>
            <a:ext cx="3968496" cy="3099816"/>
          </a:xfrm>
          <a:prstGeom prst="rect">
            <a:avLst/>
          </a:prstGeom>
          <a:noFill/>
          <a:ln>
            <a:noFill/>
          </a:ln>
        </p:spPr>
      </p:pic>
      <p:sp>
        <p:nvSpPr>
          <p:cNvPr id="100" name="Google Shape;100;p4"/>
          <p:cNvSpPr/>
          <p:nvPr/>
        </p:nvSpPr>
        <p:spPr>
          <a:xfrm>
            <a:off x="4892040" y="1380744"/>
            <a:ext cx="713232" cy="292608"/>
          </a:xfrm>
          <a:prstGeom prst="roundRect">
            <a:avLst>
              <a:gd fmla="val 25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4"/>
          <p:cNvSpPr txBox="1"/>
          <p:nvPr/>
        </p:nvSpPr>
        <p:spPr>
          <a:xfrm>
            <a:off x="4892040" y="138074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AGENT</a:t>
            </a:r>
            <a:endParaRPr b="0" i="0" sz="1100" u="none" cap="none" strike="noStrike">
              <a:solidFill>
                <a:schemeClr val="dk1"/>
              </a:solidFill>
              <a:latin typeface="Calibri"/>
              <a:ea typeface="Calibri"/>
              <a:cs typeface="Calibri"/>
              <a:sym typeface="Calibri"/>
            </a:endParaRPr>
          </a:p>
        </p:txBody>
      </p:sp>
      <p:sp>
        <p:nvSpPr>
          <p:cNvPr id="102" name="Google Shape;102;p4"/>
          <p:cNvSpPr txBox="1"/>
          <p:nvPr/>
        </p:nvSpPr>
        <p:spPr>
          <a:xfrm>
            <a:off x="5742432" y="132588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Reads one sentence, makes the quote</a:t>
            </a:r>
            <a:endParaRPr b="0" i="0" sz="1400" u="none" cap="none" strike="noStrike">
              <a:solidFill>
                <a:schemeClr val="dk1"/>
              </a:solidFill>
              <a:latin typeface="Calibri"/>
              <a:ea typeface="Calibri"/>
              <a:cs typeface="Calibri"/>
              <a:sym typeface="Calibri"/>
            </a:endParaRPr>
          </a:p>
        </p:txBody>
      </p:sp>
      <p:sp>
        <p:nvSpPr>
          <p:cNvPr id="103" name="Google Shape;103;p4"/>
          <p:cNvSpPr/>
          <p:nvPr/>
        </p:nvSpPr>
        <p:spPr>
          <a:xfrm>
            <a:off x="4892040" y="1929384"/>
            <a:ext cx="713232" cy="292608"/>
          </a:xfrm>
          <a:prstGeom prst="roundRect">
            <a:avLst>
              <a:gd fmla="val 25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4"/>
          <p:cNvSpPr txBox="1"/>
          <p:nvPr/>
        </p:nvSpPr>
        <p:spPr>
          <a:xfrm>
            <a:off x="4892040" y="192938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AGENT</a:t>
            </a:r>
            <a:endParaRPr b="0" i="0" sz="1100" u="none" cap="none" strike="noStrike">
              <a:solidFill>
                <a:schemeClr val="dk1"/>
              </a:solidFill>
              <a:latin typeface="Calibri"/>
              <a:ea typeface="Calibri"/>
              <a:cs typeface="Calibri"/>
              <a:sym typeface="Calibri"/>
            </a:endParaRPr>
          </a:p>
        </p:txBody>
      </p:sp>
      <p:sp>
        <p:nvSpPr>
          <p:cNvPr id="105" name="Google Shape;105;p4"/>
          <p:cNvSpPr txBox="1"/>
          <p:nvPr/>
        </p:nvSpPr>
        <p:spPr>
          <a:xfrm>
            <a:off x="5742432" y="187452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Ranks, plans deadline, checks KYC</a:t>
            </a:r>
            <a:endParaRPr b="0" i="0" sz="1400" u="none" cap="none" strike="noStrike">
              <a:solidFill>
                <a:schemeClr val="dk1"/>
              </a:solidFill>
              <a:latin typeface="Calibri"/>
              <a:ea typeface="Calibri"/>
              <a:cs typeface="Calibri"/>
              <a:sym typeface="Calibri"/>
            </a:endParaRPr>
          </a:p>
        </p:txBody>
      </p:sp>
      <p:sp>
        <p:nvSpPr>
          <p:cNvPr id="106" name="Google Shape;106;p4"/>
          <p:cNvSpPr/>
          <p:nvPr/>
        </p:nvSpPr>
        <p:spPr>
          <a:xfrm>
            <a:off x="4892040" y="2478024"/>
            <a:ext cx="713232" cy="292608"/>
          </a:xfrm>
          <a:prstGeom prst="roundRect">
            <a:avLst>
              <a:gd fmla="val 25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4"/>
          <p:cNvSpPr txBox="1"/>
          <p:nvPr/>
        </p:nvSpPr>
        <p:spPr>
          <a:xfrm>
            <a:off x="4892040" y="247802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YOU</a:t>
            </a:r>
            <a:endParaRPr b="0" i="0" sz="1100" u="none" cap="none" strike="noStrike">
              <a:solidFill>
                <a:schemeClr val="dk1"/>
              </a:solidFill>
              <a:latin typeface="Calibri"/>
              <a:ea typeface="Calibri"/>
              <a:cs typeface="Calibri"/>
              <a:sym typeface="Calibri"/>
            </a:endParaRPr>
          </a:p>
        </p:txBody>
      </p:sp>
      <p:sp>
        <p:nvSpPr>
          <p:cNvPr id="108" name="Google Shape;108;p4"/>
          <p:cNvSpPr txBox="1"/>
          <p:nvPr/>
        </p:nvSpPr>
        <p:spPr>
          <a:xfrm>
            <a:off x="5742432" y="242316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Create a draft, choose recipient</a:t>
            </a:r>
            <a:endParaRPr b="0" i="0" sz="1400" u="none" cap="none" strike="noStrike">
              <a:solidFill>
                <a:schemeClr val="dk1"/>
              </a:solidFill>
              <a:latin typeface="Calibri"/>
              <a:ea typeface="Calibri"/>
              <a:cs typeface="Calibri"/>
              <a:sym typeface="Calibri"/>
            </a:endParaRPr>
          </a:p>
        </p:txBody>
      </p:sp>
      <p:sp>
        <p:nvSpPr>
          <p:cNvPr id="109" name="Google Shape;109;p4"/>
          <p:cNvSpPr/>
          <p:nvPr/>
        </p:nvSpPr>
        <p:spPr>
          <a:xfrm>
            <a:off x="4892040" y="3026664"/>
            <a:ext cx="713232" cy="292608"/>
          </a:xfrm>
          <a:prstGeom prst="roundRect">
            <a:avLst>
              <a:gd fmla="val 25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4"/>
          <p:cNvSpPr txBox="1"/>
          <p:nvPr/>
        </p:nvSpPr>
        <p:spPr>
          <a:xfrm>
            <a:off x="4892040" y="302666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AGENT</a:t>
            </a:r>
            <a:endParaRPr b="0" i="0" sz="1100" u="none" cap="none" strike="noStrike">
              <a:solidFill>
                <a:schemeClr val="dk1"/>
              </a:solidFill>
              <a:latin typeface="Calibri"/>
              <a:ea typeface="Calibri"/>
              <a:cs typeface="Calibri"/>
              <a:sym typeface="Calibri"/>
            </a:endParaRPr>
          </a:p>
        </p:txBody>
      </p:sp>
      <p:sp>
        <p:nvSpPr>
          <p:cNvPr id="111" name="Google Shape;111;p4"/>
          <p:cNvSpPr txBox="1"/>
          <p:nvPr/>
        </p:nvSpPr>
        <p:spPr>
          <a:xfrm>
            <a:off x="5742432" y="297180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Gates: KYC, allowlist, caps</a:t>
            </a:r>
            <a:endParaRPr b="0" i="0" sz="1400" u="none" cap="none" strike="noStrike">
              <a:solidFill>
                <a:schemeClr val="dk1"/>
              </a:solidFill>
              <a:latin typeface="Calibri"/>
              <a:ea typeface="Calibri"/>
              <a:cs typeface="Calibri"/>
              <a:sym typeface="Calibri"/>
            </a:endParaRPr>
          </a:p>
        </p:txBody>
      </p:sp>
      <p:sp>
        <p:nvSpPr>
          <p:cNvPr id="112" name="Google Shape;112;p4"/>
          <p:cNvSpPr/>
          <p:nvPr/>
        </p:nvSpPr>
        <p:spPr>
          <a:xfrm>
            <a:off x="4892040" y="3575304"/>
            <a:ext cx="713232" cy="292608"/>
          </a:xfrm>
          <a:prstGeom prst="roundRect">
            <a:avLst>
              <a:gd fmla="val 25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4"/>
          <p:cNvSpPr txBox="1"/>
          <p:nvPr/>
        </p:nvSpPr>
        <p:spPr>
          <a:xfrm>
            <a:off x="4892040" y="357530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YOU</a:t>
            </a:r>
            <a:endParaRPr b="0" i="0" sz="1100" u="none" cap="none" strike="noStrike">
              <a:solidFill>
                <a:schemeClr val="dk1"/>
              </a:solidFill>
              <a:latin typeface="Calibri"/>
              <a:ea typeface="Calibri"/>
              <a:cs typeface="Calibri"/>
              <a:sym typeface="Calibri"/>
            </a:endParaRPr>
          </a:p>
        </p:txBody>
      </p:sp>
      <p:sp>
        <p:nvSpPr>
          <p:cNvPr id="114" name="Google Shape;114;p4"/>
          <p:cNvSpPr txBox="1"/>
          <p:nvPr/>
        </p:nvSpPr>
        <p:spPr>
          <a:xfrm>
            <a:off x="5742432" y="352044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Approve with a fresh MFA code</a:t>
            </a:r>
            <a:endParaRPr b="0" i="0" sz="1400" u="none" cap="none" strike="noStrike">
              <a:solidFill>
                <a:schemeClr val="dk1"/>
              </a:solidFill>
              <a:latin typeface="Calibri"/>
              <a:ea typeface="Calibri"/>
              <a:cs typeface="Calibri"/>
              <a:sym typeface="Calibri"/>
            </a:endParaRPr>
          </a:p>
        </p:txBody>
      </p:sp>
      <p:sp>
        <p:nvSpPr>
          <p:cNvPr id="115" name="Google Shape;115;p4"/>
          <p:cNvSpPr/>
          <p:nvPr/>
        </p:nvSpPr>
        <p:spPr>
          <a:xfrm>
            <a:off x="4892040" y="4123944"/>
            <a:ext cx="713232" cy="292608"/>
          </a:xfrm>
          <a:prstGeom prst="roundRect">
            <a:avLst>
              <a:gd fmla="val 25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4"/>
          <p:cNvSpPr txBox="1"/>
          <p:nvPr/>
        </p:nvSpPr>
        <p:spPr>
          <a:xfrm>
            <a:off x="4892040" y="4123944"/>
            <a:ext cx="713232"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100"/>
              <a:buFont typeface="Calibri"/>
              <a:buNone/>
            </a:pPr>
            <a:r>
              <a:rPr b="1" i="0" lang="en-US" sz="1100" u="none" cap="none" strike="noStrike">
                <a:solidFill>
                  <a:schemeClr val="lt1"/>
                </a:solidFill>
                <a:latin typeface="Calibri"/>
                <a:ea typeface="Calibri"/>
                <a:cs typeface="Calibri"/>
                <a:sym typeface="Calibri"/>
              </a:rPr>
              <a:t>AGENT</a:t>
            </a:r>
            <a:endParaRPr b="0" i="0" sz="1100" u="none" cap="none" strike="noStrike">
              <a:solidFill>
                <a:schemeClr val="dk1"/>
              </a:solidFill>
              <a:latin typeface="Calibri"/>
              <a:ea typeface="Calibri"/>
              <a:cs typeface="Calibri"/>
              <a:sym typeface="Calibri"/>
            </a:endParaRPr>
          </a:p>
        </p:txBody>
      </p:sp>
      <p:sp>
        <p:nvSpPr>
          <p:cNvPr id="117" name="Google Shape;117;p4"/>
          <p:cNvSpPr txBox="1"/>
          <p:nvPr/>
        </p:nvSpPr>
        <p:spPr>
          <a:xfrm>
            <a:off x="5742432" y="4069080"/>
            <a:ext cx="297180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0" i="0" lang="en-US" sz="1400" u="none" cap="none" strike="noStrike">
                <a:solidFill>
                  <a:schemeClr val="dk1"/>
                </a:solidFill>
                <a:latin typeface="Calibri"/>
                <a:ea typeface="Calibri"/>
                <a:cs typeface="Calibri"/>
                <a:sym typeface="Calibri"/>
              </a:rPr>
              <a:t>Tracks to SETTLED, seals a report</a:t>
            </a:r>
            <a:endParaRPr b="0" i="0" sz="1400" u="none" cap="none" strike="noStrike">
              <a:solidFill>
                <a:schemeClr val="dk1"/>
              </a:solidFill>
              <a:latin typeface="Calibri"/>
              <a:ea typeface="Calibri"/>
              <a:cs typeface="Calibri"/>
              <a:sym typeface="Calibri"/>
            </a:endParaRPr>
          </a:p>
        </p:txBody>
      </p:sp>
      <p:sp>
        <p:nvSpPr>
          <p:cNvPr id="118" name="Google Shape;118;p4"/>
          <p:cNvSpPr txBox="1"/>
          <p:nvPr/>
        </p:nvSpPr>
        <p:spPr>
          <a:xfrm>
            <a:off x="4892040" y="4572000"/>
            <a:ext cx="38404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AGENT: StudyRoute does it. YOU: a person decides.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5"/>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Live: comparing providers</a:t>
            </a:r>
            <a:endParaRPr sz="3600"/>
          </a:p>
        </p:txBody>
      </p:sp>
      <p:sp>
        <p:nvSpPr>
          <p:cNvPr id="125" name="Google Shape;125;p5"/>
          <p:cNvSpPr/>
          <p:nvPr/>
        </p:nvSpPr>
        <p:spPr>
          <a:xfrm>
            <a:off x="384048" y="1161288"/>
            <a:ext cx="5358384" cy="3221234"/>
          </a:xfrm>
          <a:prstGeom prst="roundRect">
            <a:avLst>
              <a:gd fmla="val 1703"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site ranking three providers for GBP 10,000 by true total cost" id="126" name="Google Shape;126;p5"/>
          <p:cNvPicPr preferRelativeResize="0"/>
          <p:nvPr/>
        </p:nvPicPr>
        <p:blipFill rotWithShape="1">
          <a:blip r:embed="rId3">
            <a:alphaModFix/>
          </a:blip>
          <a:srcRect b="0" l="0" r="0" t="0"/>
          <a:stretch/>
        </p:blipFill>
        <p:spPr>
          <a:xfrm>
            <a:off x="457200" y="1234440"/>
            <a:ext cx="5212080" cy="3074930"/>
          </a:xfrm>
          <a:prstGeom prst="rect">
            <a:avLst/>
          </a:prstGeom>
          <a:noFill/>
          <a:ln>
            <a:noFill/>
          </a:ln>
        </p:spPr>
      </p:pic>
      <p:sp>
        <p:nvSpPr>
          <p:cNvPr id="127" name="Google Shape;127;p5"/>
          <p:cNvSpPr txBox="1"/>
          <p:nvPr/>
        </p:nvSpPr>
        <p:spPr>
          <a:xfrm>
            <a:off x="457200" y="4437386"/>
            <a:ext cx="521208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studyroute.bot-keep.xyz, GBP 10,000 UK tuition, run on 19 Oct 2026. Synthetic rates and fees.</a:t>
            </a:r>
            <a:endParaRPr b="0" i="0" sz="1000" u="none" cap="none" strike="noStrike">
              <a:solidFill>
                <a:schemeClr val="dk1"/>
              </a:solidFill>
              <a:latin typeface="Calibri"/>
              <a:ea typeface="Calibri"/>
              <a:cs typeface="Calibri"/>
              <a:sym typeface="Calibri"/>
            </a:endParaRPr>
          </a:p>
        </p:txBody>
      </p:sp>
      <p:sp>
        <p:nvSpPr>
          <p:cNvPr id="128" name="Google Shape;128;p5"/>
          <p:cNvSpPr txBox="1"/>
          <p:nvPr/>
        </p:nvSpPr>
        <p:spPr>
          <a:xfrm>
            <a:off x="5943600" y="1234440"/>
            <a:ext cx="27432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1" i="0" lang="en-US" sz="1300" u="none" cap="none" strike="noStrike">
                <a:solidFill>
                  <a:schemeClr val="dk1"/>
                </a:solidFill>
                <a:latin typeface="Calibri"/>
                <a:ea typeface="Calibri"/>
                <a:cs typeface="Calibri"/>
                <a:sym typeface="Calibri"/>
              </a:rPr>
              <a:t>True total cost, as a share of the amount</a:t>
            </a:r>
            <a:endParaRPr b="0" i="0" sz="1300" u="none" cap="none" strike="noStrike">
              <a:solidFill>
                <a:schemeClr val="dk1"/>
              </a:solidFill>
              <a:latin typeface="Calibri"/>
              <a:ea typeface="Calibri"/>
              <a:cs typeface="Calibri"/>
              <a:sym typeface="Calibri"/>
            </a:endParaRPr>
          </a:p>
        </p:txBody>
      </p:sp>
      <p:sp>
        <p:nvSpPr>
          <p:cNvPr id="129" name="Google Shape;129;p5"/>
          <p:cNvSpPr txBox="1"/>
          <p:nvPr/>
        </p:nvSpPr>
        <p:spPr>
          <a:xfrm>
            <a:off x="5943600" y="1783080"/>
            <a:ext cx="2743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B</a:t>
            </a:r>
            <a:endParaRPr b="0" i="0" sz="1300" u="none" cap="none" strike="noStrike">
              <a:solidFill>
                <a:schemeClr val="dk1"/>
              </a:solidFill>
              <a:latin typeface="Calibri"/>
              <a:ea typeface="Calibri"/>
              <a:cs typeface="Calibri"/>
              <a:sym typeface="Calibri"/>
            </a:endParaRPr>
          </a:p>
        </p:txBody>
      </p:sp>
      <p:sp>
        <p:nvSpPr>
          <p:cNvPr id="130" name="Google Shape;130;p5"/>
          <p:cNvSpPr/>
          <p:nvPr/>
        </p:nvSpPr>
        <p:spPr>
          <a:xfrm>
            <a:off x="6309360" y="1929384"/>
            <a:ext cx="963168" cy="274320"/>
          </a:xfrm>
          <a:prstGeom prst="roundRect">
            <a:avLst>
              <a:gd fmla="val 1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5"/>
          <p:cNvSpPr txBox="1"/>
          <p:nvPr/>
        </p:nvSpPr>
        <p:spPr>
          <a:xfrm>
            <a:off x="7345680" y="1929384"/>
            <a:ext cx="1097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1.58%</a:t>
            </a:r>
            <a:endParaRPr b="0" i="0" sz="1200" u="none" cap="none" strike="noStrike">
              <a:solidFill>
                <a:schemeClr val="dk1"/>
              </a:solidFill>
              <a:latin typeface="Calibri"/>
              <a:ea typeface="Calibri"/>
              <a:cs typeface="Calibri"/>
              <a:sym typeface="Calibri"/>
            </a:endParaRPr>
          </a:p>
        </p:txBody>
      </p:sp>
      <p:sp>
        <p:nvSpPr>
          <p:cNvPr id="132" name="Google Shape;132;p5"/>
          <p:cNvSpPr txBox="1"/>
          <p:nvPr/>
        </p:nvSpPr>
        <p:spPr>
          <a:xfrm>
            <a:off x="5943600" y="2350008"/>
            <a:ext cx="2743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C</a:t>
            </a:r>
            <a:endParaRPr b="0" i="0" sz="1300" u="none" cap="none" strike="noStrike">
              <a:solidFill>
                <a:schemeClr val="dk1"/>
              </a:solidFill>
              <a:latin typeface="Calibri"/>
              <a:ea typeface="Calibri"/>
              <a:cs typeface="Calibri"/>
              <a:sym typeface="Calibri"/>
            </a:endParaRPr>
          </a:p>
        </p:txBody>
      </p:sp>
      <p:sp>
        <p:nvSpPr>
          <p:cNvPr id="133" name="Google Shape;133;p5"/>
          <p:cNvSpPr/>
          <p:nvPr/>
        </p:nvSpPr>
        <p:spPr>
          <a:xfrm>
            <a:off x="6309360" y="2496312"/>
            <a:ext cx="993648" cy="274320"/>
          </a:xfrm>
          <a:prstGeom prst="roundRect">
            <a:avLst>
              <a:gd fmla="val 10000"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5"/>
          <p:cNvSpPr txBox="1"/>
          <p:nvPr/>
        </p:nvSpPr>
        <p:spPr>
          <a:xfrm>
            <a:off x="7376160" y="2496312"/>
            <a:ext cx="1097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1.63%</a:t>
            </a:r>
            <a:endParaRPr b="0" i="0" sz="1200" u="none" cap="none" strike="noStrike">
              <a:solidFill>
                <a:schemeClr val="dk1"/>
              </a:solidFill>
              <a:latin typeface="Calibri"/>
              <a:ea typeface="Calibri"/>
              <a:cs typeface="Calibri"/>
              <a:sym typeface="Calibri"/>
            </a:endParaRPr>
          </a:p>
        </p:txBody>
      </p:sp>
      <p:sp>
        <p:nvSpPr>
          <p:cNvPr id="135" name="Google Shape;135;p5"/>
          <p:cNvSpPr txBox="1"/>
          <p:nvPr/>
        </p:nvSpPr>
        <p:spPr>
          <a:xfrm>
            <a:off x="5943600" y="2916936"/>
            <a:ext cx="27432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0" i="0" lang="en-US" sz="1300" u="none" cap="none" strike="noStrike">
                <a:solidFill>
                  <a:schemeClr val="dk1"/>
                </a:solidFill>
                <a:latin typeface="Calibri"/>
                <a:ea typeface="Calibri"/>
                <a:cs typeface="Calibri"/>
                <a:sym typeface="Calibri"/>
              </a:rPr>
              <a:t>A</a:t>
            </a:r>
            <a:endParaRPr b="0" i="0" sz="1300" u="none" cap="none" strike="noStrike">
              <a:solidFill>
                <a:schemeClr val="dk1"/>
              </a:solidFill>
              <a:latin typeface="Calibri"/>
              <a:ea typeface="Calibri"/>
              <a:cs typeface="Calibri"/>
              <a:sym typeface="Calibri"/>
            </a:endParaRPr>
          </a:p>
        </p:txBody>
      </p:sp>
      <p:sp>
        <p:nvSpPr>
          <p:cNvPr id="136" name="Google Shape;136;p5"/>
          <p:cNvSpPr/>
          <p:nvPr/>
        </p:nvSpPr>
        <p:spPr>
          <a:xfrm>
            <a:off x="6309360" y="3063240"/>
            <a:ext cx="1316736" cy="274320"/>
          </a:xfrm>
          <a:prstGeom prst="roundRect">
            <a:avLst>
              <a:gd fmla="val 10000" name="adj"/>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txBox="1"/>
          <p:nvPr/>
        </p:nvSpPr>
        <p:spPr>
          <a:xfrm>
            <a:off x="7699248" y="3063240"/>
            <a:ext cx="10972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2.16%</a:t>
            </a:r>
            <a:endParaRPr b="0" i="0" sz="1200" u="none" cap="none" strike="noStrike">
              <a:solidFill>
                <a:schemeClr val="dk1"/>
              </a:solidFill>
              <a:latin typeface="Calibri"/>
              <a:ea typeface="Calibri"/>
              <a:cs typeface="Calibri"/>
              <a:sym typeface="Calibri"/>
            </a:endParaRPr>
          </a:p>
        </p:txBody>
      </p:sp>
      <p:sp>
        <p:nvSpPr>
          <p:cNvPr id="138" name="Google Shape;138;p5"/>
          <p:cNvSpPr txBox="1"/>
          <p:nvPr/>
        </p:nvSpPr>
        <p:spPr>
          <a:xfrm>
            <a:off x="5943600" y="3611880"/>
            <a:ext cx="274320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C looks nearly as cheap, </a:t>
            </a:r>
            <a:r>
              <a:rPr b="0" i="0" lang="en-US" sz="1200" u="none" cap="none" strike="noStrike">
                <a:solidFill>
                  <a:schemeClr val="dk1"/>
                </a:solidFill>
                <a:latin typeface="Calibri"/>
                <a:ea typeface="Calibri"/>
                <a:cs typeface="Calibri"/>
                <a:sym typeface="Calibri"/>
              </a:rPr>
              <a:t>but it is quoted as SHA: the university would receive GBP 35 less than the invoice.</a:t>
            </a:r>
            <a:endParaRPr b="0" i="0" sz="1200" u="none" cap="none" strike="noStrike">
              <a:solidFill>
                <a:schemeClr val="dk1"/>
              </a:solidFill>
              <a:latin typeface="Calibri"/>
              <a:ea typeface="Calibri"/>
              <a:cs typeface="Calibri"/>
              <a:sym typeface="Calibri"/>
            </a:endParaRPr>
          </a:p>
        </p:txBody>
      </p:sp>
      <p:sp>
        <p:nvSpPr>
          <p:cNvPr id="139" name="Google Shape;139;p5"/>
          <p:cNvSpPr txBox="1"/>
          <p:nvPr/>
        </p:nvSpPr>
        <p:spPr>
          <a:xfrm>
            <a:off x="5943600" y="4434840"/>
            <a:ext cx="274320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Same figures as test T01.</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6"/>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The engine does the maths</a:t>
            </a:r>
            <a:endParaRPr sz="3600"/>
          </a:p>
        </p:txBody>
      </p:sp>
      <p:graphicFrame>
        <p:nvGraphicFramePr>
          <p:cNvPr id="146" name="Google Shape;146;p6"/>
          <p:cNvGraphicFramePr/>
          <p:nvPr/>
        </p:nvGraphicFramePr>
        <p:xfrm>
          <a:off x="457200" y="1280160"/>
          <a:ext cx="3000000" cy="3000000"/>
        </p:xfrm>
        <a:graphic>
          <a:graphicData uri="http://schemas.openxmlformats.org/drawingml/2006/table">
            <a:tbl>
              <a:tblPr>
                <a:noFill/>
                <a:tableStyleId>{9FCBD0EA-42DF-4A38-8C5C-F2C40DA175B8}</a:tableStyleId>
              </a:tblPr>
              <a:tblGrid>
                <a:gridCol w="868675"/>
                <a:gridCol w="685800"/>
                <a:gridCol w="1005850"/>
                <a:gridCol w="777250"/>
                <a:gridCol w="1508750"/>
              </a:tblGrid>
              <a:tr h="457200">
                <a:tc>
                  <a:txBody>
                    <a:bodyPr/>
                    <a:lstStyle/>
                    <a:p>
                      <a:pPr indent="0" lvl="0" marL="0" marR="0" rtl="0" algn="l">
                        <a:spcBef>
                          <a:spcPts val="0"/>
                        </a:spcBef>
                        <a:spcAft>
                          <a:spcPts val="0"/>
                        </a:spcAft>
                        <a:buClr>
                          <a:schemeClr val="lt1"/>
                        </a:buClr>
                        <a:buSzPts val="1400"/>
                        <a:buFont typeface="Calibri"/>
                        <a:buNone/>
                      </a:pPr>
                      <a:r>
                        <a:rPr b="1" lang="en-US" sz="1400" u="none" cap="none" strike="noStrike">
                          <a:solidFill>
                            <a:schemeClr val="lt1"/>
                          </a:solidFill>
                        </a:rPr>
                        <a:t>Provider</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400"/>
                        <a:buFont typeface="Calibri"/>
                        <a:buNone/>
                      </a:pPr>
                      <a:r>
                        <a:rPr b="1" lang="en-US" sz="1400" u="none" cap="none" strike="noStrike">
                          <a:solidFill>
                            <a:schemeClr val="lt1"/>
                          </a:solidFill>
                        </a:rPr>
                        <a:t>Charge</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400"/>
                        <a:buFont typeface="Calibri"/>
                        <a:buNone/>
                      </a:pPr>
                      <a:r>
                        <a:rPr b="1" lang="en-US" sz="1400" u="none" cap="none" strike="noStrike">
                          <a:solidFill>
                            <a:schemeClr val="lt1"/>
                          </a:solidFill>
                        </a:rPr>
                        <a:t>Shortfall</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400"/>
                        <a:buFont typeface="Calibri"/>
                        <a:buNone/>
                      </a:pPr>
                      <a:r>
                        <a:rPr b="1" lang="en-US" sz="1400" u="none" cap="none" strike="noStrike">
                          <a:solidFill>
                            <a:schemeClr val="lt1"/>
                          </a:solidFill>
                        </a:rPr>
                        <a:t>Cost %</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400"/>
                        <a:buFont typeface="Calibri"/>
                        <a:buNone/>
                      </a:pPr>
                      <a:r>
                        <a:rPr b="1" lang="en-US" sz="1400" u="none" cap="none" strike="noStrike">
                          <a:solidFill>
                            <a:schemeClr val="lt1"/>
                          </a:solidFill>
                        </a:rPr>
                        <a:t>You pay</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r>
              <a:tr h="45720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B (1st)</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OUR</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none</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1.58%</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BDT 1,625,300</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45720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C (2nd)</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SHA</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accent3"/>
                        </a:buClr>
                        <a:buSzPts val="1400"/>
                        <a:buFont typeface="Calibri"/>
                        <a:buNone/>
                      </a:pPr>
                      <a:r>
                        <a:rPr b="1" lang="en-US" sz="1400" u="none" cap="none" strike="noStrike">
                          <a:solidFill>
                            <a:schemeClr val="accent3"/>
                          </a:solidFill>
                        </a:rPr>
                        <a:t>GBP 35</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1.63%</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BDT 1,620,500</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r h="45720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A (3rd)</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OUR</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none</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2.16%</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BDT 1,634,500</a:t>
                      </a:r>
                      <a:endParaRPr sz="14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bl>
          </a:graphicData>
        </a:graphic>
      </p:graphicFrame>
      <p:sp>
        <p:nvSpPr>
          <p:cNvPr id="147" name="Google Shape;147;p6"/>
          <p:cNvSpPr txBox="1"/>
          <p:nvPr/>
        </p:nvSpPr>
        <p:spPr>
          <a:xfrm>
            <a:off x="457200" y="3291840"/>
            <a:ext cx="48463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Cost % = (FX margin + fixed fee + SWIFT fee + fees you pay + shortfall) / amount at the mid-market rate</a:t>
            </a:r>
            <a:endParaRPr b="0" i="0" sz="1200" u="none" cap="none" strike="noStrike">
              <a:solidFill>
                <a:schemeClr val="dk1"/>
              </a:solidFill>
              <a:latin typeface="Calibri"/>
              <a:ea typeface="Calibri"/>
              <a:cs typeface="Calibri"/>
              <a:sym typeface="Calibri"/>
            </a:endParaRPr>
          </a:p>
        </p:txBody>
      </p:sp>
      <p:sp>
        <p:nvSpPr>
          <p:cNvPr id="148" name="Google Shape;148;p6"/>
          <p:cNvSpPr txBox="1"/>
          <p:nvPr/>
        </p:nvSpPr>
        <p:spPr>
          <a:xfrm>
            <a:off x="457200" y="3977640"/>
            <a:ext cx="484632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Smart send plan: the same GBP 12,000 costs BDT 68,400 sent monthly and BDT 28,500 sent at once. A saving of BDT 39,900 against sending monthly (synthetic). Also: the cheapest that arrives before the due date, and a currency-drop stress test. Synthetic rates.</a:t>
            </a:r>
            <a:endParaRPr b="0" i="0" sz="1200" u="none" cap="none" strike="noStrike">
              <a:solidFill>
                <a:schemeClr val="dk1"/>
              </a:solidFill>
              <a:latin typeface="Calibri"/>
              <a:ea typeface="Calibri"/>
              <a:cs typeface="Calibri"/>
              <a:sym typeface="Calibri"/>
            </a:endParaRPr>
          </a:p>
        </p:txBody>
      </p:sp>
      <p:sp>
        <p:nvSpPr>
          <p:cNvPr id="149" name="Google Shape;149;p6"/>
          <p:cNvSpPr txBox="1"/>
          <p:nvPr/>
        </p:nvSpPr>
        <p:spPr>
          <a:xfrm>
            <a:off x="5577840" y="1234440"/>
            <a:ext cx="31089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Where Provider B's BDT 25,300 goes</a:t>
            </a:r>
            <a:endParaRPr b="0" i="0" sz="1400" u="none" cap="none" strike="noStrike">
              <a:solidFill>
                <a:schemeClr val="dk1"/>
              </a:solidFill>
              <a:latin typeface="Calibri"/>
              <a:ea typeface="Calibri"/>
              <a:cs typeface="Calibri"/>
              <a:sym typeface="Calibri"/>
            </a:endParaRPr>
          </a:p>
        </p:txBody>
      </p:sp>
      <p:graphicFrame>
        <p:nvGraphicFramePr>
          <p:cNvPr id="150" name="Google Shape;150;p6"/>
          <p:cNvGraphicFramePr/>
          <p:nvPr/>
        </p:nvGraphicFramePr>
        <p:xfrm>
          <a:off x="6035040" y="1737360"/>
          <a:ext cx="1920240" cy="1920240"/>
        </p:xfrm>
        <a:graphic>
          <a:graphicData uri="http://schemas.openxmlformats.org/drawingml/2006/chart">
            <c:chart r:id="rId3"/>
          </a:graphicData>
        </a:graphic>
      </p:graphicFrame>
      <p:sp>
        <p:nvSpPr>
          <p:cNvPr id="151" name="Google Shape;151;p6"/>
          <p:cNvSpPr txBox="1"/>
          <p:nvPr/>
        </p:nvSpPr>
        <p:spPr>
          <a:xfrm>
            <a:off x="6035040" y="2423160"/>
            <a:ext cx="19202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BDT 25,300</a:t>
            </a:r>
            <a:endParaRPr b="0" i="0" sz="1400" u="none" cap="none" strike="noStrike">
              <a:solidFill>
                <a:schemeClr val="dk1"/>
              </a:solidFill>
              <a:latin typeface="Calibri"/>
              <a:ea typeface="Calibri"/>
              <a:cs typeface="Calibri"/>
              <a:sym typeface="Calibri"/>
            </a:endParaRPr>
          </a:p>
        </p:txBody>
      </p:sp>
      <p:sp>
        <p:nvSpPr>
          <p:cNvPr id="152" name="Google Shape;152;p6"/>
          <p:cNvSpPr/>
          <p:nvPr/>
        </p:nvSpPr>
        <p:spPr>
          <a:xfrm>
            <a:off x="5577840" y="3931920"/>
            <a:ext cx="146304" cy="14630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6"/>
          <p:cNvSpPr txBox="1"/>
          <p:nvPr/>
        </p:nvSpPr>
        <p:spPr>
          <a:xfrm>
            <a:off x="5797296" y="3840480"/>
            <a:ext cx="13716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FX margin 63%</a:t>
            </a:r>
            <a:endParaRPr b="0" i="0" sz="1200" u="none" cap="none" strike="noStrike">
              <a:solidFill>
                <a:schemeClr val="dk1"/>
              </a:solidFill>
              <a:latin typeface="Calibri"/>
              <a:ea typeface="Calibri"/>
              <a:cs typeface="Calibri"/>
              <a:sym typeface="Calibri"/>
            </a:endParaRPr>
          </a:p>
        </p:txBody>
      </p:sp>
      <p:sp>
        <p:nvSpPr>
          <p:cNvPr id="154" name="Google Shape;154;p6"/>
          <p:cNvSpPr/>
          <p:nvPr/>
        </p:nvSpPr>
        <p:spPr>
          <a:xfrm>
            <a:off x="7178040" y="3931920"/>
            <a:ext cx="146304" cy="146304"/>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7397496" y="3840480"/>
            <a:ext cx="13716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Fixed fee 12%</a:t>
            </a:r>
            <a:endParaRPr b="0" i="0" sz="1200" u="none" cap="none" strike="noStrike">
              <a:solidFill>
                <a:schemeClr val="dk1"/>
              </a:solidFill>
              <a:latin typeface="Calibri"/>
              <a:ea typeface="Calibri"/>
              <a:cs typeface="Calibri"/>
              <a:sym typeface="Calibri"/>
            </a:endParaRPr>
          </a:p>
        </p:txBody>
      </p:sp>
      <p:sp>
        <p:nvSpPr>
          <p:cNvPr id="156" name="Google Shape;156;p6"/>
          <p:cNvSpPr/>
          <p:nvPr/>
        </p:nvSpPr>
        <p:spPr>
          <a:xfrm>
            <a:off x="5577840" y="4343400"/>
            <a:ext cx="146304" cy="146304"/>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6"/>
          <p:cNvSpPr txBox="1"/>
          <p:nvPr/>
        </p:nvSpPr>
        <p:spPr>
          <a:xfrm>
            <a:off x="5797296" y="4251960"/>
            <a:ext cx="13716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SWIFT fee 6%</a:t>
            </a:r>
            <a:endParaRPr b="0" i="0" sz="1200" u="none" cap="none" strike="noStrike">
              <a:solidFill>
                <a:schemeClr val="dk1"/>
              </a:solidFill>
              <a:latin typeface="Calibri"/>
              <a:ea typeface="Calibri"/>
              <a:cs typeface="Calibri"/>
              <a:sym typeface="Calibri"/>
            </a:endParaRPr>
          </a:p>
        </p:txBody>
      </p:sp>
      <p:sp>
        <p:nvSpPr>
          <p:cNvPr id="158" name="Google Shape;158;p6"/>
          <p:cNvSpPr/>
          <p:nvPr/>
        </p:nvSpPr>
        <p:spPr>
          <a:xfrm>
            <a:off x="7178040" y="4343400"/>
            <a:ext cx="146304" cy="146304"/>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6"/>
          <p:cNvSpPr txBox="1"/>
          <p:nvPr/>
        </p:nvSpPr>
        <p:spPr>
          <a:xfrm>
            <a:off x="7397496" y="4251960"/>
            <a:ext cx="137160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OUR fees 19%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7"/>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Live: one sentence, read back</a:t>
            </a:r>
            <a:endParaRPr sz="3600"/>
          </a:p>
        </p:txBody>
      </p:sp>
      <p:sp>
        <p:nvSpPr>
          <p:cNvPr id="166" name="Google Shape;166;p7"/>
          <p:cNvSpPr/>
          <p:nvPr/>
        </p:nvSpPr>
        <p:spPr>
          <a:xfrm>
            <a:off x="384048" y="1161288"/>
            <a:ext cx="3072384" cy="3412018"/>
          </a:xfrm>
          <a:prstGeom prst="roundRect">
            <a:avLst>
              <a:gd fmla="val 1786"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assistant reading a request back before it plans" id="167" name="Google Shape;167;p7"/>
          <p:cNvPicPr preferRelativeResize="0"/>
          <p:nvPr/>
        </p:nvPicPr>
        <p:blipFill rotWithShape="1">
          <a:blip r:embed="rId3">
            <a:alphaModFix/>
          </a:blip>
          <a:srcRect b="0" l="0" r="0" t="0"/>
          <a:stretch/>
        </p:blipFill>
        <p:spPr>
          <a:xfrm>
            <a:off x="457200" y="1234440"/>
            <a:ext cx="2926080" cy="3265714"/>
          </a:xfrm>
          <a:prstGeom prst="rect">
            <a:avLst/>
          </a:prstGeom>
          <a:noFill/>
          <a:ln>
            <a:noFill/>
          </a:ln>
        </p:spPr>
      </p:pic>
      <p:sp>
        <p:nvSpPr>
          <p:cNvPr id="168" name="Google Shape;168;p7"/>
          <p:cNvSpPr txBox="1"/>
          <p:nvPr/>
        </p:nvSpPr>
        <p:spPr>
          <a:xfrm>
            <a:off x="457200" y="4628170"/>
            <a:ext cx="292608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Live, 19 Oct 2026: the assistant panel</a:t>
            </a:r>
            <a:endParaRPr b="0" i="0" sz="1000" u="none" cap="none" strike="noStrike">
              <a:solidFill>
                <a:schemeClr val="dk1"/>
              </a:solidFill>
              <a:latin typeface="Calibri"/>
              <a:ea typeface="Calibri"/>
              <a:cs typeface="Calibri"/>
              <a:sym typeface="Calibri"/>
            </a:endParaRPr>
          </a:p>
        </p:txBody>
      </p:sp>
      <p:sp>
        <p:nvSpPr>
          <p:cNvPr id="169" name="Google Shape;169;p7"/>
          <p:cNvSpPr/>
          <p:nvPr/>
        </p:nvSpPr>
        <p:spPr>
          <a:xfrm>
            <a:off x="3538728" y="1161288"/>
            <a:ext cx="2752344" cy="3353349"/>
          </a:xfrm>
          <a:prstGeom prst="roundRect">
            <a:avLst>
              <a:gd fmla="val 1993"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deadline planner working back from the due date" id="170" name="Google Shape;170;p7"/>
          <p:cNvPicPr preferRelativeResize="0"/>
          <p:nvPr/>
        </p:nvPicPr>
        <p:blipFill rotWithShape="1">
          <a:blip r:embed="rId4">
            <a:alphaModFix/>
          </a:blip>
          <a:srcRect b="0" l="0" r="0" t="0"/>
          <a:stretch/>
        </p:blipFill>
        <p:spPr>
          <a:xfrm>
            <a:off x="3611880" y="1234440"/>
            <a:ext cx="2606040" cy="3207045"/>
          </a:xfrm>
          <a:prstGeom prst="rect">
            <a:avLst/>
          </a:prstGeom>
          <a:noFill/>
          <a:ln>
            <a:noFill/>
          </a:ln>
        </p:spPr>
      </p:pic>
      <p:sp>
        <p:nvSpPr>
          <p:cNvPr id="171" name="Google Shape;171;p7"/>
          <p:cNvSpPr txBox="1"/>
          <p:nvPr/>
        </p:nvSpPr>
        <p:spPr>
          <a:xfrm>
            <a:off x="3611880" y="4569501"/>
            <a:ext cx="26060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Live deadline planner: due 1 Nov, send by 22 Oct, two calendars.</a:t>
            </a:r>
            <a:endParaRPr b="0" i="0" sz="1000" u="none" cap="none" strike="noStrike">
              <a:solidFill>
                <a:schemeClr val="dk1"/>
              </a:solidFill>
              <a:latin typeface="Calibri"/>
              <a:ea typeface="Calibri"/>
              <a:cs typeface="Calibri"/>
              <a:sym typeface="Calibri"/>
            </a:endParaRPr>
          </a:p>
        </p:txBody>
      </p:sp>
      <p:sp>
        <p:nvSpPr>
          <p:cNvPr id="172" name="Google Shape;172;p7"/>
          <p:cNvSpPr/>
          <p:nvPr/>
        </p:nvSpPr>
        <p:spPr>
          <a:xfrm>
            <a:off x="6492240" y="1234440"/>
            <a:ext cx="2194560" cy="1005840"/>
          </a:xfrm>
          <a:prstGeom prst="roundRect">
            <a:avLst>
              <a:gd fmla="val 727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p:nvPr/>
        </p:nvSpPr>
        <p:spPr>
          <a:xfrm>
            <a:off x="6492240" y="1234440"/>
            <a:ext cx="64008" cy="100584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7"/>
          <p:cNvSpPr txBox="1"/>
          <p:nvPr/>
        </p:nvSpPr>
        <p:spPr>
          <a:xfrm>
            <a:off x="6656832" y="1289304"/>
            <a:ext cx="197510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1  The reader proposes</a:t>
            </a:r>
            <a:endParaRPr b="0" i="0" sz="1200" u="none" cap="none" strike="noStrike">
              <a:solidFill>
                <a:schemeClr val="dk1"/>
              </a:solidFill>
              <a:latin typeface="Calibri"/>
              <a:ea typeface="Calibri"/>
              <a:cs typeface="Calibri"/>
              <a:sym typeface="Calibri"/>
            </a:endParaRPr>
          </a:p>
        </p:txBody>
      </p:sp>
      <p:sp>
        <p:nvSpPr>
          <p:cNvPr id="175" name="Google Shape;175;p7"/>
          <p:cNvSpPr txBox="1"/>
          <p:nvPr/>
        </p:nvSpPr>
        <p:spPr>
          <a:xfrm>
            <a:off x="6656832" y="1581912"/>
            <a:ext cx="197510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It marks the amount, currency and date. Plain code turns them into values.</a:t>
            </a:r>
            <a:endParaRPr b="0" i="0" sz="1000" u="none" cap="none" strike="noStrike">
              <a:solidFill>
                <a:schemeClr val="dk1"/>
              </a:solidFill>
              <a:latin typeface="Calibri"/>
              <a:ea typeface="Calibri"/>
              <a:cs typeface="Calibri"/>
              <a:sym typeface="Calibri"/>
            </a:endParaRPr>
          </a:p>
        </p:txBody>
      </p:sp>
      <p:sp>
        <p:nvSpPr>
          <p:cNvPr id="176" name="Google Shape;176;p7"/>
          <p:cNvSpPr/>
          <p:nvPr/>
        </p:nvSpPr>
        <p:spPr>
          <a:xfrm>
            <a:off x="6492240" y="2331720"/>
            <a:ext cx="2194560" cy="1005840"/>
          </a:xfrm>
          <a:prstGeom prst="roundRect">
            <a:avLst>
              <a:gd fmla="val 727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7"/>
          <p:cNvSpPr/>
          <p:nvPr/>
        </p:nvSpPr>
        <p:spPr>
          <a:xfrm>
            <a:off x="6492240" y="2331720"/>
            <a:ext cx="64008" cy="100584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7"/>
          <p:cNvSpPr txBox="1"/>
          <p:nvPr/>
        </p:nvSpPr>
        <p:spPr>
          <a:xfrm>
            <a:off x="6656832" y="2386584"/>
            <a:ext cx="197510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2  You read it back</a:t>
            </a:r>
            <a:endParaRPr b="0" i="0" sz="1200" u="none" cap="none" strike="noStrike">
              <a:solidFill>
                <a:schemeClr val="dk1"/>
              </a:solidFill>
              <a:latin typeface="Calibri"/>
              <a:ea typeface="Calibri"/>
              <a:cs typeface="Calibri"/>
              <a:sym typeface="Calibri"/>
            </a:endParaRPr>
          </a:p>
        </p:txBody>
      </p:sp>
      <p:sp>
        <p:nvSpPr>
          <p:cNvPr id="179" name="Google Shape;179;p7"/>
          <p:cNvSpPr txBox="1"/>
          <p:nvPr/>
        </p:nvSpPr>
        <p:spPr>
          <a:xfrm>
            <a:off x="6656832" y="2679192"/>
            <a:ext cx="197510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Mandatory: say yes, or tell it what to change.</a:t>
            </a:r>
            <a:endParaRPr b="0" i="0" sz="1000" u="none" cap="none" strike="noStrike">
              <a:solidFill>
                <a:schemeClr val="dk1"/>
              </a:solidFill>
              <a:latin typeface="Calibri"/>
              <a:ea typeface="Calibri"/>
              <a:cs typeface="Calibri"/>
              <a:sym typeface="Calibri"/>
            </a:endParaRPr>
          </a:p>
        </p:txBody>
      </p:sp>
      <p:sp>
        <p:nvSpPr>
          <p:cNvPr id="180" name="Google Shape;180;p7"/>
          <p:cNvSpPr/>
          <p:nvPr/>
        </p:nvSpPr>
        <p:spPr>
          <a:xfrm>
            <a:off x="6492240" y="3429000"/>
            <a:ext cx="2194560" cy="1005840"/>
          </a:xfrm>
          <a:prstGeom prst="roundRect">
            <a:avLst>
              <a:gd fmla="val 727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7"/>
          <p:cNvSpPr/>
          <p:nvPr/>
        </p:nvSpPr>
        <p:spPr>
          <a:xfrm>
            <a:off x="6492240" y="3429000"/>
            <a:ext cx="64008" cy="100584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7"/>
          <p:cNvSpPr txBox="1"/>
          <p:nvPr/>
        </p:nvSpPr>
        <p:spPr>
          <a:xfrm>
            <a:off x="6656832" y="3483864"/>
            <a:ext cx="197510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3  Only then, a plan</a:t>
            </a:r>
            <a:endParaRPr b="0" i="0" sz="1200" u="none" cap="none" strike="noStrike">
              <a:solidFill>
                <a:schemeClr val="dk1"/>
              </a:solidFill>
              <a:latin typeface="Calibri"/>
              <a:ea typeface="Calibri"/>
              <a:cs typeface="Calibri"/>
              <a:sym typeface="Calibri"/>
            </a:endParaRPr>
          </a:p>
        </p:txBody>
      </p:sp>
      <p:sp>
        <p:nvSpPr>
          <p:cNvPr id="183" name="Google Shape;183;p7"/>
          <p:cNvSpPr txBox="1"/>
          <p:nvPr/>
        </p:nvSpPr>
        <p:spPr>
          <a:xfrm>
            <a:off x="6656832" y="3776472"/>
            <a:ext cx="1975104"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From engine facts. Only you can approve, with a fresh MFA code.</a:t>
            </a:r>
            <a:endParaRPr b="0" i="0" sz="1000" u="none" cap="none" strike="noStrike">
              <a:solidFill>
                <a:schemeClr val="dk1"/>
              </a:solidFill>
              <a:latin typeface="Calibri"/>
              <a:ea typeface="Calibri"/>
              <a:cs typeface="Calibri"/>
              <a:sym typeface="Calibri"/>
            </a:endParaRPr>
          </a:p>
        </p:txBody>
      </p:sp>
      <p:sp>
        <p:nvSpPr>
          <p:cNvPr id="184" name="Google Shape;184;p7"/>
          <p:cNvSpPr txBox="1"/>
          <p:nvPr/>
        </p:nvSpPr>
        <p:spPr>
          <a:xfrm>
            <a:off x="6492240" y="4553712"/>
            <a:ext cx="219456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000"/>
              <a:buFont typeface="Calibri"/>
              <a:buNone/>
            </a:pPr>
            <a:r>
              <a:rPr b="1" i="0" lang="en-US" sz="1000" u="none" cap="none" strike="noStrike">
                <a:solidFill>
                  <a:schemeClr val="accent3"/>
                </a:solidFill>
                <a:latin typeface="Calibri"/>
                <a:ea typeface="Calibri"/>
                <a:cs typeface="Calibri"/>
                <a:sym typeface="Calibri"/>
              </a:rPr>
              <a:t>The assistant cannot approve, submit or cancel.</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8"/>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Everything a parent can do</a:t>
            </a:r>
            <a:endParaRPr sz="3600"/>
          </a:p>
        </p:txBody>
      </p:sp>
      <p:sp>
        <p:nvSpPr>
          <p:cNvPr id="191" name="Google Shape;191;p8"/>
          <p:cNvSpPr/>
          <p:nvPr/>
        </p:nvSpPr>
        <p:spPr>
          <a:xfrm>
            <a:off x="457200" y="1207008"/>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8"/>
          <p:cNvSpPr/>
          <p:nvPr/>
        </p:nvSpPr>
        <p:spPr>
          <a:xfrm>
            <a:off x="457200" y="1207008"/>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8"/>
          <p:cNvSpPr txBox="1"/>
          <p:nvPr/>
        </p:nvSpPr>
        <p:spPr>
          <a:xfrm>
            <a:off x="603504" y="1234440"/>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Compare</a:t>
            </a:r>
            <a:endParaRPr b="0" i="0" sz="1100" u="none" cap="none" strike="noStrike">
              <a:solidFill>
                <a:schemeClr val="dk1"/>
              </a:solidFill>
              <a:latin typeface="Calibri"/>
              <a:ea typeface="Calibri"/>
              <a:cs typeface="Calibri"/>
              <a:sym typeface="Calibri"/>
            </a:endParaRPr>
          </a:p>
        </p:txBody>
      </p:sp>
      <p:sp>
        <p:nvSpPr>
          <p:cNvPr id="194" name="Google Shape;194;p8"/>
          <p:cNvSpPr txBox="1"/>
          <p:nvPr/>
        </p:nvSpPr>
        <p:spPr>
          <a:xfrm>
            <a:off x="603504" y="1435608"/>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Providers by true total cost, with a short-payment warning</a:t>
            </a:r>
            <a:endParaRPr b="0" i="0" sz="900" u="none" cap="none" strike="noStrike">
              <a:solidFill>
                <a:schemeClr val="dk1"/>
              </a:solidFill>
              <a:latin typeface="Calibri"/>
              <a:ea typeface="Calibri"/>
              <a:cs typeface="Calibri"/>
              <a:sym typeface="Calibri"/>
            </a:endParaRPr>
          </a:p>
        </p:txBody>
      </p:sp>
      <p:sp>
        <p:nvSpPr>
          <p:cNvPr id="195" name="Google Shape;195;p8"/>
          <p:cNvSpPr/>
          <p:nvPr/>
        </p:nvSpPr>
        <p:spPr>
          <a:xfrm>
            <a:off x="3200400" y="1207008"/>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p:nvPr/>
        </p:nvSpPr>
        <p:spPr>
          <a:xfrm>
            <a:off x="3200400" y="1207008"/>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8"/>
          <p:cNvSpPr txBox="1"/>
          <p:nvPr/>
        </p:nvSpPr>
        <p:spPr>
          <a:xfrm>
            <a:off x="3346704" y="1234440"/>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Plan the date</a:t>
            </a:r>
            <a:endParaRPr b="0" i="0" sz="1100" u="none" cap="none" strike="noStrike">
              <a:solidFill>
                <a:schemeClr val="dk1"/>
              </a:solidFill>
              <a:latin typeface="Calibri"/>
              <a:ea typeface="Calibri"/>
              <a:cs typeface="Calibri"/>
              <a:sym typeface="Calibri"/>
            </a:endParaRPr>
          </a:p>
        </p:txBody>
      </p:sp>
      <p:sp>
        <p:nvSpPr>
          <p:cNvPr id="198" name="Google Shape;198;p8"/>
          <p:cNvSpPr txBox="1"/>
          <p:nvPr/>
        </p:nvSpPr>
        <p:spPr>
          <a:xfrm>
            <a:off x="3346704" y="1435608"/>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Two calendars and a latest send-by date</a:t>
            </a:r>
            <a:endParaRPr b="0" i="0" sz="900" u="none" cap="none" strike="noStrike">
              <a:solidFill>
                <a:schemeClr val="dk1"/>
              </a:solidFill>
              <a:latin typeface="Calibri"/>
              <a:ea typeface="Calibri"/>
              <a:cs typeface="Calibri"/>
              <a:sym typeface="Calibri"/>
            </a:endParaRPr>
          </a:p>
        </p:txBody>
      </p:sp>
      <p:sp>
        <p:nvSpPr>
          <p:cNvPr id="199" name="Google Shape;199;p8"/>
          <p:cNvSpPr/>
          <p:nvPr/>
        </p:nvSpPr>
        <p:spPr>
          <a:xfrm>
            <a:off x="457200" y="1792224"/>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8"/>
          <p:cNvSpPr/>
          <p:nvPr/>
        </p:nvSpPr>
        <p:spPr>
          <a:xfrm>
            <a:off x="457200" y="1792224"/>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
          <p:cNvSpPr txBox="1"/>
          <p:nvPr/>
        </p:nvSpPr>
        <p:spPr>
          <a:xfrm>
            <a:off x="603504" y="1819656"/>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Send plan</a:t>
            </a:r>
            <a:endParaRPr b="0" i="0" sz="1100" u="none" cap="none" strike="noStrike">
              <a:solidFill>
                <a:schemeClr val="dk1"/>
              </a:solidFill>
              <a:latin typeface="Calibri"/>
              <a:ea typeface="Calibri"/>
              <a:cs typeface="Calibri"/>
              <a:sym typeface="Calibri"/>
            </a:endParaRPr>
          </a:p>
        </p:txBody>
      </p:sp>
      <p:sp>
        <p:nvSpPr>
          <p:cNvPr id="202" name="Google Shape;202;p8"/>
          <p:cNvSpPr txBox="1"/>
          <p:nvPr/>
        </p:nvSpPr>
        <p:spPr>
          <a:xfrm>
            <a:off x="603504" y="2020824"/>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Monthly, quarterly or all at once: the cheapest way</a:t>
            </a:r>
            <a:endParaRPr b="0" i="0" sz="900" u="none" cap="none" strike="noStrike">
              <a:solidFill>
                <a:schemeClr val="dk1"/>
              </a:solidFill>
              <a:latin typeface="Calibri"/>
              <a:ea typeface="Calibri"/>
              <a:cs typeface="Calibri"/>
              <a:sym typeface="Calibri"/>
            </a:endParaRPr>
          </a:p>
        </p:txBody>
      </p:sp>
      <p:sp>
        <p:nvSpPr>
          <p:cNvPr id="203" name="Google Shape;203;p8"/>
          <p:cNvSpPr/>
          <p:nvPr/>
        </p:nvSpPr>
        <p:spPr>
          <a:xfrm>
            <a:off x="3200400" y="1792224"/>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p:nvPr/>
        </p:nvSpPr>
        <p:spPr>
          <a:xfrm>
            <a:off x="3200400" y="1792224"/>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8"/>
          <p:cNvSpPr txBox="1"/>
          <p:nvPr/>
        </p:nvSpPr>
        <p:spPr>
          <a:xfrm>
            <a:off x="3346704" y="1819656"/>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Stress test</a:t>
            </a:r>
            <a:endParaRPr b="0" i="0" sz="1100" u="none" cap="none" strike="noStrike">
              <a:solidFill>
                <a:schemeClr val="dk1"/>
              </a:solidFill>
              <a:latin typeface="Calibri"/>
              <a:ea typeface="Calibri"/>
              <a:cs typeface="Calibri"/>
              <a:sym typeface="Calibri"/>
            </a:endParaRPr>
          </a:p>
        </p:txBody>
      </p:sp>
      <p:sp>
        <p:nvSpPr>
          <p:cNvPr id="206" name="Google Shape;206;p8"/>
          <p:cNvSpPr txBox="1"/>
          <p:nvPr/>
        </p:nvSpPr>
        <p:spPr>
          <a:xfrm>
            <a:off x="3346704" y="2020824"/>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The same payment if the taka drops 5 to 20%</a:t>
            </a:r>
            <a:endParaRPr b="0" i="0" sz="900" u="none" cap="none" strike="noStrike">
              <a:solidFill>
                <a:schemeClr val="dk1"/>
              </a:solidFill>
              <a:latin typeface="Calibri"/>
              <a:ea typeface="Calibri"/>
              <a:cs typeface="Calibri"/>
              <a:sym typeface="Calibri"/>
            </a:endParaRPr>
          </a:p>
        </p:txBody>
      </p:sp>
      <p:sp>
        <p:nvSpPr>
          <p:cNvPr id="207" name="Google Shape;207;p8"/>
          <p:cNvSpPr/>
          <p:nvPr/>
        </p:nvSpPr>
        <p:spPr>
          <a:xfrm>
            <a:off x="457200" y="2377440"/>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8"/>
          <p:cNvSpPr/>
          <p:nvPr/>
        </p:nvSpPr>
        <p:spPr>
          <a:xfrm>
            <a:off x="457200" y="2377440"/>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8"/>
          <p:cNvSpPr txBox="1"/>
          <p:nvPr/>
        </p:nvSpPr>
        <p:spPr>
          <a:xfrm>
            <a:off x="603504" y="2404872"/>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Documents</a:t>
            </a:r>
            <a:endParaRPr b="0" i="0" sz="1100" u="none" cap="none" strike="noStrike">
              <a:solidFill>
                <a:schemeClr val="dk1"/>
              </a:solidFill>
              <a:latin typeface="Calibri"/>
              <a:ea typeface="Calibri"/>
              <a:cs typeface="Calibri"/>
              <a:sym typeface="Calibri"/>
            </a:endParaRPr>
          </a:p>
        </p:txBody>
      </p:sp>
      <p:sp>
        <p:nvSpPr>
          <p:cNvPr id="210" name="Google Shape;210;p8"/>
          <p:cNvSpPr txBox="1"/>
          <p:nvPr/>
        </p:nvSpPr>
        <p:spPr>
          <a:xfrm>
            <a:off x="603504" y="2606040"/>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What the bank may ask for, by destination</a:t>
            </a:r>
            <a:endParaRPr b="0" i="0" sz="900" u="none" cap="none" strike="noStrike">
              <a:solidFill>
                <a:schemeClr val="dk1"/>
              </a:solidFill>
              <a:latin typeface="Calibri"/>
              <a:ea typeface="Calibri"/>
              <a:cs typeface="Calibri"/>
              <a:sym typeface="Calibri"/>
            </a:endParaRPr>
          </a:p>
        </p:txBody>
      </p:sp>
      <p:sp>
        <p:nvSpPr>
          <p:cNvPr id="211" name="Google Shape;211;p8"/>
          <p:cNvSpPr/>
          <p:nvPr/>
        </p:nvSpPr>
        <p:spPr>
          <a:xfrm>
            <a:off x="3200400" y="2377440"/>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p:nvPr/>
        </p:nvSpPr>
        <p:spPr>
          <a:xfrm>
            <a:off x="3200400" y="2377440"/>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8"/>
          <p:cNvSpPr txBox="1"/>
          <p:nvPr/>
        </p:nvSpPr>
        <p:spPr>
          <a:xfrm>
            <a:off x="3346704" y="2404872"/>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Recipients</a:t>
            </a:r>
            <a:endParaRPr b="0" i="0" sz="1100" u="none" cap="none" strike="noStrike">
              <a:solidFill>
                <a:schemeClr val="dk1"/>
              </a:solidFill>
              <a:latin typeface="Calibri"/>
              <a:ea typeface="Calibri"/>
              <a:cs typeface="Calibri"/>
              <a:sym typeface="Calibri"/>
            </a:endParaRPr>
          </a:p>
        </p:txBody>
      </p:sp>
      <p:sp>
        <p:nvSpPr>
          <p:cNvPr id="214" name="Google Shape;214;p8"/>
          <p:cNvSpPr txBox="1"/>
          <p:nvPr/>
        </p:nvSpPr>
        <p:spPr>
          <a:xfrm>
            <a:off x="3346704" y="2606040"/>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Allowlisted with a fresh MFA code first</a:t>
            </a:r>
            <a:endParaRPr b="0" i="0" sz="900" u="none" cap="none" strike="noStrike">
              <a:solidFill>
                <a:schemeClr val="dk1"/>
              </a:solidFill>
              <a:latin typeface="Calibri"/>
              <a:ea typeface="Calibri"/>
              <a:cs typeface="Calibri"/>
              <a:sym typeface="Calibri"/>
            </a:endParaRPr>
          </a:p>
        </p:txBody>
      </p:sp>
      <p:sp>
        <p:nvSpPr>
          <p:cNvPr id="215" name="Google Shape;215;p8"/>
          <p:cNvSpPr/>
          <p:nvPr/>
        </p:nvSpPr>
        <p:spPr>
          <a:xfrm>
            <a:off x="457200" y="2962656"/>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8"/>
          <p:cNvSpPr/>
          <p:nvPr/>
        </p:nvSpPr>
        <p:spPr>
          <a:xfrm>
            <a:off x="457200" y="2962656"/>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8"/>
          <p:cNvSpPr txBox="1"/>
          <p:nvPr/>
        </p:nvSpPr>
        <p:spPr>
          <a:xfrm>
            <a:off x="603504" y="2990088"/>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Approve</a:t>
            </a:r>
            <a:endParaRPr b="0" i="0" sz="1100" u="none" cap="none" strike="noStrike">
              <a:solidFill>
                <a:schemeClr val="dk1"/>
              </a:solidFill>
              <a:latin typeface="Calibri"/>
              <a:ea typeface="Calibri"/>
              <a:cs typeface="Calibri"/>
              <a:sym typeface="Calibri"/>
            </a:endParaRPr>
          </a:p>
        </p:txBody>
      </p:sp>
      <p:sp>
        <p:nvSpPr>
          <p:cNvPr id="218" name="Google Shape;218;p8"/>
          <p:cNvSpPr txBox="1"/>
          <p:nvPr/>
        </p:nvSpPr>
        <p:spPr>
          <a:xfrm>
            <a:off x="603504" y="3191256"/>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One MFA code bound to this payment. Only the parent.</a:t>
            </a:r>
            <a:endParaRPr b="0" i="0" sz="900" u="none" cap="none" strike="noStrike">
              <a:solidFill>
                <a:schemeClr val="dk1"/>
              </a:solidFill>
              <a:latin typeface="Calibri"/>
              <a:ea typeface="Calibri"/>
              <a:cs typeface="Calibri"/>
              <a:sym typeface="Calibri"/>
            </a:endParaRPr>
          </a:p>
        </p:txBody>
      </p:sp>
      <p:sp>
        <p:nvSpPr>
          <p:cNvPr id="219" name="Google Shape;219;p8"/>
          <p:cNvSpPr/>
          <p:nvPr/>
        </p:nvSpPr>
        <p:spPr>
          <a:xfrm>
            <a:off x="3200400" y="2962656"/>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p:nvPr/>
        </p:nvSpPr>
        <p:spPr>
          <a:xfrm>
            <a:off x="3200400" y="2962656"/>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8"/>
          <p:cNvSpPr txBox="1"/>
          <p:nvPr/>
        </p:nvSpPr>
        <p:spPr>
          <a:xfrm>
            <a:off x="3346704" y="2990088"/>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Track and report</a:t>
            </a:r>
            <a:endParaRPr b="0" i="0" sz="1100" u="none" cap="none" strike="noStrike">
              <a:solidFill>
                <a:schemeClr val="dk1"/>
              </a:solidFill>
              <a:latin typeface="Calibri"/>
              <a:ea typeface="Calibri"/>
              <a:cs typeface="Calibri"/>
              <a:sym typeface="Calibri"/>
            </a:endParaRPr>
          </a:p>
        </p:txBody>
      </p:sp>
      <p:sp>
        <p:nvSpPr>
          <p:cNvPr id="222" name="Google Shape;222;p8"/>
          <p:cNvSpPr txBox="1"/>
          <p:nvPr/>
        </p:nvSpPr>
        <p:spPr>
          <a:xfrm>
            <a:off x="3346704" y="3191256"/>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To SETTLED, then a sealed compliance report</a:t>
            </a:r>
            <a:endParaRPr b="0" i="0" sz="900" u="none" cap="none" strike="noStrike">
              <a:solidFill>
                <a:schemeClr val="dk1"/>
              </a:solidFill>
              <a:latin typeface="Calibri"/>
              <a:ea typeface="Calibri"/>
              <a:cs typeface="Calibri"/>
              <a:sym typeface="Calibri"/>
            </a:endParaRPr>
          </a:p>
        </p:txBody>
      </p:sp>
      <p:sp>
        <p:nvSpPr>
          <p:cNvPr id="223" name="Google Shape;223;p8"/>
          <p:cNvSpPr/>
          <p:nvPr/>
        </p:nvSpPr>
        <p:spPr>
          <a:xfrm>
            <a:off x="457200" y="3547872"/>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8"/>
          <p:cNvSpPr/>
          <p:nvPr/>
        </p:nvSpPr>
        <p:spPr>
          <a:xfrm>
            <a:off x="457200" y="3547872"/>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8"/>
          <p:cNvSpPr txBox="1"/>
          <p:nvPr/>
        </p:nvSpPr>
        <p:spPr>
          <a:xfrm>
            <a:off x="603504" y="3575304"/>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Smart escrow</a:t>
            </a:r>
            <a:endParaRPr b="0" i="0" sz="1100" u="none" cap="none" strike="noStrike">
              <a:solidFill>
                <a:schemeClr val="dk1"/>
              </a:solidFill>
              <a:latin typeface="Calibri"/>
              <a:ea typeface="Calibri"/>
              <a:cs typeface="Calibri"/>
              <a:sym typeface="Calibri"/>
            </a:endParaRPr>
          </a:p>
        </p:txBody>
      </p:sp>
      <p:sp>
        <p:nvSpPr>
          <p:cNvPr id="226" name="Google Shape;226;p8"/>
          <p:cNvSpPr txBox="1"/>
          <p:nvPr/>
        </p:nvSpPr>
        <p:spPr>
          <a:xfrm>
            <a:off x="603504" y="3776472"/>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Tranches paid on dates, on a simulated chain</a:t>
            </a:r>
            <a:endParaRPr b="0" i="0" sz="900" u="none" cap="none" strike="noStrike">
              <a:solidFill>
                <a:schemeClr val="dk1"/>
              </a:solidFill>
              <a:latin typeface="Calibri"/>
              <a:ea typeface="Calibri"/>
              <a:cs typeface="Calibri"/>
              <a:sym typeface="Calibri"/>
            </a:endParaRPr>
          </a:p>
        </p:txBody>
      </p:sp>
      <p:sp>
        <p:nvSpPr>
          <p:cNvPr id="227" name="Google Shape;227;p8"/>
          <p:cNvSpPr/>
          <p:nvPr/>
        </p:nvSpPr>
        <p:spPr>
          <a:xfrm>
            <a:off x="3200400" y="3547872"/>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8"/>
          <p:cNvSpPr/>
          <p:nvPr/>
        </p:nvSpPr>
        <p:spPr>
          <a:xfrm>
            <a:off x="3200400" y="3547872"/>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8"/>
          <p:cNvSpPr txBox="1"/>
          <p:nvPr/>
        </p:nvSpPr>
        <p:spPr>
          <a:xfrm>
            <a:off x="3346704" y="3575304"/>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Bank network</a:t>
            </a:r>
            <a:endParaRPr b="0" i="0" sz="1100" u="none" cap="none" strike="noStrike">
              <a:solidFill>
                <a:schemeClr val="dk1"/>
              </a:solidFill>
              <a:latin typeface="Calibri"/>
              <a:ea typeface="Calibri"/>
              <a:cs typeface="Calibri"/>
              <a:sym typeface="Calibri"/>
            </a:endParaRPr>
          </a:p>
        </p:txBody>
      </p:sp>
      <p:sp>
        <p:nvSpPr>
          <p:cNvPr id="230" name="Google Shape;230;p8"/>
          <p:cNvSpPr txBox="1"/>
          <p:nvPr/>
        </p:nvSpPr>
        <p:spPr>
          <a:xfrm>
            <a:off x="3346704" y="3776472"/>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The simulated hops of an international transfer</a:t>
            </a:r>
            <a:endParaRPr b="0" i="0" sz="900" u="none" cap="none" strike="noStrike">
              <a:solidFill>
                <a:schemeClr val="dk1"/>
              </a:solidFill>
              <a:latin typeface="Calibri"/>
              <a:ea typeface="Calibri"/>
              <a:cs typeface="Calibri"/>
              <a:sym typeface="Calibri"/>
            </a:endParaRPr>
          </a:p>
        </p:txBody>
      </p:sp>
      <p:sp>
        <p:nvSpPr>
          <p:cNvPr id="231" name="Google Shape;231;p8"/>
          <p:cNvSpPr/>
          <p:nvPr/>
        </p:nvSpPr>
        <p:spPr>
          <a:xfrm>
            <a:off x="457200" y="4133088"/>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8"/>
          <p:cNvSpPr/>
          <p:nvPr/>
        </p:nvSpPr>
        <p:spPr>
          <a:xfrm>
            <a:off x="457200" y="4133088"/>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8"/>
          <p:cNvSpPr txBox="1"/>
          <p:nvPr/>
        </p:nvSpPr>
        <p:spPr>
          <a:xfrm>
            <a:off x="603504" y="4160520"/>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Assistant</a:t>
            </a:r>
            <a:endParaRPr b="0" i="0" sz="1100" u="none" cap="none" strike="noStrike">
              <a:solidFill>
                <a:schemeClr val="dk1"/>
              </a:solidFill>
              <a:latin typeface="Calibri"/>
              <a:ea typeface="Calibri"/>
              <a:cs typeface="Calibri"/>
              <a:sym typeface="Calibri"/>
            </a:endParaRPr>
          </a:p>
        </p:txBody>
      </p:sp>
      <p:sp>
        <p:nvSpPr>
          <p:cNvPr id="234" name="Google Shape;234;p8"/>
          <p:cNvSpPr txBox="1"/>
          <p:nvPr/>
        </p:nvSpPr>
        <p:spPr>
          <a:xfrm>
            <a:off x="603504" y="4361688"/>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One sentence in, a plan out. It never approves.</a:t>
            </a:r>
            <a:endParaRPr b="0" i="0" sz="900" u="none" cap="none" strike="noStrike">
              <a:solidFill>
                <a:schemeClr val="dk1"/>
              </a:solidFill>
              <a:latin typeface="Calibri"/>
              <a:ea typeface="Calibri"/>
              <a:cs typeface="Calibri"/>
              <a:sym typeface="Calibri"/>
            </a:endParaRPr>
          </a:p>
        </p:txBody>
      </p:sp>
      <p:sp>
        <p:nvSpPr>
          <p:cNvPr id="235" name="Google Shape;235;p8"/>
          <p:cNvSpPr/>
          <p:nvPr/>
        </p:nvSpPr>
        <p:spPr>
          <a:xfrm>
            <a:off x="3200400" y="4133088"/>
            <a:ext cx="2651760" cy="512064"/>
          </a:xfrm>
          <a:prstGeom prst="roundRect">
            <a:avLst>
              <a:gd fmla="val 14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8"/>
          <p:cNvSpPr/>
          <p:nvPr/>
        </p:nvSpPr>
        <p:spPr>
          <a:xfrm>
            <a:off x="3200400" y="4133088"/>
            <a:ext cx="54864" cy="51206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8"/>
          <p:cNvSpPr txBox="1"/>
          <p:nvPr/>
        </p:nvSpPr>
        <p:spPr>
          <a:xfrm>
            <a:off x="3346704" y="4160520"/>
            <a:ext cx="24505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The bank's question</a:t>
            </a:r>
            <a:endParaRPr b="0" i="0" sz="1100" u="none" cap="none" strike="noStrike">
              <a:solidFill>
                <a:schemeClr val="dk1"/>
              </a:solidFill>
              <a:latin typeface="Calibri"/>
              <a:ea typeface="Calibri"/>
              <a:cs typeface="Calibri"/>
              <a:sym typeface="Calibri"/>
            </a:endParaRPr>
          </a:p>
        </p:txBody>
      </p:sp>
      <p:sp>
        <p:nvSpPr>
          <p:cNvPr id="238" name="Google Shape;238;p8"/>
          <p:cNvSpPr txBox="1"/>
          <p:nvPr/>
        </p:nvSpPr>
        <p:spPr>
          <a:xfrm>
            <a:off x="3346704" y="4361688"/>
            <a:ext cx="2450592"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Answer a reviewer when a payment is flagged</a:t>
            </a:r>
            <a:endParaRPr b="0" i="0" sz="900" u="none" cap="none" strike="noStrike">
              <a:solidFill>
                <a:schemeClr val="dk1"/>
              </a:solidFill>
              <a:latin typeface="Calibri"/>
              <a:ea typeface="Calibri"/>
              <a:cs typeface="Calibri"/>
              <a:sym typeface="Calibri"/>
            </a:endParaRPr>
          </a:p>
        </p:txBody>
      </p:sp>
      <p:sp>
        <p:nvSpPr>
          <p:cNvPr id="239" name="Google Shape;239;p8"/>
          <p:cNvSpPr/>
          <p:nvPr/>
        </p:nvSpPr>
        <p:spPr>
          <a:xfrm>
            <a:off x="6144768" y="1207008"/>
            <a:ext cx="2615184" cy="3060954"/>
          </a:xfrm>
          <a:prstGeom prst="roundRect">
            <a:avLst>
              <a:gd fmla="val 2098"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payment screen: approval summary, approve with MFA, and the status tracker" id="240" name="Google Shape;240;p8"/>
          <p:cNvPicPr preferRelativeResize="0"/>
          <p:nvPr/>
        </p:nvPicPr>
        <p:blipFill rotWithShape="1">
          <a:blip r:embed="rId3">
            <a:alphaModFix/>
          </a:blip>
          <a:srcRect b="0" l="0" r="0" t="0"/>
          <a:stretch/>
        </p:blipFill>
        <p:spPr>
          <a:xfrm>
            <a:off x="6217920" y="1280160"/>
            <a:ext cx="2468880" cy="2914650"/>
          </a:xfrm>
          <a:prstGeom prst="rect">
            <a:avLst/>
          </a:prstGeom>
          <a:noFill/>
          <a:ln>
            <a:noFill/>
          </a:ln>
        </p:spPr>
      </p:pic>
      <p:sp>
        <p:nvSpPr>
          <p:cNvPr id="241" name="Google Shape;241;p8"/>
          <p:cNvSpPr txBox="1"/>
          <p:nvPr/>
        </p:nvSpPr>
        <p:spPr>
          <a:xfrm>
            <a:off x="6126480" y="4322826"/>
            <a:ext cx="256032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The approval screen: summary, one MFA code, status tracker. Sandbox, synthetic data.</a:t>
            </a:r>
            <a:endParaRPr b="0" i="0" sz="950" u="none" cap="none" strike="noStrike">
              <a:solidFill>
                <a:schemeClr val="dk1"/>
              </a:solidFill>
              <a:latin typeface="Calibri"/>
              <a:ea typeface="Calibri"/>
              <a:cs typeface="Calibri"/>
              <a:sym typeface="Calibri"/>
            </a:endParaRPr>
          </a:p>
        </p:txBody>
      </p:sp>
      <p:sp>
        <p:nvSpPr>
          <p:cNvPr id="242" name="Google Shape;242;p8"/>
          <p:cNvSpPr txBox="1"/>
          <p:nvPr/>
        </p:nvSpPr>
        <p:spPr>
          <a:xfrm>
            <a:off x="457200" y="475488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Every screen carries the sandbox banner, and every unverified rule a Not verified badge. Each screen has axe accessibility checks; reduced motion is respected.</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9"/>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Smart escrow, on a schedule</a:t>
            </a:r>
            <a:endParaRPr sz="3600"/>
          </a:p>
        </p:txBody>
      </p:sp>
      <p:sp>
        <p:nvSpPr>
          <p:cNvPr id="249" name="Google Shape;249;p9"/>
          <p:cNvSpPr txBox="1"/>
          <p:nvPr/>
        </p:nvSpPr>
        <p:spPr>
          <a:xfrm>
            <a:off x="457200" y="1060704"/>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300"/>
              <a:buFont typeface="Calibri"/>
              <a:buNone/>
            </a:pPr>
            <a:r>
              <a:rPr b="1" i="0" lang="en-US" sz="1300" u="none" cap="none" strike="noStrike">
                <a:solidFill>
                  <a:schemeClr val="accent1"/>
                </a:solidFill>
                <a:latin typeface="Calibri"/>
                <a:ea typeface="Calibri"/>
                <a:cs typeface="Calibri"/>
                <a:sym typeface="Calibri"/>
              </a:rPr>
              <a:t>Tuition or living costs locked in a contract that pays each tranche on its date.</a:t>
            </a:r>
            <a:endParaRPr b="0" i="0" sz="1300" u="none" cap="none" strike="noStrike">
              <a:solidFill>
                <a:schemeClr val="dk1"/>
              </a:solidFill>
              <a:latin typeface="Calibri"/>
              <a:ea typeface="Calibri"/>
              <a:cs typeface="Calibri"/>
              <a:sym typeface="Calibri"/>
            </a:endParaRPr>
          </a:p>
        </p:txBody>
      </p:sp>
      <p:sp>
        <p:nvSpPr>
          <p:cNvPr id="250" name="Google Shape;250;p9"/>
          <p:cNvSpPr/>
          <p:nvPr/>
        </p:nvSpPr>
        <p:spPr>
          <a:xfrm>
            <a:off x="457200" y="1435608"/>
            <a:ext cx="1536192"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9"/>
          <p:cNvSpPr txBox="1"/>
          <p:nvPr/>
        </p:nvSpPr>
        <p:spPr>
          <a:xfrm>
            <a:off x="502920" y="1435608"/>
            <a:ext cx="1444752"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1  Plan tranches</a:t>
            </a:r>
            <a:endParaRPr b="0" i="0" sz="1200" u="none" cap="none" strike="noStrike">
              <a:solidFill>
                <a:schemeClr val="dk1"/>
              </a:solidFill>
              <a:latin typeface="Calibri"/>
              <a:ea typeface="Calibri"/>
              <a:cs typeface="Calibri"/>
              <a:sym typeface="Calibri"/>
            </a:endParaRPr>
          </a:p>
        </p:txBody>
      </p:sp>
      <p:sp>
        <p:nvSpPr>
          <p:cNvPr id="252" name="Google Shape;252;p9"/>
          <p:cNvSpPr/>
          <p:nvPr/>
        </p:nvSpPr>
        <p:spPr>
          <a:xfrm>
            <a:off x="2130552" y="1435608"/>
            <a:ext cx="1536192"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9"/>
          <p:cNvSpPr txBox="1"/>
          <p:nvPr/>
        </p:nvSpPr>
        <p:spPr>
          <a:xfrm>
            <a:off x="2176272" y="1435608"/>
            <a:ext cx="1444752"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2  Lock with MFA</a:t>
            </a:r>
            <a:endParaRPr b="0" i="0" sz="1200" u="none" cap="none" strike="noStrike">
              <a:solidFill>
                <a:schemeClr val="dk1"/>
              </a:solidFill>
              <a:latin typeface="Calibri"/>
              <a:ea typeface="Calibri"/>
              <a:cs typeface="Calibri"/>
              <a:sym typeface="Calibri"/>
            </a:endParaRPr>
          </a:p>
        </p:txBody>
      </p:sp>
      <p:sp>
        <p:nvSpPr>
          <p:cNvPr id="254" name="Google Shape;254;p9"/>
          <p:cNvSpPr/>
          <p:nvPr/>
        </p:nvSpPr>
        <p:spPr>
          <a:xfrm>
            <a:off x="3803904" y="1435608"/>
            <a:ext cx="1536192"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9"/>
          <p:cNvSpPr txBox="1"/>
          <p:nvPr/>
        </p:nvSpPr>
        <p:spPr>
          <a:xfrm>
            <a:off x="3849624" y="1435608"/>
            <a:ext cx="1444752"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3  Paid on its dates</a:t>
            </a:r>
            <a:endParaRPr b="0" i="0" sz="1200" u="none" cap="none" strike="noStrike">
              <a:solidFill>
                <a:schemeClr val="dk1"/>
              </a:solidFill>
              <a:latin typeface="Calibri"/>
              <a:ea typeface="Calibri"/>
              <a:cs typeface="Calibri"/>
              <a:sym typeface="Calibri"/>
            </a:endParaRPr>
          </a:p>
        </p:txBody>
      </p:sp>
      <p:sp>
        <p:nvSpPr>
          <p:cNvPr id="256" name="Google Shape;256;p9"/>
          <p:cNvSpPr/>
          <p:nvPr/>
        </p:nvSpPr>
        <p:spPr>
          <a:xfrm>
            <a:off x="5477256" y="1435608"/>
            <a:ext cx="1536192" cy="594360"/>
          </a:xfrm>
          <a:prstGeom prst="roundRect">
            <a:avLst>
              <a:gd fmla="val 12308"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9"/>
          <p:cNvSpPr txBox="1"/>
          <p:nvPr/>
        </p:nvSpPr>
        <p:spPr>
          <a:xfrm>
            <a:off x="5522976" y="1435608"/>
            <a:ext cx="1444752"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4  Reviewer can freeze</a:t>
            </a:r>
            <a:endParaRPr b="0" i="0" sz="1200" u="none" cap="none" strike="noStrike">
              <a:solidFill>
                <a:schemeClr val="dk1"/>
              </a:solidFill>
              <a:latin typeface="Calibri"/>
              <a:ea typeface="Calibri"/>
              <a:cs typeface="Calibri"/>
              <a:sym typeface="Calibri"/>
            </a:endParaRPr>
          </a:p>
        </p:txBody>
      </p:sp>
      <p:sp>
        <p:nvSpPr>
          <p:cNvPr id="258" name="Google Shape;258;p9"/>
          <p:cNvSpPr/>
          <p:nvPr/>
        </p:nvSpPr>
        <p:spPr>
          <a:xfrm>
            <a:off x="7150608" y="1435608"/>
            <a:ext cx="1536192"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9"/>
          <p:cNvSpPr txBox="1"/>
          <p:nvPr/>
        </p:nvSpPr>
        <p:spPr>
          <a:xfrm>
            <a:off x="7196328" y="1435608"/>
            <a:ext cx="1444752"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5  Pay early or cancel</a:t>
            </a:r>
            <a:endParaRPr b="0" i="0" sz="1200" u="none" cap="none" strike="noStrike">
              <a:solidFill>
                <a:schemeClr val="dk1"/>
              </a:solidFill>
              <a:latin typeface="Calibri"/>
              <a:ea typeface="Calibri"/>
              <a:cs typeface="Calibri"/>
              <a:sym typeface="Calibri"/>
            </a:endParaRPr>
          </a:p>
        </p:txBody>
      </p:sp>
      <p:sp>
        <p:nvSpPr>
          <p:cNvPr id="260" name="Google Shape;260;p9"/>
          <p:cNvSpPr txBox="1"/>
          <p:nvPr/>
        </p:nvSpPr>
        <p:spPr>
          <a:xfrm>
            <a:off x="457200" y="2084832"/>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Three contracts: deposit token, tuition escrow, audit anchor. Only amounts, dates and hashes go on chain.</a:t>
            </a:r>
            <a:endParaRPr b="0" i="0" sz="1200" u="none" cap="none" strike="noStrike">
              <a:solidFill>
                <a:schemeClr val="dk1"/>
              </a:solidFill>
              <a:latin typeface="Calibri"/>
              <a:ea typeface="Calibri"/>
              <a:cs typeface="Calibri"/>
              <a:sym typeface="Calibri"/>
            </a:endParaRPr>
          </a:p>
        </p:txBody>
      </p:sp>
      <p:sp>
        <p:nvSpPr>
          <p:cNvPr id="261" name="Google Shape;261;p9"/>
          <p:cNvSpPr/>
          <p:nvPr/>
        </p:nvSpPr>
        <p:spPr>
          <a:xfrm>
            <a:off x="45720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9"/>
          <p:cNvSpPr txBox="1"/>
          <p:nvPr/>
        </p:nvSpPr>
        <p:spPr>
          <a:xfrm>
            <a:off x="64008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The parent decides</a:t>
            </a:r>
            <a:endParaRPr b="0" i="0" sz="1600" u="none" cap="none" strike="noStrike">
              <a:solidFill>
                <a:schemeClr val="dk1"/>
              </a:solidFill>
              <a:latin typeface="Calibri"/>
              <a:ea typeface="Calibri"/>
              <a:cs typeface="Calibri"/>
              <a:sym typeface="Calibri"/>
            </a:endParaRPr>
          </a:p>
        </p:txBody>
      </p:sp>
      <p:sp>
        <p:nvSpPr>
          <p:cNvPr id="263" name="Google Shape;263;p9"/>
          <p:cNvSpPr txBox="1"/>
          <p:nvPr/>
        </p:nvSpPr>
        <p:spPr>
          <a:xfrm>
            <a:off x="64008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Lock, pay early or cancel, each with a fresh MFA code. The AI has no access.</a:t>
            </a:r>
            <a:endParaRPr b="0" i="0" sz="1400" u="none" cap="none" strike="noStrike">
              <a:solidFill>
                <a:schemeClr val="dk1"/>
              </a:solidFill>
              <a:latin typeface="Calibri"/>
              <a:ea typeface="Calibri"/>
              <a:cs typeface="Calibri"/>
              <a:sym typeface="Calibri"/>
            </a:endParaRPr>
          </a:p>
        </p:txBody>
      </p:sp>
      <p:sp>
        <p:nvSpPr>
          <p:cNvPr id="264" name="Google Shape;264;p9"/>
          <p:cNvSpPr/>
          <p:nvPr/>
        </p:nvSpPr>
        <p:spPr>
          <a:xfrm>
            <a:off x="324612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txBox="1"/>
          <p:nvPr/>
        </p:nvSpPr>
        <p:spPr>
          <a:xfrm>
            <a:off x="342900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The bank can freeze, not move</a:t>
            </a:r>
            <a:endParaRPr b="0" i="0" sz="1600" u="none" cap="none" strike="noStrike">
              <a:solidFill>
                <a:schemeClr val="dk1"/>
              </a:solidFill>
              <a:latin typeface="Calibri"/>
              <a:ea typeface="Calibri"/>
              <a:cs typeface="Calibri"/>
              <a:sym typeface="Calibri"/>
            </a:endParaRPr>
          </a:p>
        </p:txBody>
      </p:sp>
      <p:sp>
        <p:nvSpPr>
          <p:cNvPr id="266" name="Google Shape;266;p9"/>
          <p:cNvSpPr txBox="1"/>
          <p:nvPr/>
        </p:nvSpPr>
        <p:spPr>
          <a:xfrm>
            <a:off x="342900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 reviewer can freeze an escrow, with a reason. Nothing moves, even for the parent, until it is unfrozen.</a:t>
            </a:r>
            <a:endParaRPr b="0" i="0" sz="1400" u="none" cap="none" strike="noStrike">
              <a:solidFill>
                <a:schemeClr val="dk1"/>
              </a:solidFill>
              <a:latin typeface="Calibri"/>
              <a:ea typeface="Calibri"/>
              <a:cs typeface="Calibri"/>
              <a:sym typeface="Calibri"/>
            </a:endParaRPr>
          </a:p>
        </p:txBody>
      </p:sp>
      <p:sp>
        <p:nvSpPr>
          <p:cNvPr id="267" name="Google Shape;267;p9"/>
          <p:cNvSpPr/>
          <p:nvPr/>
        </p:nvSpPr>
        <p:spPr>
          <a:xfrm>
            <a:off x="603504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9"/>
          <p:cNvSpPr txBox="1"/>
          <p:nvPr/>
        </p:nvSpPr>
        <p:spPr>
          <a:xfrm>
            <a:off x="621792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Simulated, and we say so</a:t>
            </a:r>
            <a:endParaRPr b="0" i="0" sz="1600" u="none" cap="none" strike="noStrike">
              <a:solidFill>
                <a:schemeClr val="dk1"/>
              </a:solidFill>
              <a:latin typeface="Calibri"/>
              <a:ea typeface="Calibri"/>
              <a:cs typeface="Calibri"/>
              <a:sym typeface="Calibri"/>
            </a:endParaRPr>
          </a:p>
        </p:txBody>
      </p:sp>
      <p:sp>
        <p:nvSpPr>
          <p:cNvPr id="269" name="Google Shape;269;p9"/>
          <p:cNvSpPr txBox="1"/>
          <p:nvPr/>
        </p:nvSpPr>
        <p:spPr>
          <a:xfrm>
            <a:off x="621792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An in-memory EVM inside the backend: no network, no real tokens. Not a production chain.</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0"/>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A guide for the student</a:t>
            </a:r>
            <a:endParaRPr sz="3600"/>
          </a:p>
        </p:txBody>
      </p:sp>
      <p:sp>
        <p:nvSpPr>
          <p:cNvPr id="276" name="Google Shape;276;p10"/>
          <p:cNvSpPr/>
          <p:nvPr/>
        </p:nvSpPr>
        <p:spPr>
          <a:xfrm>
            <a:off x="384048" y="1161288"/>
            <a:ext cx="4992624" cy="2872359"/>
          </a:xfrm>
          <a:prstGeom prst="roundRect">
            <a:avLst>
              <a:gd fmla="val 1910"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student guide: a monthly budget and the cities that fit it" id="277" name="Google Shape;277;p10"/>
          <p:cNvPicPr preferRelativeResize="0"/>
          <p:nvPr/>
        </p:nvPicPr>
        <p:blipFill rotWithShape="1">
          <a:blip r:embed="rId3">
            <a:alphaModFix/>
          </a:blip>
          <a:srcRect b="0" l="0" r="0" t="0"/>
          <a:stretch/>
        </p:blipFill>
        <p:spPr>
          <a:xfrm>
            <a:off x="457200" y="1234440"/>
            <a:ext cx="4846320" cy="2726055"/>
          </a:xfrm>
          <a:prstGeom prst="rect">
            <a:avLst/>
          </a:prstGeom>
          <a:noFill/>
          <a:ln>
            <a:noFill/>
          </a:ln>
        </p:spPr>
      </p:pic>
      <p:sp>
        <p:nvSpPr>
          <p:cNvPr id="278" name="Google Shape;278;p10"/>
          <p:cNvSpPr txBox="1"/>
          <p:nvPr/>
        </p:nvSpPr>
        <p:spPr>
          <a:xfrm>
            <a:off x="457200" y="4088511"/>
            <a:ext cx="484632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Live, studyroute.bot-keep.xyz, 19 Oct 2026: type a budget or drag the slider and the list refits.</a:t>
            </a:r>
            <a:endParaRPr b="0" i="0" sz="1000" u="none" cap="none" strike="noStrike">
              <a:solidFill>
                <a:schemeClr val="dk1"/>
              </a:solidFill>
              <a:latin typeface="Calibri"/>
              <a:ea typeface="Calibri"/>
              <a:cs typeface="Calibri"/>
              <a:sym typeface="Calibri"/>
            </a:endParaRPr>
          </a:p>
        </p:txBody>
      </p:sp>
      <p:sp>
        <p:nvSpPr>
          <p:cNvPr id="279" name="Google Shape;279;p10"/>
          <p:cNvSpPr/>
          <p:nvPr/>
        </p:nvSpPr>
        <p:spPr>
          <a:xfrm>
            <a:off x="5532120" y="1234440"/>
            <a:ext cx="315468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0"/>
          <p:cNvSpPr/>
          <p:nvPr/>
        </p:nvSpPr>
        <p:spPr>
          <a:xfrm>
            <a:off x="5532120" y="1234440"/>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txBox="1"/>
          <p:nvPr/>
        </p:nvSpPr>
        <p:spPr>
          <a:xfrm>
            <a:off x="5696712" y="1271016"/>
            <a:ext cx="29260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Budget finder</a:t>
            </a:r>
            <a:endParaRPr b="0" i="0" sz="1150" u="none" cap="none" strike="noStrike">
              <a:solidFill>
                <a:schemeClr val="dk1"/>
              </a:solidFill>
              <a:latin typeface="Calibri"/>
              <a:ea typeface="Calibri"/>
              <a:cs typeface="Calibri"/>
              <a:sym typeface="Calibri"/>
            </a:endParaRPr>
          </a:p>
        </p:txBody>
      </p:sp>
      <p:sp>
        <p:nvSpPr>
          <p:cNvPr id="282" name="Google Shape;282;p10"/>
          <p:cNvSpPr txBox="1"/>
          <p:nvPr/>
        </p:nvSpPr>
        <p:spPr>
          <a:xfrm>
            <a:off x="5696712" y="1508760"/>
            <a:ext cx="292608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Set a monthly budget in taka. Twenty cities show rent, a month in local money and in taka, and what is left.</a:t>
            </a:r>
            <a:endParaRPr b="0" i="0" sz="950" u="none" cap="none" strike="noStrike">
              <a:solidFill>
                <a:schemeClr val="dk1"/>
              </a:solidFill>
              <a:latin typeface="Calibri"/>
              <a:ea typeface="Calibri"/>
              <a:cs typeface="Calibri"/>
              <a:sym typeface="Calibri"/>
            </a:endParaRPr>
          </a:p>
        </p:txBody>
      </p:sp>
      <p:sp>
        <p:nvSpPr>
          <p:cNvPr id="283" name="Google Shape;283;p10"/>
          <p:cNvSpPr/>
          <p:nvPr/>
        </p:nvSpPr>
        <p:spPr>
          <a:xfrm>
            <a:off x="5532120" y="2121408"/>
            <a:ext cx="315468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5532120" y="2121408"/>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0"/>
          <p:cNvSpPr txBox="1"/>
          <p:nvPr/>
        </p:nvSpPr>
        <p:spPr>
          <a:xfrm>
            <a:off x="5696712" y="2157984"/>
            <a:ext cx="29260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City details</a:t>
            </a:r>
            <a:endParaRPr b="0" i="0" sz="1150" u="none" cap="none" strike="noStrike">
              <a:solidFill>
                <a:schemeClr val="dk1"/>
              </a:solidFill>
              <a:latin typeface="Calibri"/>
              <a:ea typeface="Calibri"/>
              <a:cs typeface="Calibri"/>
              <a:sym typeface="Calibri"/>
            </a:endParaRPr>
          </a:p>
        </p:txBody>
      </p:sp>
      <p:sp>
        <p:nvSpPr>
          <p:cNvPr id="286" name="Google Shape;286;p10"/>
          <p:cNvSpPr txBox="1"/>
          <p:nvPr/>
        </p:nvSpPr>
        <p:spPr>
          <a:xfrm>
            <a:off x="5696712" y="2395728"/>
            <a:ext cx="292608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Rent, food, transport, bills, phone, study and leisure. Rounded up, so a month is never shown cheaper than it is.</a:t>
            </a:r>
            <a:endParaRPr b="0" i="0" sz="950" u="none" cap="none" strike="noStrike">
              <a:solidFill>
                <a:schemeClr val="dk1"/>
              </a:solidFill>
              <a:latin typeface="Calibri"/>
              <a:ea typeface="Calibri"/>
              <a:cs typeface="Calibri"/>
              <a:sym typeface="Calibri"/>
            </a:endParaRPr>
          </a:p>
        </p:txBody>
      </p:sp>
      <p:sp>
        <p:nvSpPr>
          <p:cNvPr id="287" name="Google Shape;287;p10"/>
          <p:cNvSpPr/>
          <p:nvPr/>
        </p:nvSpPr>
        <p:spPr>
          <a:xfrm>
            <a:off x="5532120" y="3008376"/>
            <a:ext cx="315468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0"/>
          <p:cNvSpPr/>
          <p:nvPr/>
        </p:nvSpPr>
        <p:spPr>
          <a:xfrm>
            <a:off x="5532120" y="3008376"/>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0"/>
          <p:cNvSpPr txBox="1"/>
          <p:nvPr/>
        </p:nvSpPr>
        <p:spPr>
          <a:xfrm>
            <a:off x="5696712" y="3044952"/>
            <a:ext cx="29260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Arrival checklist</a:t>
            </a:r>
            <a:endParaRPr b="0" i="0" sz="1150" u="none" cap="none" strike="noStrike">
              <a:solidFill>
                <a:schemeClr val="dk1"/>
              </a:solidFill>
              <a:latin typeface="Calibri"/>
              <a:ea typeface="Calibri"/>
              <a:cs typeface="Calibri"/>
              <a:sym typeface="Calibri"/>
            </a:endParaRPr>
          </a:p>
        </p:txBody>
      </p:sp>
      <p:sp>
        <p:nvSpPr>
          <p:cNvPr id="290" name="Google Shape;290;p10"/>
          <p:cNvSpPr txBox="1"/>
          <p:nvPr/>
        </p:nvSpPr>
        <p:spPr>
          <a:xfrm>
            <a:off x="5696712" y="3282696"/>
            <a:ext cx="292608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By country: before you fly, in the first week, in the first month. Ticks stay in your browser.</a:t>
            </a:r>
            <a:endParaRPr b="0" i="0" sz="950" u="none" cap="none" strike="noStrike">
              <a:solidFill>
                <a:schemeClr val="dk1"/>
              </a:solidFill>
              <a:latin typeface="Calibri"/>
              <a:ea typeface="Calibri"/>
              <a:cs typeface="Calibri"/>
              <a:sym typeface="Calibri"/>
            </a:endParaRPr>
          </a:p>
        </p:txBody>
      </p:sp>
      <p:sp>
        <p:nvSpPr>
          <p:cNvPr id="291" name="Google Shape;291;p10"/>
          <p:cNvSpPr/>
          <p:nvPr/>
        </p:nvSpPr>
        <p:spPr>
          <a:xfrm>
            <a:off x="5532120" y="3895344"/>
            <a:ext cx="315468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0"/>
          <p:cNvSpPr/>
          <p:nvPr/>
        </p:nvSpPr>
        <p:spPr>
          <a:xfrm>
            <a:off x="5532120" y="3895344"/>
            <a:ext cx="64008" cy="813816"/>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0"/>
          <p:cNvSpPr txBox="1"/>
          <p:nvPr/>
        </p:nvSpPr>
        <p:spPr>
          <a:xfrm>
            <a:off x="5696712" y="3931920"/>
            <a:ext cx="292608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Look and ask, not approve</a:t>
            </a:r>
            <a:endParaRPr b="0" i="0" sz="1150" u="none" cap="none" strike="noStrike">
              <a:solidFill>
                <a:schemeClr val="dk1"/>
              </a:solidFill>
              <a:latin typeface="Calibri"/>
              <a:ea typeface="Calibri"/>
              <a:cs typeface="Calibri"/>
              <a:sym typeface="Calibri"/>
            </a:endParaRPr>
          </a:p>
        </p:txBody>
      </p:sp>
      <p:sp>
        <p:nvSpPr>
          <p:cNvPr id="294" name="Google Shape;294;p10"/>
          <p:cNvSpPr txBox="1"/>
          <p:nvPr/>
        </p:nvSpPr>
        <p:spPr>
          <a:xfrm>
            <a:off x="5696712" y="4169664"/>
            <a:ext cx="292608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The student sees the household's payments and can ask the assistant, for example the rent in Manchester. Only the parent approves.</a:t>
            </a:r>
            <a:endParaRPr b="0" i="0" sz="950" u="none" cap="none" strike="noStrike">
              <a:solidFill>
                <a:schemeClr val="dk1"/>
              </a:solidFill>
              <a:latin typeface="Calibri"/>
              <a:ea typeface="Calibri"/>
              <a:cs typeface="Calibri"/>
              <a:sym typeface="Calibri"/>
            </a:endParaRPr>
          </a:p>
        </p:txBody>
      </p:sp>
      <p:sp>
        <p:nvSpPr>
          <p:cNvPr id="295" name="Google Shape;295;p10"/>
          <p:cNvSpPr txBox="1"/>
          <p:nvPr/>
        </p:nvSpPr>
        <p:spPr>
          <a:xfrm>
            <a:off x="457200" y="4864608"/>
            <a:ext cx="82296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City costs are invented for the sandbox, and every figure carries a Not verified badge. Indicative. Confirm with your AD bank.</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1"/>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An AI that cannot cheat</a:t>
            </a:r>
            <a:endParaRPr sz="3600"/>
          </a:p>
        </p:txBody>
      </p:sp>
      <p:sp>
        <p:nvSpPr>
          <p:cNvPr id="302" name="Google Shape;302;p11"/>
          <p:cNvSpPr txBox="1"/>
          <p:nvPr/>
        </p:nvSpPr>
        <p:spPr>
          <a:xfrm>
            <a:off x="457200" y="1060704"/>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300"/>
              <a:buFont typeface="Calibri"/>
              <a:buNone/>
            </a:pPr>
            <a:r>
              <a:rPr b="1" i="0" lang="en-US" sz="1300" u="none" cap="none" strike="noStrike">
                <a:solidFill>
                  <a:schemeClr val="accent1"/>
                </a:solidFill>
                <a:latin typeface="Calibri"/>
                <a:ea typeface="Calibri"/>
                <a:cs typeface="Calibri"/>
                <a:sym typeface="Calibri"/>
              </a:rPr>
              <a:t>Our thesis: AI can participate only if it cannot be the financial authority.</a:t>
            </a:r>
            <a:endParaRPr b="0" i="0" sz="1300" u="none" cap="none" strike="noStrike">
              <a:solidFill>
                <a:schemeClr val="dk1"/>
              </a:solidFill>
              <a:latin typeface="Calibri"/>
              <a:ea typeface="Calibri"/>
              <a:cs typeface="Calibri"/>
              <a:sym typeface="Calibri"/>
            </a:endParaRPr>
          </a:p>
        </p:txBody>
      </p:sp>
      <p:sp>
        <p:nvSpPr>
          <p:cNvPr id="303" name="Google Shape;303;p11"/>
          <p:cNvSpPr/>
          <p:nvPr/>
        </p:nvSpPr>
        <p:spPr>
          <a:xfrm>
            <a:off x="45720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txBox="1"/>
          <p:nvPr/>
        </p:nvSpPr>
        <p:spPr>
          <a:xfrm>
            <a:off x="50292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1  Policy check</a:t>
            </a:r>
            <a:endParaRPr b="0" i="0" sz="1200" u="none" cap="none" strike="noStrike">
              <a:solidFill>
                <a:schemeClr val="dk1"/>
              </a:solidFill>
              <a:latin typeface="Calibri"/>
              <a:ea typeface="Calibri"/>
              <a:cs typeface="Calibri"/>
              <a:sym typeface="Calibri"/>
            </a:endParaRPr>
          </a:p>
        </p:txBody>
      </p:sp>
      <p:sp>
        <p:nvSpPr>
          <p:cNvPr id="305" name="Google Shape;305;p11"/>
          <p:cNvSpPr/>
          <p:nvPr/>
        </p:nvSpPr>
        <p:spPr>
          <a:xfrm>
            <a:off x="164592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txBox="1"/>
          <p:nvPr/>
        </p:nvSpPr>
        <p:spPr>
          <a:xfrm>
            <a:off x="169164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2  Engine facts</a:t>
            </a:r>
            <a:endParaRPr b="0" i="0" sz="1200" u="none" cap="none" strike="noStrike">
              <a:solidFill>
                <a:schemeClr val="dk1"/>
              </a:solidFill>
              <a:latin typeface="Calibri"/>
              <a:ea typeface="Calibri"/>
              <a:cs typeface="Calibri"/>
              <a:sym typeface="Calibri"/>
            </a:endParaRPr>
          </a:p>
        </p:txBody>
      </p:sp>
      <p:sp>
        <p:nvSpPr>
          <p:cNvPr id="307" name="Google Shape;307;p11"/>
          <p:cNvSpPr/>
          <p:nvPr/>
        </p:nvSpPr>
        <p:spPr>
          <a:xfrm>
            <a:off x="283464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1"/>
          <p:cNvSpPr txBox="1"/>
          <p:nvPr/>
        </p:nvSpPr>
        <p:spPr>
          <a:xfrm>
            <a:off x="288036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3  Mask personal data</a:t>
            </a:r>
            <a:endParaRPr b="0" i="0" sz="1200" u="none" cap="none" strike="noStrike">
              <a:solidFill>
                <a:schemeClr val="dk1"/>
              </a:solidFill>
              <a:latin typeface="Calibri"/>
              <a:ea typeface="Calibri"/>
              <a:cs typeface="Calibri"/>
              <a:sym typeface="Calibri"/>
            </a:endParaRPr>
          </a:p>
        </p:txBody>
      </p:sp>
      <p:sp>
        <p:nvSpPr>
          <p:cNvPr id="309" name="Google Shape;309;p11"/>
          <p:cNvSpPr/>
          <p:nvPr/>
        </p:nvSpPr>
        <p:spPr>
          <a:xfrm>
            <a:off x="4023360" y="1435608"/>
            <a:ext cx="1051560" cy="594360"/>
          </a:xfrm>
          <a:prstGeom prst="roundRect">
            <a:avLst>
              <a:gd fmla="val 12308" name="adj"/>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1"/>
          <p:cNvSpPr txBox="1"/>
          <p:nvPr/>
        </p:nvSpPr>
        <p:spPr>
          <a:xfrm>
            <a:off x="406908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4  Model (optional)</a:t>
            </a:r>
            <a:endParaRPr b="0" i="0" sz="1200" u="none" cap="none" strike="noStrike">
              <a:solidFill>
                <a:schemeClr val="dk1"/>
              </a:solidFill>
              <a:latin typeface="Calibri"/>
              <a:ea typeface="Calibri"/>
              <a:cs typeface="Calibri"/>
              <a:sym typeface="Calibri"/>
            </a:endParaRPr>
          </a:p>
        </p:txBody>
      </p:sp>
      <p:sp>
        <p:nvSpPr>
          <p:cNvPr id="311" name="Google Shape;311;p11"/>
          <p:cNvSpPr/>
          <p:nvPr/>
        </p:nvSpPr>
        <p:spPr>
          <a:xfrm>
            <a:off x="521208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1"/>
          <p:cNvSpPr txBox="1"/>
          <p:nvPr/>
        </p:nvSpPr>
        <p:spPr>
          <a:xfrm>
            <a:off x="525780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5  Number guard</a:t>
            </a:r>
            <a:endParaRPr b="0" i="0" sz="1200" u="none" cap="none" strike="noStrike">
              <a:solidFill>
                <a:schemeClr val="dk1"/>
              </a:solidFill>
              <a:latin typeface="Calibri"/>
              <a:ea typeface="Calibri"/>
              <a:cs typeface="Calibri"/>
              <a:sym typeface="Calibri"/>
            </a:endParaRPr>
          </a:p>
        </p:txBody>
      </p:sp>
      <p:sp>
        <p:nvSpPr>
          <p:cNvPr id="313" name="Google Shape;313;p11"/>
          <p:cNvSpPr/>
          <p:nvPr/>
        </p:nvSpPr>
        <p:spPr>
          <a:xfrm>
            <a:off x="640080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1"/>
          <p:cNvSpPr txBox="1"/>
          <p:nvPr/>
        </p:nvSpPr>
        <p:spPr>
          <a:xfrm>
            <a:off x="644652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6  Tool guard</a:t>
            </a:r>
            <a:endParaRPr b="0" i="0" sz="1200" u="none" cap="none" strike="noStrike">
              <a:solidFill>
                <a:schemeClr val="dk1"/>
              </a:solidFill>
              <a:latin typeface="Calibri"/>
              <a:ea typeface="Calibri"/>
              <a:cs typeface="Calibri"/>
              <a:sym typeface="Calibri"/>
            </a:endParaRPr>
          </a:p>
        </p:txBody>
      </p:sp>
      <p:sp>
        <p:nvSpPr>
          <p:cNvPr id="315" name="Google Shape;315;p11"/>
          <p:cNvSpPr/>
          <p:nvPr/>
        </p:nvSpPr>
        <p:spPr>
          <a:xfrm>
            <a:off x="7589520" y="1435608"/>
            <a:ext cx="1051560" cy="594360"/>
          </a:xfrm>
          <a:prstGeom prst="roundRect">
            <a:avLst>
              <a:gd fmla="val 12308"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1"/>
          <p:cNvSpPr txBox="1"/>
          <p:nvPr/>
        </p:nvSpPr>
        <p:spPr>
          <a:xfrm>
            <a:off x="7635240" y="1435608"/>
            <a:ext cx="960120" cy="5943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lt1"/>
              </a:buClr>
              <a:buSzPts val="1200"/>
              <a:buFont typeface="Calibri"/>
              <a:buNone/>
            </a:pPr>
            <a:r>
              <a:rPr b="1" i="0" lang="en-US" sz="1200" u="none" cap="none" strike="noStrike">
                <a:solidFill>
                  <a:schemeClr val="lt1"/>
                </a:solidFill>
                <a:latin typeface="Calibri"/>
                <a:ea typeface="Calibri"/>
                <a:cs typeface="Calibri"/>
                <a:sym typeface="Calibri"/>
              </a:rPr>
              <a:t>7  Audit</a:t>
            </a:r>
            <a:endParaRPr b="0" i="0" sz="1200" u="none" cap="none" strike="noStrike">
              <a:solidFill>
                <a:schemeClr val="dk1"/>
              </a:solidFill>
              <a:latin typeface="Calibri"/>
              <a:ea typeface="Calibri"/>
              <a:cs typeface="Calibri"/>
              <a:sym typeface="Calibri"/>
            </a:endParaRPr>
          </a:p>
        </p:txBody>
      </p:sp>
      <p:sp>
        <p:nvSpPr>
          <p:cNvPr id="317" name="Google Shape;317;p11"/>
          <p:cNvSpPr txBox="1"/>
          <p:nvPr/>
        </p:nvSpPr>
        <p:spPr>
          <a:xfrm>
            <a:off x="457200" y="2084832"/>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200"/>
              <a:buFont typeface="Calibri"/>
              <a:buNone/>
            </a:pPr>
            <a:r>
              <a:rPr b="0" i="0" lang="en-US" sz="1200" u="none" cap="none" strike="noStrike">
                <a:solidFill>
                  <a:schemeClr val="dk2"/>
                </a:solidFill>
                <a:latin typeface="Calibri"/>
                <a:ea typeface="Calibri"/>
                <a:cs typeface="Calibri"/>
                <a:sym typeface="Calibri"/>
              </a:rPr>
              <a:t>Only step 4 is not deterministic, and it is optional. A flagged message never reaches it.</a:t>
            </a:r>
            <a:endParaRPr b="0" i="0" sz="1200" u="none" cap="none" strike="noStrike">
              <a:solidFill>
                <a:schemeClr val="dk1"/>
              </a:solidFill>
              <a:latin typeface="Calibri"/>
              <a:ea typeface="Calibri"/>
              <a:cs typeface="Calibri"/>
              <a:sym typeface="Calibri"/>
            </a:endParaRPr>
          </a:p>
        </p:txBody>
      </p:sp>
      <p:sp>
        <p:nvSpPr>
          <p:cNvPr id="318" name="Google Shape;318;p11"/>
          <p:cNvSpPr/>
          <p:nvPr/>
        </p:nvSpPr>
        <p:spPr>
          <a:xfrm>
            <a:off x="45720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1"/>
          <p:cNvSpPr txBox="1"/>
          <p:nvPr/>
        </p:nvSpPr>
        <p:spPr>
          <a:xfrm>
            <a:off x="64008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Every number comes from the engine</a:t>
            </a:r>
            <a:endParaRPr b="0" i="0" sz="1600" u="none" cap="none" strike="noStrike">
              <a:solidFill>
                <a:schemeClr val="dk1"/>
              </a:solidFill>
              <a:latin typeface="Calibri"/>
              <a:ea typeface="Calibri"/>
              <a:cs typeface="Calibri"/>
              <a:sym typeface="Calibri"/>
            </a:endParaRPr>
          </a:p>
        </p:txBody>
      </p:sp>
      <p:sp>
        <p:nvSpPr>
          <p:cNvPr id="320" name="Google Shape;320;p11"/>
          <p:cNvSpPr txBox="1"/>
          <p:nvPr/>
        </p:nvSpPr>
        <p:spPr>
          <a:xfrm>
            <a:off x="64008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A number guard rejects any figure the engine did not produce, then a template answer takes over.</a:t>
            </a:r>
            <a:endParaRPr b="0" i="0" sz="1400" u="none" cap="none" strike="noStrike">
              <a:solidFill>
                <a:schemeClr val="dk1"/>
              </a:solidFill>
              <a:latin typeface="Calibri"/>
              <a:ea typeface="Calibri"/>
              <a:cs typeface="Calibri"/>
              <a:sym typeface="Calibri"/>
            </a:endParaRPr>
          </a:p>
        </p:txBody>
      </p:sp>
      <p:sp>
        <p:nvSpPr>
          <p:cNvPr id="321" name="Google Shape;321;p11"/>
          <p:cNvSpPr/>
          <p:nvPr/>
        </p:nvSpPr>
        <p:spPr>
          <a:xfrm>
            <a:off x="324612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1"/>
          <p:cNvSpPr txBox="1"/>
          <p:nvPr/>
        </p:nvSpPr>
        <p:spPr>
          <a:xfrm>
            <a:off x="342900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It can only propose</a:t>
            </a:r>
            <a:endParaRPr b="0" i="0" sz="1600" u="none" cap="none" strike="noStrike">
              <a:solidFill>
                <a:schemeClr val="dk1"/>
              </a:solidFill>
              <a:latin typeface="Calibri"/>
              <a:ea typeface="Calibri"/>
              <a:cs typeface="Calibri"/>
              <a:sym typeface="Calibri"/>
            </a:endParaRPr>
          </a:p>
        </p:txBody>
      </p:sp>
      <p:sp>
        <p:nvSpPr>
          <p:cNvPr id="323" name="Google Shape;323;p11"/>
          <p:cNvSpPr txBox="1"/>
          <p:nvPr/>
        </p:nvSpPr>
        <p:spPr>
          <a:xfrm>
            <a:off x="342900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It may make a quote. It cannot create a payment, approve, submit or cancel. A human approves with MFA.</a:t>
            </a:r>
            <a:endParaRPr b="0" i="0" sz="1400" u="none" cap="none" strike="noStrike">
              <a:solidFill>
                <a:schemeClr val="dk1"/>
              </a:solidFill>
              <a:latin typeface="Calibri"/>
              <a:ea typeface="Calibri"/>
              <a:cs typeface="Calibri"/>
              <a:sym typeface="Calibri"/>
            </a:endParaRPr>
          </a:p>
        </p:txBody>
      </p:sp>
      <p:sp>
        <p:nvSpPr>
          <p:cNvPr id="324" name="Google Shape;324;p11"/>
          <p:cNvSpPr/>
          <p:nvPr/>
        </p:nvSpPr>
        <p:spPr>
          <a:xfrm>
            <a:off x="6035040" y="2514600"/>
            <a:ext cx="2651760" cy="2194560"/>
          </a:xfrm>
          <a:prstGeom prst="roundRect">
            <a:avLst>
              <a:gd fmla="val 3333"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1"/>
          <p:cNvSpPr txBox="1"/>
          <p:nvPr/>
        </p:nvSpPr>
        <p:spPr>
          <a:xfrm>
            <a:off x="6217920" y="2651760"/>
            <a:ext cx="22860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600"/>
              <a:buFont typeface="Calibri"/>
              <a:buNone/>
            </a:pPr>
            <a:r>
              <a:rPr b="1" i="0" lang="en-US" sz="1600" u="none" cap="none" strike="noStrike">
                <a:solidFill>
                  <a:schemeClr val="dk1"/>
                </a:solidFill>
                <a:latin typeface="Calibri"/>
                <a:ea typeface="Calibri"/>
                <a:cs typeface="Calibri"/>
                <a:sym typeface="Calibri"/>
              </a:rPr>
              <a:t>Works with no key</a:t>
            </a:r>
            <a:endParaRPr b="0" i="0" sz="1600" u="none" cap="none" strike="noStrike">
              <a:solidFill>
                <a:schemeClr val="dk1"/>
              </a:solidFill>
              <a:latin typeface="Calibri"/>
              <a:ea typeface="Calibri"/>
              <a:cs typeface="Calibri"/>
              <a:sym typeface="Calibri"/>
            </a:endParaRPr>
          </a:p>
        </p:txBody>
      </p:sp>
      <p:sp>
        <p:nvSpPr>
          <p:cNvPr id="326" name="Google Shape;326;p11"/>
          <p:cNvSpPr txBox="1"/>
          <p:nvPr/>
        </p:nvSpPr>
        <p:spPr>
          <a:xfrm>
            <a:off x="6217920" y="3337560"/>
            <a:ext cx="22860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400"/>
              <a:buFont typeface="Calibri"/>
              <a:buNone/>
            </a:pPr>
            <a:r>
              <a:rPr b="0" i="0" lang="en-US" sz="1400" u="none" cap="none" strike="noStrike">
                <a:solidFill>
                  <a:schemeClr val="dk2"/>
                </a:solidFill>
                <a:latin typeface="Calibri"/>
                <a:ea typeface="Calibri"/>
                <a:cs typeface="Calibri"/>
                <a:sym typeface="Calibri"/>
              </a:rPr>
              <a:t>Template mode runs the same checks. A real model is one command away: check_ai.</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12"/>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Trained agents, measured</a:t>
            </a:r>
            <a:endParaRPr sz="3600"/>
          </a:p>
        </p:txBody>
      </p:sp>
      <p:sp>
        <p:nvSpPr>
          <p:cNvPr id="333" name="Google Shape;333;p12"/>
          <p:cNvSpPr txBox="1"/>
          <p:nvPr/>
        </p:nvSpPr>
        <p:spPr>
          <a:xfrm>
            <a:off x="457200" y="1078992"/>
            <a:ext cx="822960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950"/>
              <a:buFont typeface="Calibri"/>
              <a:buNone/>
            </a:pPr>
            <a:r>
              <a:rPr b="1" i="0" lang="en-US" sz="950" u="none" cap="none" strike="noStrike">
                <a:solidFill>
                  <a:schemeClr val="accent1"/>
                </a:solidFill>
                <a:latin typeface="Calibri"/>
                <a:ea typeface="Calibri"/>
                <a:cs typeface="Calibri"/>
                <a:sym typeface="Calibri"/>
              </a:rPr>
              <a:t>We measured the models against baselines we ran, and publish the modest results because the envelope, not the benchmark, is the contribution.</a:t>
            </a:r>
            <a:endParaRPr b="0" i="0" sz="950" u="none" cap="none" strike="noStrike">
              <a:solidFill>
                <a:schemeClr val="dk1"/>
              </a:solidFill>
              <a:latin typeface="Calibri"/>
              <a:ea typeface="Calibri"/>
              <a:cs typeface="Calibri"/>
              <a:sym typeface="Calibri"/>
            </a:endParaRPr>
          </a:p>
        </p:txBody>
      </p:sp>
      <p:graphicFrame>
        <p:nvGraphicFramePr>
          <p:cNvPr id="334" name="Google Shape;334;p12"/>
          <p:cNvGraphicFramePr/>
          <p:nvPr/>
        </p:nvGraphicFramePr>
        <p:xfrm>
          <a:off x="457200" y="1508760"/>
          <a:ext cx="3000000" cy="3000000"/>
        </p:xfrm>
        <a:graphic>
          <a:graphicData uri="http://schemas.openxmlformats.org/drawingml/2006/table">
            <a:tbl>
              <a:tblPr>
                <a:noFill/>
                <a:tableStyleId>{9FCBD0EA-42DF-4A38-8C5C-F2C40DA175B8}</a:tableStyleId>
              </a:tblPr>
              <a:tblGrid>
                <a:gridCol w="4389125"/>
                <a:gridCol w="1920250"/>
                <a:gridCol w="1920250"/>
              </a:tblGrid>
              <a:tr h="283475">
                <a:tc>
                  <a:txBody>
                    <a:bodyPr/>
                    <a:lstStyle/>
                    <a:p>
                      <a:pPr indent="0" lvl="0" marL="0" marR="0" rtl="0" algn="l">
                        <a:spcBef>
                          <a:spcPts val="0"/>
                        </a:spcBef>
                        <a:spcAft>
                          <a:spcPts val="0"/>
                        </a:spcAft>
                        <a:buClr>
                          <a:schemeClr val="lt1"/>
                        </a:buClr>
                        <a:buSzPts val="1100"/>
                        <a:buFont typeface="Calibri"/>
                        <a:buNone/>
                      </a:pPr>
                      <a:r>
                        <a:rPr b="1" lang="en-US" sz="1100" u="none" cap="none" strike="noStrike">
                          <a:solidFill>
                            <a:schemeClr val="lt1"/>
                          </a:solidFill>
                        </a:rPr>
                        <a:t>On 113 frozen messages</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100"/>
                        <a:buFont typeface="Calibri"/>
                        <a:buNone/>
                      </a:pPr>
                      <a:r>
                        <a:rPr b="1" lang="en-US" sz="1100" u="none" cap="none" strike="noStrike">
                          <a:solidFill>
                            <a:schemeClr val="lt1"/>
                          </a:solidFill>
                        </a:rPr>
                        <a:t>Rules</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100"/>
                        <a:buFont typeface="Calibri"/>
                        <a:buNone/>
                      </a:pPr>
                      <a:r>
                        <a:rPr b="1" lang="en-US" sz="1100" u="none" cap="none" strike="noStrike">
                          <a:solidFill>
                            <a:schemeClr val="lt1"/>
                          </a:solidFill>
                        </a:rPr>
                        <a:t>Agent</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r>
              <a:tr h="283475">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Right intent</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61.1%</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1"/>
                        </a:buClr>
                        <a:buSzPts val="1100"/>
                        <a:buFont typeface="Calibri"/>
                        <a:buNone/>
                      </a:pPr>
                      <a:r>
                        <a:rPr b="1" lang="en-US" sz="1100" u="none" cap="none" strike="noStrike">
                          <a:solidFill>
                            <a:schemeClr val="accent1"/>
                          </a:solidFill>
                        </a:rPr>
                        <a:t>88.5%</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283475">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Plan read exactly</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57.6%</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accent1"/>
                        </a:buClr>
                        <a:buSzPts val="1100"/>
                        <a:buFont typeface="Calibri"/>
                        <a:buNone/>
                      </a:pPr>
                      <a:r>
                        <a:rPr b="1" lang="en-US" sz="1100" u="none" cap="none" strike="noStrike">
                          <a:solidFill>
                            <a:schemeClr val="accent1"/>
                          </a:solidFill>
                        </a:rPr>
                        <a:t>100%</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r h="283475">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Attacks blocked</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28.6%</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1"/>
                        </a:buClr>
                        <a:buSzPts val="1100"/>
                        <a:buFont typeface="Calibri"/>
                        <a:buNone/>
                      </a:pPr>
                      <a:r>
                        <a:rPr b="1" lang="en-US" sz="1100" u="none" cap="none" strike="noStrike">
                          <a:solidFill>
                            <a:schemeClr val="accent1"/>
                          </a:solidFill>
                        </a:rPr>
                        <a:t>92.9%</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283475">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Harmless blocked</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100"/>
                        <a:buFont typeface="Calibri"/>
                        <a:buNone/>
                      </a:pPr>
                      <a:r>
                        <a:rPr lang="en-US" sz="1100" u="none" cap="none" strike="noStrike">
                          <a:solidFill>
                            <a:schemeClr val="dk1"/>
                          </a:solidFill>
                        </a:rPr>
                        <a:t>2%</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100"/>
                        <a:buFont typeface="Calibri"/>
                        <a:buNone/>
                      </a:pPr>
                      <a:r>
                        <a:rPr b="1" lang="en-US" sz="1100" u="none" cap="none" strike="noStrike">
                          <a:solidFill>
                            <a:schemeClr val="dk1"/>
                          </a:solidFill>
                        </a:rPr>
                        <a:t>2%</a:t>
                      </a:r>
                      <a:endParaRPr sz="11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bl>
          </a:graphicData>
        </a:graphic>
      </p:graphicFrame>
      <p:sp>
        <p:nvSpPr>
          <p:cNvPr id="335" name="Google Shape;335;p12"/>
          <p:cNvSpPr txBox="1"/>
          <p:nvPr/>
        </p:nvSpPr>
        <p:spPr>
          <a:xfrm>
            <a:off x="457200" y="2971800"/>
            <a:ext cx="8229600"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Written by hand after the model was frozen, now reproduced; not a new blind study. A small sample: about plus or minus 7 points. Real bank questions: rules 40.1%, agent 95.1%.</a:t>
            </a:r>
            <a:endParaRPr b="0" i="0" sz="1000" u="none" cap="none" strike="noStrike">
              <a:solidFill>
                <a:schemeClr val="dk1"/>
              </a:solidFill>
              <a:latin typeface="Calibri"/>
              <a:ea typeface="Calibri"/>
              <a:cs typeface="Calibri"/>
              <a:sym typeface="Calibri"/>
            </a:endParaRPr>
          </a:p>
        </p:txBody>
      </p:sp>
      <p:sp>
        <p:nvSpPr>
          <p:cNvPr id="336" name="Google Shape;336;p12"/>
          <p:cNvSpPr/>
          <p:nvPr/>
        </p:nvSpPr>
        <p:spPr>
          <a:xfrm>
            <a:off x="457200" y="3502152"/>
            <a:ext cx="2651760" cy="1353312"/>
          </a:xfrm>
          <a:prstGeom prst="roundRect">
            <a:avLst>
              <a:gd fmla="val 5405"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2"/>
          <p:cNvSpPr txBox="1"/>
          <p:nvPr/>
        </p:nvSpPr>
        <p:spPr>
          <a:xfrm>
            <a:off x="566928" y="3538728"/>
            <a:ext cx="243230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What it does</a:t>
            </a:r>
            <a:endParaRPr b="0" i="0" sz="1100" u="none" cap="none" strike="noStrike">
              <a:solidFill>
                <a:schemeClr val="dk1"/>
              </a:solidFill>
              <a:latin typeface="Calibri"/>
              <a:ea typeface="Calibri"/>
              <a:cs typeface="Calibri"/>
              <a:sym typeface="Calibri"/>
            </a:endParaRPr>
          </a:p>
        </p:txBody>
      </p:sp>
      <p:sp>
        <p:nvSpPr>
          <p:cNvPr id="338" name="Google Shape;338;p12"/>
          <p:cNvSpPr txBox="1"/>
          <p:nvPr/>
        </p:nvSpPr>
        <p:spPr>
          <a:xfrm>
            <a:off x="566928" y="3831336"/>
            <a:ext cx="2432304"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939"/>
              <a:buFont typeface="Calibri"/>
              <a:buNone/>
            </a:pPr>
            <a:r>
              <a:rPr b="0" i="0" lang="en-US" sz="940" u="none" cap="none" strike="noStrike">
                <a:solidFill>
                  <a:schemeClr val="dk1"/>
                </a:solidFill>
                <a:latin typeface="Calibri"/>
                <a:ea typeface="Calibri"/>
                <a:cs typeface="Calibri"/>
                <a:sym typeface="Calibri"/>
              </a:rPr>
              <a:t>Reads the intent and marks the words that carry an amount, a currency or a date. It proposes; plain code checks; the engine calculates. A GPU run of a few minutes on 35,588 messages; 34 MB, 18 ms on a CPU.</a:t>
            </a:r>
            <a:endParaRPr b="0" i="0" sz="940" u="none" cap="none" strike="noStrike">
              <a:solidFill>
                <a:schemeClr val="dk1"/>
              </a:solidFill>
              <a:latin typeface="Calibri"/>
              <a:ea typeface="Calibri"/>
              <a:cs typeface="Calibri"/>
              <a:sym typeface="Calibri"/>
            </a:endParaRPr>
          </a:p>
        </p:txBody>
      </p:sp>
      <p:sp>
        <p:nvSpPr>
          <p:cNvPr id="339" name="Google Shape;339;p12"/>
          <p:cNvSpPr/>
          <p:nvPr/>
        </p:nvSpPr>
        <p:spPr>
          <a:xfrm>
            <a:off x="3246120" y="3502152"/>
            <a:ext cx="2651760" cy="1353312"/>
          </a:xfrm>
          <a:prstGeom prst="roundRect">
            <a:avLst>
              <a:gd fmla="val 5405"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2"/>
          <p:cNvSpPr txBox="1"/>
          <p:nvPr/>
        </p:nvSpPr>
        <p:spPr>
          <a:xfrm>
            <a:off x="3355848" y="3538728"/>
            <a:ext cx="243230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Reinforcement learning</a:t>
            </a:r>
            <a:endParaRPr b="0" i="0" sz="1100" u="none" cap="none" strike="noStrike">
              <a:solidFill>
                <a:schemeClr val="dk1"/>
              </a:solidFill>
              <a:latin typeface="Calibri"/>
              <a:ea typeface="Calibri"/>
              <a:cs typeface="Calibri"/>
              <a:sym typeface="Calibri"/>
            </a:endParaRPr>
          </a:p>
        </p:txBody>
      </p:sp>
      <p:sp>
        <p:nvSpPr>
          <p:cNvPr id="341" name="Google Shape;341;p12"/>
          <p:cNvSpPr txBox="1"/>
          <p:nvPr/>
        </p:nvSpPr>
        <p:spPr>
          <a:xfrm>
            <a:off x="3355848" y="3831336"/>
            <a:ext cx="2432304"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939"/>
              <a:buFont typeface="Calibri"/>
              <a:buNone/>
            </a:pPr>
            <a:r>
              <a:rPr b="0" i="0" lang="en-US" sz="940" u="none" cap="none" strike="noStrike">
                <a:solidFill>
                  <a:schemeClr val="dk1"/>
                </a:solidFill>
                <a:latin typeface="Calibri"/>
                <a:ea typeface="Calibri"/>
                <a:cs typeface="Calibri"/>
                <a:sym typeface="Calibri"/>
              </a:rPr>
              <a:t>A policy trained by Double DQN decides when to ask, read back or plan. On simulated parents: wrong plans 0.8% against 2.8%, 1.17 questions against 0.44. Raw simulator only; the API now adds mandatory clarification and read-back.</a:t>
            </a:r>
            <a:endParaRPr b="0" i="0" sz="940" u="none" cap="none" strike="noStrike">
              <a:solidFill>
                <a:schemeClr val="dk1"/>
              </a:solidFill>
              <a:latin typeface="Calibri"/>
              <a:ea typeface="Calibri"/>
              <a:cs typeface="Calibri"/>
              <a:sym typeface="Calibri"/>
            </a:endParaRPr>
          </a:p>
        </p:txBody>
      </p:sp>
      <p:sp>
        <p:nvSpPr>
          <p:cNvPr id="342" name="Google Shape;342;p12"/>
          <p:cNvSpPr/>
          <p:nvPr/>
        </p:nvSpPr>
        <p:spPr>
          <a:xfrm>
            <a:off x="6035040" y="3502152"/>
            <a:ext cx="2651760" cy="1353312"/>
          </a:xfrm>
          <a:prstGeom prst="roundRect">
            <a:avLst>
              <a:gd fmla="val 5405"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2"/>
          <p:cNvSpPr txBox="1"/>
          <p:nvPr/>
        </p:nvSpPr>
        <p:spPr>
          <a:xfrm>
            <a:off x="6144768" y="3538728"/>
            <a:ext cx="2432304"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1"/>
              </a:buClr>
              <a:buSzPts val="1100"/>
              <a:buFont typeface="Calibri"/>
              <a:buNone/>
            </a:pPr>
            <a:r>
              <a:rPr b="1" i="0" lang="en-US" sz="1100" u="none" cap="none" strike="noStrike">
                <a:solidFill>
                  <a:schemeClr val="accent1"/>
                </a:solidFill>
                <a:latin typeface="Calibri"/>
                <a:ea typeface="Calibri"/>
                <a:cs typeface="Calibri"/>
                <a:sym typeface="Calibri"/>
              </a:rPr>
              <a:t>Also trained, and the limits</a:t>
            </a:r>
            <a:endParaRPr b="0" i="0" sz="1100" u="none" cap="none" strike="noStrike">
              <a:solidFill>
                <a:schemeClr val="dk1"/>
              </a:solidFill>
              <a:latin typeface="Calibri"/>
              <a:ea typeface="Calibri"/>
              <a:cs typeface="Calibri"/>
              <a:sym typeface="Calibri"/>
            </a:endParaRPr>
          </a:p>
        </p:txBody>
      </p:sp>
      <p:sp>
        <p:nvSpPr>
          <p:cNvPr id="344" name="Google Shape;344;p12"/>
          <p:cNvSpPr txBox="1"/>
          <p:nvPr/>
        </p:nvSpPr>
        <p:spPr>
          <a:xfrm>
            <a:off x="6144768" y="3831336"/>
            <a:ext cx="2432304" cy="987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939"/>
              <a:buFont typeface="Calibri"/>
              <a:buNone/>
            </a:pPr>
            <a:r>
              <a:rPr b="0" i="0" lang="en-US" sz="940" u="none" cap="none" strike="noStrike">
                <a:solidFill>
                  <a:schemeClr val="dk1"/>
                </a:solidFill>
                <a:latin typeface="Calibri"/>
                <a:ea typeface="Calibri"/>
                <a:cs typeface="Calibri"/>
                <a:sym typeface="Calibri"/>
              </a:rPr>
              <a:t>A language model rewords answers: 99.8% of its figures are the engine's; a failed check shows the engine's text. A risk model puts 63.2% of flagged payments in its top 1% (random: 1.2%). A person authorizes every payment. Synthetic data.</a:t>
            </a:r>
            <a:endParaRPr b="0" i="0" sz="94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13"/>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Models against baselines</a:t>
            </a:r>
            <a:endParaRPr sz="3600"/>
          </a:p>
        </p:txBody>
      </p:sp>
      <p:sp>
        <p:nvSpPr>
          <p:cNvPr id="351" name="Google Shape;351;p13"/>
          <p:cNvSpPr/>
          <p:nvPr/>
        </p:nvSpPr>
        <p:spPr>
          <a:xfrm>
            <a:off x="457200" y="1234440"/>
            <a:ext cx="4846320" cy="3154680"/>
          </a:xfrm>
          <a:prstGeom prst="roundRect">
            <a:avLst>
              <a:gd fmla="val 23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3"/>
          <p:cNvSpPr txBox="1"/>
          <p:nvPr/>
        </p:nvSpPr>
        <p:spPr>
          <a:xfrm>
            <a:off x="640080" y="1298448"/>
            <a:ext cx="4480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1" i="0" lang="en-US" sz="1300" u="none" cap="none" strike="noStrike">
                <a:solidFill>
                  <a:schemeClr val="dk1"/>
                </a:solidFill>
                <a:latin typeface="Calibri"/>
                <a:ea typeface="Calibri"/>
                <a:cs typeface="Calibri"/>
                <a:sym typeface="Calibri"/>
              </a:rPr>
              <a:t>Reader on 113 frozen messages (higher is better)</a:t>
            </a:r>
            <a:endParaRPr b="0" i="0" sz="1300" u="none" cap="none" strike="noStrike">
              <a:solidFill>
                <a:schemeClr val="dk1"/>
              </a:solidFill>
              <a:latin typeface="Calibri"/>
              <a:ea typeface="Calibri"/>
              <a:cs typeface="Calibri"/>
              <a:sym typeface="Calibri"/>
            </a:endParaRPr>
          </a:p>
        </p:txBody>
      </p:sp>
      <p:sp>
        <p:nvSpPr>
          <p:cNvPr id="353" name="Google Shape;353;p13"/>
          <p:cNvSpPr txBox="1"/>
          <p:nvPr/>
        </p:nvSpPr>
        <p:spPr>
          <a:xfrm>
            <a:off x="640080" y="1783080"/>
            <a:ext cx="13258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Right intent</a:t>
            </a:r>
            <a:endParaRPr b="0" i="0" sz="1200" u="none" cap="none" strike="noStrike">
              <a:solidFill>
                <a:schemeClr val="dk1"/>
              </a:solidFill>
              <a:latin typeface="Calibri"/>
              <a:ea typeface="Calibri"/>
              <a:cs typeface="Calibri"/>
              <a:sym typeface="Calibri"/>
            </a:endParaRPr>
          </a:p>
        </p:txBody>
      </p:sp>
      <p:sp>
        <p:nvSpPr>
          <p:cNvPr id="354" name="Google Shape;354;p13"/>
          <p:cNvSpPr/>
          <p:nvPr/>
        </p:nvSpPr>
        <p:spPr>
          <a:xfrm>
            <a:off x="2057400" y="1851660"/>
            <a:ext cx="1535464" cy="237744"/>
          </a:xfrm>
          <a:prstGeom prst="roundRect">
            <a:avLst>
              <a:gd fmla="val 11538"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3"/>
          <p:cNvSpPr txBox="1"/>
          <p:nvPr/>
        </p:nvSpPr>
        <p:spPr>
          <a:xfrm>
            <a:off x="3666016" y="1851660"/>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61.1%</a:t>
            </a:r>
            <a:endParaRPr b="0" i="0" sz="1100" u="none" cap="none" strike="noStrike">
              <a:solidFill>
                <a:schemeClr val="dk1"/>
              </a:solidFill>
              <a:latin typeface="Calibri"/>
              <a:ea typeface="Calibri"/>
              <a:cs typeface="Calibri"/>
              <a:sym typeface="Calibri"/>
            </a:endParaRPr>
          </a:p>
        </p:txBody>
      </p:sp>
      <p:sp>
        <p:nvSpPr>
          <p:cNvPr id="356" name="Google Shape;356;p13"/>
          <p:cNvSpPr/>
          <p:nvPr/>
        </p:nvSpPr>
        <p:spPr>
          <a:xfrm>
            <a:off x="2057400" y="2135124"/>
            <a:ext cx="2225310" cy="237744"/>
          </a:xfrm>
          <a:prstGeom prst="roundRect">
            <a:avLst>
              <a:gd fmla="val 1153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txBox="1"/>
          <p:nvPr/>
        </p:nvSpPr>
        <p:spPr>
          <a:xfrm>
            <a:off x="4355862" y="2135124"/>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88.5%</a:t>
            </a:r>
            <a:endParaRPr b="0" i="0" sz="1100" u="none" cap="none" strike="noStrike">
              <a:solidFill>
                <a:schemeClr val="dk1"/>
              </a:solidFill>
              <a:latin typeface="Calibri"/>
              <a:ea typeface="Calibri"/>
              <a:cs typeface="Calibri"/>
              <a:sym typeface="Calibri"/>
            </a:endParaRPr>
          </a:p>
        </p:txBody>
      </p:sp>
      <p:sp>
        <p:nvSpPr>
          <p:cNvPr id="358" name="Google Shape;358;p13"/>
          <p:cNvSpPr txBox="1"/>
          <p:nvPr/>
        </p:nvSpPr>
        <p:spPr>
          <a:xfrm>
            <a:off x="640080" y="2441448"/>
            <a:ext cx="13258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Plan read exactly</a:t>
            </a:r>
            <a:endParaRPr b="0" i="0" sz="1200" u="none" cap="none" strike="noStrike">
              <a:solidFill>
                <a:schemeClr val="dk1"/>
              </a:solidFill>
              <a:latin typeface="Calibri"/>
              <a:ea typeface="Calibri"/>
              <a:cs typeface="Calibri"/>
              <a:sym typeface="Calibri"/>
            </a:endParaRPr>
          </a:p>
        </p:txBody>
      </p:sp>
      <p:sp>
        <p:nvSpPr>
          <p:cNvPr id="359" name="Google Shape;359;p13"/>
          <p:cNvSpPr/>
          <p:nvPr/>
        </p:nvSpPr>
        <p:spPr>
          <a:xfrm>
            <a:off x="2057400" y="2510028"/>
            <a:ext cx="1447800" cy="237744"/>
          </a:xfrm>
          <a:prstGeom prst="roundRect">
            <a:avLst>
              <a:gd fmla="val 11538"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3"/>
          <p:cNvSpPr txBox="1"/>
          <p:nvPr/>
        </p:nvSpPr>
        <p:spPr>
          <a:xfrm>
            <a:off x="3578352" y="2510028"/>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57.6%</a:t>
            </a:r>
            <a:endParaRPr b="0" i="0" sz="1100" u="none" cap="none" strike="noStrike">
              <a:solidFill>
                <a:schemeClr val="dk1"/>
              </a:solidFill>
              <a:latin typeface="Calibri"/>
              <a:ea typeface="Calibri"/>
              <a:cs typeface="Calibri"/>
              <a:sym typeface="Calibri"/>
            </a:endParaRPr>
          </a:p>
        </p:txBody>
      </p:sp>
      <p:sp>
        <p:nvSpPr>
          <p:cNvPr id="361" name="Google Shape;361;p13"/>
          <p:cNvSpPr/>
          <p:nvPr/>
        </p:nvSpPr>
        <p:spPr>
          <a:xfrm>
            <a:off x="2057400" y="2793492"/>
            <a:ext cx="2514600" cy="237744"/>
          </a:xfrm>
          <a:prstGeom prst="roundRect">
            <a:avLst>
              <a:gd fmla="val 1153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3"/>
          <p:cNvSpPr txBox="1"/>
          <p:nvPr/>
        </p:nvSpPr>
        <p:spPr>
          <a:xfrm>
            <a:off x="4645152" y="2793492"/>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100%</a:t>
            </a:r>
            <a:endParaRPr b="0" i="0" sz="1100" u="none" cap="none" strike="noStrike">
              <a:solidFill>
                <a:schemeClr val="dk1"/>
              </a:solidFill>
              <a:latin typeface="Calibri"/>
              <a:ea typeface="Calibri"/>
              <a:cs typeface="Calibri"/>
              <a:sym typeface="Calibri"/>
            </a:endParaRPr>
          </a:p>
        </p:txBody>
      </p:sp>
      <p:sp>
        <p:nvSpPr>
          <p:cNvPr id="363" name="Google Shape;363;p13"/>
          <p:cNvSpPr txBox="1"/>
          <p:nvPr/>
        </p:nvSpPr>
        <p:spPr>
          <a:xfrm>
            <a:off x="640080" y="3099816"/>
            <a:ext cx="13258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0" i="0" lang="en-US" sz="1200" u="none" cap="none" strike="noStrike">
                <a:solidFill>
                  <a:schemeClr val="dk1"/>
                </a:solidFill>
                <a:latin typeface="Calibri"/>
                <a:ea typeface="Calibri"/>
                <a:cs typeface="Calibri"/>
                <a:sym typeface="Calibri"/>
              </a:rPr>
              <a:t>Attacks blocked</a:t>
            </a:r>
            <a:endParaRPr b="0" i="0" sz="1200" u="none" cap="none" strike="noStrike">
              <a:solidFill>
                <a:schemeClr val="dk1"/>
              </a:solidFill>
              <a:latin typeface="Calibri"/>
              <a:ea typeface="Calibri"/>
              <a:cs typeface="Calibri"/>
              <a:sym typeface="Calibri"/>
            </a:endParaRPr>
          </a:p>
        </p:txBody>
      </p:sp>
      <p:sp>
        <p:nvSpPr>
          <p:cNvPr id="364" name="Google Shape;364;p13"/>
          <p:cNvSpPr/>
          <p:nvPr/>
        </p:nvSpPr>
        <p:spPr>
          <a:xfrm>
            <a:off x="2057400" y="3168396"/>
            <a:ext cx="718457" cy="237744"/>
          </a:xfrm>
          <a:prstGeom prst="roundRect">
            <a:avLst>
              <a:gd fmla="val 11538"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3"/>
          <p:cNvSpPr txBox="1"/>
          <p:nvPr/>
        </p:nvSpPr>
        <p:spPr>
          <a:xfrm>
            <a:off x="2849009" y="3168396"/>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28.6%</a:t>
            </a:r>
            <a:endParaRPr b="0" i="0" sz="1100" u="none" cap="none" strike="noStrike">
              <a:solidFill>
                <a:schemeClr val="dk1"/>
              </a:solidFill>
              <a:latin typeface="Calibri"/>
              <a:ea typeface="Calibri"/>
              <a:cs typeface="Calibri"/>
              <a:sym typeface="Calibri"/>
            </a:endParaRPr>
          </a:p>
        </p:txBody>
      </p:sp>
      <p:sp>
        <p:nvSpPr>
          <p:cNvPr id="366" name="Google Shape;366;p13"/>
          <p:cNvSpPr/>
          <p:nvPr/>
        </p:nvSpPr>
        <p:spPr>
          <a:xfrm>
            <a:off x="2057400" y="3451860"/>
            <a:ext cx="2334986" cy="237744"/>
          </a:xfrm>
          <a:prstGeom prst="roundRect">
            <a:avLst>
              <a:gd fmla="val 1153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3"/>
          <p:cNvSpPr txBox="1"/>
          <p:nvPr/>
        </p:nvSpPr>
        <p:spPr>
          <a:xfrm>
            <a:off x="4465538" y="3451860"/>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92.9%</a:t>
            </a:r>
            <a:endParaRPr b="0" i="0" sz="1100" u="none" cap="none" strike="noStrike">
              <a:solidFill>
                <a:schemeClr val="dk1"/>
              </a:solidFill>
              <a:latin typeface="Calibri"/>
              <a:ea typeface="Calibri"/>
              <a:cs typeface="Calibri"/>
              <a:sym typeface="Calibri"/>
            </a:endParaRPr>
          </a:p>
        </p:txBody>
      </p:sp>
      <p:sp>
        <p:nvSpPr>
          <p:cNvPr id="368" name="Google Shape;368;p13"/>
          <p:cNvSpPr/>
          <p:nvPr/>
        </p:nvSpPr>
        <p:spPr>
          <a:xfrm>
            <a:off x="640080" y="3895344"/>
            <a:ext cx="146304" cy="146304"/>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3"/>
          <p:cNvSpPr txBox="1"/>
          <p:nvPr/>
        </p:nvSpPr>
        <p:spPr>
          <a:xfrm>
            <a:off x="859536" y="3840480"/>
            <a:ext cx="1325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Old rules</a:t>
            </a:r>
            <a:endParaRPr b="0" i="0" sz="1000" u="none" cap="none" strike="noStrike">
              <a:solidFill>
                <a:schemeClr val="dk1"/>
              </a:solidFill>
              <a:latin typeface="Calibri"/>
              <a:ea typeface="Calibri"/>
              <a:cs typeface="Calibri"/>
              <a:sym typeface="Calibri"/>
            </a:endParaRPr>
          </a:p>
        </p:txBody>
      </p:sp>
      <p:sp>
        <p:nvSpPr>
          <p:cNvPr id="370" name="Google Shape;370;p13"/>
          <p:cNvSpPr/>
          <p:nvPr/>
        </p:nvSpPr>
        <p:spPr>
          <a:xfrm>
            <a:off x="2194560" y="3895344"/>
            <a:ext cx="146304" cy="146304"/>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3"/>
          <p:cNvSpPr txBox="1"/>
          <p:nvPr/>
        </p:nvSpPr>
        <p:spPr>
          <a:xfrm>
            <a:off x="2414016" y="3840480"/>
            <a:ext cx="13258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Trained reader</a:t>
            </a:r>
            <a:endParaRPr b="0" i="0" sz="1000" u="none" cap="none" strike="noStrike">
              <a:solidFill>
                <a:schemeClr val="dk1"/>
              </a:solidFill>
              <a:latin typeface="Calibri"/>
              <a:ea typeface="Calibri"/>
              <a:cs typeface="Calibri"/>
              <a:sym typeface="Calibri"/>
            </a:endParaRPr>
          </a:p>
        </p:txBody>
      </p:sp>
      <p:sp>
        <p:nvSpPr>
          <p:cNvPr id="372" name="Google Shape;372;p13"/>
          <p:cNvSpPr/>
          <p:nvPr/>
        </p:nvSpPr>
        <p:spPr>
          <a:xfrm>
            <a:off x="5486400" y="1234440"/>
            <a:ext cx="3200400" cy="1463040"/>
          </a:xfrm>
          <a:prstGeom prst="roundRect">
            <a:avLst>
              <a:gd fmla="val 5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3"/>
          <p:cNvSpPr txBox="1"/>
          <p:nvPr/>
        </p:nvSpPr>
        <p:spPr>
          <a:xfrm>
            <a:off x="5623560" y="1280160"/>
            <a:ext cx="29260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Router: flagged payments found in its top 1%</a:t>
            </a:r>
            <a:endParaRPr b="0" i="0" sz="1200" u="none" cap="none" strike="noStrike">
              <a:solidFill>
                <a:schemeClr val="dk1"/>
              </a:solidFill>
              <a:latin typeface="Calibri"/>
              <a:ea typeface="Calibri"/>
              <a:cs typeface="Calibri"/>
              <a:sym typeface="Calibri"/>
            </a:endParaRPr>
          </a:p>
        </p:txBody>
      </p:sp>
      <p:sp>
        <p:nvSpPr>
          <p:cNvPr id="374" name="Google Shape;374;p13"/>
          <p:cNvSpPr txBox="1"/>
          <p:nvPr/>
        </p:nvSpPr>
        <p:spPr>
          <a:xfrm>
            <a:off x="5623560" y="1783080"/>
            <a:ext cx="777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Random</a:t>
            </a:r>
            <a:endParaRPr b="0" i="0" sz="1100" u="none" cap="none" strike="noStrike">
              <a:solidFill>
                <a:schemeClr val="dk1"/>
              </a:solidFill>
              <a:latin typeface="Calibri"/>
              <a:ea typeface="Calibri"/>
              <a:cs typeface="Calibri"/>
              <a:sym typeface="Calibri"/>
            </a:endParaRPr>
          </a:p>
        </p:txBody>
      </p:sp>
      <p:sp>
        <p:nvSpPr>
          <p:cNvPr id="375" name="Google Shape;375;p13"/>
          <p:cNvSpPr/>
          <p:nvPr/>
        </p:nvSpPr>
        <p:spPr>
          <a:xfrm>
            <a:off x="6492240" y="1869948"/>
            <a:ext cx="36576" cy="237744"/>
          </a:xfrm>
          <a:prstGeom prst="roundRect">
            <a:avLst>
              <a:gd fmla="val 7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3"/>
          <p:cNvSpPr txBox="1"/>
          <p:nvPr/>
        </p:nvSpPr>
        <p:spPr>
          <a:xfrm>
            <a:off x="6601968" y="1869948"/>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1.2%</a:t>
            </a:r>
            <a:endParaRPr b="0" i="0" sz="1000" u="none" cap="none" strike="noStrike">
              <a:solidFill>
                <a:schemeClr val="dk1"/>
              </a:solidFill>
              <a:latin typeface="Calibri"/>
              <a:ea typeface="Calibri"/>
              <a:cs typeface="Calibri"/>
              <a:sym typeface="Calibri"/>
            </a:endParaRPr>
          </a:p>
        </p:txBody>
      </p:sp>
      <p:sp>
        <p:nvSpPr>
          <p:cNvPr id="377" name="Google Shape;377;p13"/>
          <p:cNvSpPr txBox="1"/>
          <p:nvPr/>
        </p:nvSpPr>
        <p:spPr>
          <a:xfrm>
            <a:off x="5623560" y="2194560"/>
            <a:ext cx="777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Router</a:t>
            </a:r>
            <a:endParaRPr b="0" i="0" sz="1100" u="none" cap="none" strike="noStrike">
              <a:solidFill>
                <a:schemeClr val="dk1"/>
              </a:solidFill>
              <a:latin typeface="Calibri"/>
              <a:ea typeface="Calibri"/>
              <a:cs typeface="Calibri"/>
              <a:sym typeface="Calibri"/>
            </a:endParaRPr>
          </a:p>
        </p:txBody>
      </p:sp>
      <p:sp>
        <p:nvSpPr>
          <p:cNvPr id="378" name="Google Shape;378;p13"/>
          <p:cNvSpPr/>
          <p:nvPr/>
        </p:nvSpPr>
        <p:spPr>
          <a:xfrm>
            <a:off x="6492240" y="2281428"/>
            <a:ext cx="953838" cy="237744"/>
          </a:xfrm>
          <a:prstGeom prst="roundRect">
            <a:avLst>
              <a:gd fmla="val 1153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3"/>
          <p:cNvSpPr txBox="1"/>
          <p:nvPr/>
        </p:nvSpPr>
        <p:spPr>
          <a:xfrm>
            <a:off x="7519230" y="2281428"/>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63.2%</a:t>
            </a:r>
            <a:endParaRPr b="0" i="0" sz="1000" u="none" cap="none" strike="noStrike">
              <a:solidFill>
                <a:schemeClr val="dk1"/>
              </a:solidFill>
              <a:latin typeface="Calibri"/>
              <a:ea typeface="Calibri"/>
              <a:cs typeface="Calibri"/>
              <a:sym typeface="Calibri"/>
            </a:endParaRPr>
          </a:p>
        </p:txBody>
      </p:sp>
      <p:sp>
        <p:nvSpPr>
          <p:cNvPr id="380" name="Google Shape;380;p13"/>
          <p:cNvSpPr/>
          <p:nvPr/>
        </p:nvSpPr>
        <p:spPr>
          <a:xfrm>
            <a:off x="5486400" y="2834640"/>
            <a:ext cx="3200400" cy="1554480"/>
          </a:xfrm>
          <a:prstGeom prst="roundRect">
            <a:avLst>
              <a:gd fmla="val 470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3"/>
          <p:cNvSpPr txBox="1"/>
          <p:nvPr/>
        </p:nvSpPr>
        <p:spPr>
          <a:xfrm>
            <a:off x="5623560" y="2880360"/>
            <a:ext cx="29260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Dialogue policy: wrong plans (lower is better)</a:t>
            </a:r>
            <a:endParaRPr b="0" i="0" sz="1200" u="none" cap="none" strike="noStrike">
              <a:solidFill>
                <a:schemeClr val="dk1"/>
              </a:solidFill>
              <a:latin typeface="Calibri"/>
              <a:ea typeface="Calibri"/>
              <a:cs typeface="Calibri"/>
              <a:sym typeface="Calibri"/>
            </a:endParaRPr>
          </a:p>
        </p:txBody>
      </p:sp>
      <p:sp>
        <p:nvSpPr>
          <p:cNvPr id="382" name="Google Shape;382;p13"/>
          <p:cNvSpPr txBox="1"/>
          <p:nvPr/>
        </p:nvSpPr>
        <p:spPr>
          <a:xfrm>
            <a:off x="5623560" y="3383280"/>
            <a:ext cx="777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Before</a:t>
            </a:r>
            <a:endParaRPr b="0" i="0" sz="1100" u="none" cap="none" strike="noStrike">
              <a:solidFill>
                <a:schemeClr val="dk1"/>
              </a:solidFill>
              <a:latin typeface="Calibri"/>
              <a:ea typeface="Calibri"/>
              <a:cs typeface="Calibri"/>
              <a:sym typeface="Calibri"/>
            </a:endParaRPr>
          </a:p>
        </p:txBody>
      </p:sp>
      <p:sp>
        <p:nvSpPr>
          <p:cNvPr id="383" name="Google Shape;383;p13"/>
          <p:cNvSpPr/>
          <p:nvPr/>
        </p:nvSpPr>
        <p:spPr>
          <a:xfrm>
            <a:off x="6492240" y="3470148"/>
            <a:ext cx="1068705" cy="237744"/>
          </a:xfrm>
          <a:prstGeom prst="roundRect">
            <a:avLst>
              <a:gd fmla="val 11538"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3"/>
          <p:cNvSpPr txBox="1"/>
          <p:nvPr/>
        </p:nvSpPr>
        <p:spPr>
          <a:xfrm>
            <a:off x="7634097" y="3470148"/>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2.8%</a:t>
            </a:r>
            <a:endParaRPr b="0" i="0" sz="1000" u="none" cap="none" strike="noStrike">
              <a:solidFill>
                <a:schemeClr val="dk1"/>
              </a:solidFill>
              <a:latin typeface="Calibri"/>
              <a:ea typeface="Calibri"/>
              <a:cs typeface="Calibri"/>
              <a:sym typeface="Calibri"/>
            </a:endParaRPr>
          </a:p>
        </p:txBody>
      </p:sp>
      <p:sp>
        <p:nvSpPr>
          <p:cNvPr id="385" name="Google Shape;385;p13"/>
          <p:cNvSpPr txBox="1"/>
          <p:nvPr/>
        </p:nvSpPr>
        <p:spPr>
          <a:xfrm>
            <a:off x="5623560" y="3794760"/>
            <a:ext cx="7772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Learned</a:t>
            </a:r>
            <a:endParaRPr b="0" i="0" sz="1100" u="none" cap="none" strike="noStrike">
              <a:solidFill>
                <a:schemeClr val="dk1"/>
              </a:solidFill>
              <a:latin typeface="Calibri"/>
              <a:ea typeface="Calibri"/>
              <a:cs typeface="Calibri"/>
              <a:sym typeface="Calibri"/>
            </a:endParaRPr>
          </a:p>
        </p:txBody>
      </p:sp>
      <p:sp>
        <p:nvSpPr>
          <p:cNvPr id="386" name="Google Shape;386;p13"/>
          <p:cNvSpPr/>
          <p:nvPr/>
        </p:nvSpPr>
        <p:spPr>
          <a:xfrm>
            <a:off x="6492240" y="3881628"/>
            <a:ext cx="314325" cy="237744"/>
          </a:xfrm>
          <a:prstGeom prst="roundRect">
            <a:avLst>
              <a:gd fmla="val 1153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3"/>
          <p:cNvSpPr txBox="1"/>
          <p:nvPr/>
        </p:nvSpPr>
        <p:spPr>
          <a:xfrm>
            <a:off x="6879717" y="3881628"/>
            <a:ext cx="73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0.8%</a:t>
            </a:r>
            <a:endParaRPr b="0" i="0" sz="1000" u="none" cap="none" strike="noStrike">
              <a:solidFill>
                <a:schemeClr val="dk1"/>
              </a:solidFill>
              <a:latin typeface="Calibri"/>
              <a:ea typeface="Calibri"/>
              <a:cs typeface="Calibri"/>
              <a:sym typeface="Calibri"/>
            </a:endParaRPr>
          </a:p>
        </p:txBody>
      </p:sp>
      <p:sp>
        <p:nvSpPr>
          <p:cNvPr id="388" name="Google Shape;388;p13"/>
          <p:cNvSpPr txBox="1"/>
          <p:nvPr/>
        </p:nvSpPr>
        <p:spPr>
          <a:xfrm>
            <a:off x="5623560" y="4160520"/>
            <a:ext cx="292608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1.17 questions on average, up from 0.44</a:t>
            </a:r>
            <a:endParaRPr b="0" i="0" sz="900" u="none" cap="none" strike="noStrike">
              <a:solidFill>
                <a:schemeClr val="dk1"/>
              </a:solidFill>
              <a:latin typeface="Calibri"/>
              <a:ea typeface="Calibri"/>
              <a:cs typeface="Calibri"/>
              <a:sym typeface="Calibri"/>
            </a:endParaRPr>
          </a:p>
        </p:txBody>
      </p:sp>
      <p:sp>
        <p:nvSpPr>
          <p:cNvPr id="389" name="Google Shape;389;p13"/>
          <p:cNvSpPr txBox="1"/>
          <p:nvPr/>
        </p:nvSpPr>
        <p:spPr>
          <a:xfrm>
            <a:off x="457200" y="452628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Small samples; simulated parents; synthetic data. As a plain yes or no the router is modest: flagging nothing is already 99.8% accurate, so we show how it orders payments.</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14"/>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Risk score, human decision</a:t>
            </a:r>
            <a:endParaRPr sz="3600"/>
          </a:p>
        </p:txBody>
      </p:sp>
      <p:sp>
        <p:nvSpPr>
          <p:cNvPr id="396" name="Google Shape;396;p14"/>
          <p:cNvSpPr/>
          <p:nvPr/>
        </p:nvSpPr>
        <p:spPr>
          <a:xfrm>
            <a:off x="384048" y="1161288"/>
            <a:ext cx="5266944" cy="1874520"/>
          </a:xfrm>
          <a:prstGeom prst="roundRect">
            <a:avLst>
              <a:gd fmla="val 2927"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parent's view: AI risk score 99 out of 100 with the four factors" id="397" name="Google Shape;397;p14"/>
          <p:cNvPicPr preferRelativeResize="0"/>
          <p:nvPr/>
        </p:nvPicPr>
        <p:blipFill rotWithShape="1">
          <a:blip r:embed="rId3">
            <a:alphaModFix/>
          </a:blip>
          <a:srcRect b="0" l="0" r="0" t="0"/>
          <a:stretch/>
        </p:blipFill>
        <p:spPr>
          <a:xfrm>
            <a:off x="457200" y="1234440"/>
            <a:ext cx="5120640" cy="1728216"/>
          </a:xfrm>
          <a:prstGeom prst="rect">
            <a:avLst/>
          </a:prstGeom>
          <a:noFill/>
          <a:ln>
            <a:noFill/>
          </a:ln>
        </p:spPr>
      </p:pic>
      <p:sp>
        <p:nvSpPr>
          <p:cNvPr id="398" name="Google Shape;398;p14"/>
          <p:cNvSpPr txBox="1"/>
          <p:nvPr/>
        </p:nvSpPr>
        <p:spPr>
          <a:xfrm>
            <a:off x="457200" y="3072384"/>
            <a:ext cx="51206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The parent's view: score 99 of 100, medium risk, the four factors and a warning.</a:t>
            </a:r>
            <a:endParaRPr b="0" i="0" sz="1000" u="none" cap="none" strike="noStrike">
              <a:solidFill>
                <a:schemeClr val="dk1"/>
              </a:solidFill>
              <a:latin typeface="Calibri"/>
              <a:ea typeface="Calibri"/>
              <a:cs typeface="Calibri"/>
              <a:sym typeface="Calibri"/>
            </a:endParaRPr>
          </a:p>
        </p:txBody>
      </p:sp>
      <p:sp>
        <p:nvSpPr>
          <p:cNvPr id="399" name="Google Shape;399;p14"/>
          <p:cNvSpPr/>
          <p:nvPr/>
        </p:nvSpPr>
        <p:spPr>
          <a:xfrm>
            <a:off x="384048" y="3328416"/>
            <a:ext cx="2615184" cy="1453896"/>
          </a:xfrm>
          <a:prstGeom prst="roundRect">
            <a:avLst>
              <a:gd fmla="val 3774"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bank reviewer's decision: yes, ask for more or no, signed with MFA" id="400" name="Google Shape;400;p14"/>
          <p:cNvPicPr preferRelativeResize="0"/>
          <p:nvPr/>
        </p:nvPicPr>
        <p:blipFill rotWithShape="1">
          <a:blip r:embed="rId4">
            <a:alphaModFix/>
          </a:blip>
          <a:srcRect b="0" l="0" r="0" t="0"/>
          <a:stretch/>
        </p:blipFill>
        <p:spPr>
          <a:xfrm>
            <a:off x="457200" y="3401568"/>
            <a:ext cx="2468880" cy="1307592"/>
          </a:xfrm>
          <a:prstGeom prst="rect">
            <a:avLst/>
          </a:prstGeom>
          <a:noFill/>
          <a:ln>
            <a:noFill/>
          </a:ln>
        </p:spPr>
      </p:pic>
      <p:sp>
        <p:nvSpPr>
          <p:cNvPr id="401" name="Google Shape;401;p14"/>
          <p:cNvSpPr txBox="1"/>
          <p:nvPr/>
        </p:nvSpPr>
        <p:spPr>
          <a:xfrm>
            <a:off x="3154680" y="3474720"/>
            <a:ext cx="2423160" cy="11887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The bank reviewer's view: three answers, signed with a fresh MFA code. The AI cannot choose for them.</a:t>
            </a:r>
            <a:endParaRPr b="0" i="0" sz="1000" u="none" cap="none" strike="noStrike">
              <a:solidFill>
                <a:schemeClr val="dk1"/>
              </a:solidFill>
              <a:latin typeface="Calibri"/>
              <a:ea typeface="Calibri"/>
              <a:cs typeface="Calibri"/>
              <a:sym typeface="Calibri"/>
            </a:endParaRPr>
          </a:p>
        </p:txBody>
      </p:sp>
      <p:sp>
        <p:nvSpPr>
          <p:cNvPr id="402" name="Google Shape;402;p14"/>
          <p:cNvSpPr/>
          <p:nvPr/>
        </p:nvSpPr>
        <p:spPr>
          <a:xfrm>
            <a:off x="5852160" y="1234440"/>
            <a:ext cx="283464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4"/>
          <p:cNvSpPr/>
          <p:nvPr/>
        </p:nvSpPr>
        <p:spPr>
          <a:xfrm>
            <a:off x="5852160" y="1234440"/>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4"/>
          <p:cNvSpPr txBox="1"/>
          <p:nvPr/>
        </p:nvSpPr>
        <p:spPr>
          <a:xfrm>
            <a:off x="6016752" y="1271016"/>
            <a:ext cx="26060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1  Score</a:t>
            </a:r>
            <a:endParaRPr b="0" i="0" sz="1150" u="none" cap="none" strike="noStrike">
              <a:solidFill>
                <a:schemeClr val="dk1"/>
              </a:solidFill>
              <a:latin typeface="Calibri"/>
              <a:ea typeface="Calibri"/>
              <a:cs typeface="Calibri"/>
              <a:sym typeface="Calibri"/>
            </a:endParaRPr>
          </a:p>
        </p:txBody>
      </p:sp>
      <p:sp>
        <p:nvSpPr>
          <p:cNvPr id="405" name="Google Shape;405;p14"/>
          <p:cNvSpPr txBox="1"/>
          <p:nvPr/>
        </p:nvSpPr>
        <p:spPr>
          <a:xfrm>
            <a:off x="6016752" y="1508760"/>
            <a:ext cx="260604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A small neural network rates each payment 0 to 100 from four factors: amount, frequency, timeline and person.</a:t>
            </a:r>
            <a:endParaRPr b="0" i="0" sz="900" u="none" cap="none" strike="noStrike">
              <a:solidFill>
                <a:schemeClr val="dk1"/>
              </a:solidFill>
              <a:latin typeface="Calibri"/>
              <a:ea typeface="Calibri"/>
              <a:cs typeface="Calibri"/>
              <a:sym typeface="Calibri"/>
            </a:endParaRPr>
          </a:p>
        </p:txBody>
      </p:sp>
      <p:sp>
        <p:nvSpPr>
          <p:cNvPr id="406" name="Google Shape;406;p14"/>
          <p:cNvSpPr/>
          <p:nvPr/>
        </p:nvSpPr>
        <p:spPr>
          <a:xfrm>
            <a:off x="5852160" y="2121408"/>
            <a:ext cx="283464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4"/>
          <p:cNvSpPr/>
          <p:nvPr/>
        </p:nvSpPr>
        <p:spPr>
          <a:xfrm>
            <a:off x="5852160" y="2121408"/>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4"/>
          <p:cNvSpPr txBox="1"/>
          <p:nvPr/>
        </p:nvSpPr>
        <p:spPr>
          <a:xfrm>
            <a:off x="6016752" y="2157984"/>
            <a:ext cx="26060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2  Route</a:t>
            </a:r>
            <a:endParaRPr b="0" i="0" sz="1150" u="none" cap="none" strike="noStrike">
              <a:solidFill>
                <a:schemeClr val="dk1"/>
              </a:solidFill>
              <a:latin typeface="Calibri"/>
              <a:ea typeface="Calibri"/>
              <a:cs typeface="Calibri"/>
              <a:sym typeface="Calibri"/>
            </a:endParaRPr>
          </a:p>
        </p:txBody>
      </p:sp>
      <p:sp>
        <p:nvSpPr>
          <p:cNvPr id="409" name="Google Shape;409;p14"/>
          <p:cNvSpPr txBox="1"/>
          <p:nvPr/>
        </p:nvSpPr>
        <p:spPr>
          <a:xfrm>
            <a:off x="6016752" y="2395728"/>
            <a:ext cx="260604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Low: no warning, nobody waits. Medium or high: a warning, and a person at the bank looks.</a:t>
            </a:r>
            <a:endParaRPr b="0" i="0" sz="900" u="none" cap="none" strike="noStrike">
              <a:solidFill>
                <a:schemeClr val="dk1"/>
              </a:solidFill>
              <a:latin typeface="Calibri"/>
              <a:ea typeface="Calibri"/>
              <a:cs typeface="Calibri"/>
              <a:sym typeface="Calibri"/>
            </a:endParaRPr>
          </a:p>
        </p:txBody>
      </p:sp>
      <p:sp>
        <p:nvSpPr>
          <p:cNvPr id="410" name="Google Shape;410;p14"/>
          <p:cNvSpPr/>
          <p:nvPr/>
        </p:nvSpPr>
        <p:spPr>
          <a:xfrm>
            <a:off x="5852160" y="3008376"/>
            <a:ext cx="283464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4"/>
          <p:cNvSpPr/>
          <p:nvPr/>
        </p:nvSpPr>
        <p:spPr>
          <a:xfrm>
            <a:off x="5852160" y="3008376"/>
            <a:ext cx="64008" cy="813816"/>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4"/>
          <p:cNvSpPr txBox="1"/>
          <p:nvPr/>
        </p:nvSpPr>
        <p:spPr>
          <a:xfrm>
            <a:off x="6016752" y="3044952"/>
            <a:ext cx="26060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3  Decide</a:t>
            </a:r>
            <a:endParaRPr b="0" i="0" sz="1150" u="none" cap="none" strike="noStrike">
              <a:solidFill>
                <a:schemeClr val="dk1"/>
              </a:solidFill>
              <a:latin typeface="Calibri"/>
              <a:ea typeface="Calibri"/>
              <a:cs typeface="Calibri"/>
              <a:sym typeface="Calibri"/>
            </a:endParaRPr>
          </a:p>
        </p:txBody>
      </p:sp>
      <p:sp>
        <p:nvSpPr>
          <p:cNvPr id="413" name="Google Shape;413;p14"/>
          <p:cNvSpPr txBox="1"/>
          <p:nvPr/>
        </p:nvSpPr>
        <p:spPr>
          <a:xfrm>
            <a:off x="6016752" y="3282696"/>
            <a:ext cx="260604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The reviewer answers yes, ask for more or no, signed with a fresh MFA code. The parent still authorizes.</a:t>
            </a:r>
            <a:endParaRPr b="0" i="0" sz="900" u="none" cap="none" strike="noStrike">
              <a:solidFill>
                <a:schemeClr val="dk1"/>
              </a:solidFill>
              <a:latin typeface="Calibri"/>
              <a:ea typeface="Calibri"/>
              <a:cs typeface="Calibri"/>
              <a:sym typeface="Calibri"/>
            </a:endParaRPr>
          </a:p>
        </p:txBody>
      </p:sp>
      <p:sp>
        <p:nvSpPr>
          <p:cNvPr id="414" name="Google Shape;414;p14"/>
          <p:cNvSpPr/>
          <p:nvPr/>
        </p:nvSpPr>
        <p:spPr>
          <a:xfrm>
            <a:off x="5852160" y="3895344"/>
            <a:ext cx="2834640" cy="813816"/>
          </a:xfrm>
          <a:prstGeom prst="roundRect">
            <a:avLst>
              <a:gd fmla="val 898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4"/>
          <p:cNvSpPr/>
          <p:nvPr/>
        </p:nvSpPr>
        <p:spPr>
          <a:xfrm>
            <a:off x="5852160" y="3895344"/>
            <a:ext cx="64008" cy="813816"/>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4"/>
          <p:cNvSpPr txBox="1"/>
          <p:nvPr/>
        </p:nvSpPr>
        <p:spPr>
          <a:xfrm>
            <a:off x="6016752" y="3931920"/>
            <a:ext cx="260604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50"/>
              <a:buFont typeface="Calibri"/>
              <a:buNone/>
            </a:pPr>
            <a:r>
              <a:rPr b="1" i="0" lang="en-US" sz="1150" u="none" cap="none" strike="noStrike">
                <a:solidFill>
                  <a:schemeClr val="dk1"/>
                </a:solidFill>
                <a:latin typeface="Calibri"/>
                <a:ea typeface="Calibri"/>
                <a:cs typeface="Calibri"/>
                <a:sym typeface="Calibri"/>
              </a:rPr>
              <a:t>4  Limits</a:t>
            </a:r>
            <a:endParaRPr b="0" i="0" sz="1150" u="none" cap="none" strike="noStrike">
              <a:solidFill>
                <a:schemeClr val="dk1"/>
              </a:solidFill>
              <a:latin typeface="Calibri"/>
              <a:ea typeface="Calibri"/>
              <a:cs typeface="Calibri"/>
              <a:sym typeface="Calibri"/>
            </a:endParaRPr>
          </a:p>
        </p:txBody>
      </p:sp>
      <p:sp>
        <p:nvSpPr>
          <p:cNvPr id="417" name="Google Shape;417;p14"/>
          <p:cNvSpPr txBox="1"/>
          <p:nvPr/>
        </p:nvSpPr>
        <p:spPr>
          <a:xfrm>
            <a:off x="6016752" y="4169664"/>
            <a:ext cx="2606040" cy="5303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It never clears, declines or approves. Its top 1% holds 63.2% of flagged payments (random: 1.2%). Trained on public synthetic data.</a:t>
            </a:r>
            <a:endParaRPr b="0" i="0" sz="900" u="none" cap="none" strike="noStrike">
              <a:solidFill>
                <a:schemeClr val="dk1"/>
              </a:solidFill>
              <a:latin typeface="Calibri"/>
              <a:ea typeface="Calibri"/>
              <a:cs typeface="Calibri"/>
              <a:sym typeface="Calibri"/>
            </a:endParaRPr>
          </a:p>
        </p:txBody>
      </p:sp>
      <p:sp>
        <p:nvSpPr>
          <p:cNvPr id="418" name="Google Shape;418;p14"/>
          <p:cNvSpPr txBox="1"/>
          <p:nvPr/>
        </p:nvSpPr>
        <p:spPr>
          <a:xfrm>
            <a:off x="457200" y="4846320"/>
            <a:ext cx="82296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00"/>
              <a:buFont typeface="Calibri"/>
              <a:buNone/>
            </a:pPr>
            <a:r>
              <a:rPr b="0" i="0" lang="en-US" sz="900" u="none" cap="none" strike="noStrike">
                <a:solidFill>
                  <a:schemeClr val="dk2"/>
                </a:solidFill>
                <a:latin typeface="Calibri"/>
                <a:ea typeface="Calibri"/>
                <a:cs typeface="Calibri"/>
                <a:sym typeface="Calibri"/>
              </a:rPr>
              <a:t>Local sandbox screenshots, synthetic data. Indicative. Confirm with your AD bank.</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p15"/>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Proven, and not proven yet</a:t>
            </a:r>
            <a:endParaRPr sz="3600"/>
          </a:p>
        </p:txBody>
      </p:sp>
      <p:sp>
        <p:nvSpPr>
          <p:cNvPr id="425" name="Google Shape;425;p15"/>
          <p:cNvSpPr/>
          <p:nvPr/>
        </p:nvSpPr>
        <p:spPr>
          <a:xfrm>
            <a:off x="457200" y="1234440"/>
            <a:ext cx="4023360" cy="3154680"/>
          </a:xfrm>
          <a:prstGeom prst="roundRect">
            <a:avLst>
              <a:gd fmla="val 23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5"/>
          <p:cNvSpPr/>
          <p:nvPr/>
        </p:nvSpPr>
        <p:spPr>
          <a:xfrm>
            <a:off x="640080" y="1371600"/>
            <a:ext cx="109728" cy="36576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15"/>
          <p:cNvSpPr txBox="1"/>
          <p:nvPr/>
        </p:nvSpPr>
        <p:spPr>
          <a:xfrm>
            <a:off x="841248" y="132588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800"/>
              <a:buFont typeface="Calibri"/>
              <a:buNone/>
            </a:pPr>
            <a:r>
              <a:rPr b="1" i="0" lang="en-US" sz="1800" u="none" cap="none" strike="noStrike">
                <a:solidFill>
                  <a:schemeClr val="accent1"/>
                </a:solidFill>
                <a:latin typeface="Calibri"/>
                <a:ea typeface="Calibri"/>
                <a:cs typeface="Calibri"/>
                <a:sym typeface="Calibri"/>
              </a:rPr>
              <a:t>Proven by tests and logs</a:t>
            </a:r>
            <a:endParaRPr b="0" i="0" sz="1800" u="none" cap="none" strike="noStrike">
              <a:solidFill>
                <a:schemeClr val="dk1"/>
              </a:solidFill>
              <a:latin typeface="Calibri"/>
              <a:ea typeface="Calibri"/>
              <a:cs typeface="Calibri"/>
              <a:sym typeface="Calibri"/>
            </a:endParaRPr>
          </a:p>
        </p:txBody>
      </p:sp>
      <p:sp>
        <p:nvSpPr>
          <p:cNvPr id="428" name="Google Shape;428;p15"/>
          <p:cNvSpPr txBox="1"/>
          <p:nvPr/>
        </p:nvSpPr>
        <p:spPr>
          <a:xfrm>
            <a:off x="640080" y="1847088"/>
            <a:ext cx="3657600" cy="2487168"/>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100"/>
              <a:buFont typeface="Calibri"/>
              <a:buChar char="•"/>
            </a:pPr>
            <a:r>
              <a:rPr b="0" i="0" lang="en-US" sz="1100" u="none" cap="none" strike="noStrike">
                <a:solidFill>
                  <a:schemeClr val="dk1"/>
                </a:solidFill>
                <a:latin typeface="Calibri"/>
                <a:ea typeface="Calibri"/>
                <a:cs typeface="Calibri"/>
                <a:sym typeface="Calibri"/>
              </a:rPr>
              <a:t>Every number comes from one engine, in integer money. All 24 blueprint scenarios are mapped to tests (counts on the next slides).</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100"/>
              <a:buFont typeface="Calibri"/>
              <a:buChar char="•"/>
            </a:pPr>
            <a:r>
              <a:rPr b="0" i="0" lang="en-US" sz="1100" u="none" cap="none" strike="noStrike">
                <a:solidFill>
                  <a:schemeClr val="dk1"/>
                </a:solidFill>
                <a:latin typeface="Calibri"/>
                <a:ea typeface="Calibri"/>
                <a:cs typeface="Calibri"/>
                <a:sym typeface="Calibri"/>
              </a:rPr>
              <a:t>Only a human with a fresh MFA code can approve. The AI has no such permission, and a test enforces the table.</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100"/>
              <a:buFont typeface="Calibri"/>
              <a:buChar char="•"/>
            </a:pPr>
            <a:r>
              <a:rPr b="0" i="0" lang="en-US" sz="1100" u="none" cap="none" strike="noStrike">
                <a:solidFill>
                  <a:schemeClr val="dk1"/>
                </a:solidFill>
                <a:latin typeface="Calibri"/>
                <a:ea typeface="Calibri"/>
                <a:cs typeface="Calibri"/>
                <a:sym typeface="Calibri"/>
              </a:rPr>
              <a:t>Edit one audit row and Verify fails at that event. Audit-only rewrites are detected; both logs share SQLite, so a DB owner can rewrite both.</a:t>
            </a:r>
            <a:endParaRPr b="0" i="0" sz="1100" u="none" cap="none" strike="noStrike">
              <a:solidFill>
                <a:schemeClr val="dk1"/>
              </a:solidFill>
              <a:latin typeface="Calibri"/>
              <a:ea typeface="Calibri"/>
              <a:cs typeface="Calibri"/>
              <a:sym typeface="Calibri"/>
            </a:endParaRPr>
          </a:p>
          <a:p>
            <a:pPr indent="-342900" lvl="0" marL="342900" marR="0" rtl="0" algn="l">
              <a:spcBef>
                <a:spcPts val="400"/>
              </a:spcBef>
              <a:spcAft>
                <a:spcPts val="0"/>
              </a:spcAft>
              <a:buClr>
                <a:schemeClr val="dk1"/>
              </a:buClr>
              <a:buSzPts val="1100"/>
              <a:buFont typeface="Calibri"/>
              <a:buChar char="•"/>
            </a:pPr>
            <a:r>
              <a:rPr b="0" i="0" lang="en-US" sz="1100" u="none" cap="none" strike="noStrike">
                <a:solidFill>
                  <a:schemeClr val="dk1"/>
                </a:solidFill>
                <a:latin typeface="Calibri"/>
                <a:ea typeface="Calibri"/>
                <a:cs typeface="Calibri"/>
                <a:sym typeface="Calibri"/>
              </a:rPr>
              <a:t>The Docker stack passed its demo, 48 browser checks and the hardened overlay on 18 Oct; the attack probes defended 146 of 146.</a:t>
            </a:r>
            <a:endParaRPr b="0" i="0" sz="1100" u="none" cap="none" strike="noStrike">
              <a:solidFill>
                <a:schemeClr val="dk1"/>
              </a:solidFill>
              <a:latin typeface="Calibri"/>
              <a:ea typeface="Calibri"/>
              <a:cs typeface="Calibri"/>
              <a:sym typeface="Calibri"/>
            </a:endParaRPr>
          </a:p>
        </p:txBody>
      </p:sp>
      <p:sp>
        <p:nvSpPr>
          <p:cNvPr id="429" name="Google Shape;429;p15"/>
          <p:cNvSpPr/>
          <p:nvPr/>
        </p:nvSpPr>
        <p:spPr>
          <a:xfrm>
            <a:off x="4663440" y="1234440"/>
            <a:ext cx="4023360" cy="3154680"/>
          </a:xfrm>
          <a:prstGeom prst="roundRect">
            <a:avLst>
              <a:gd fmla="val 23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5"/>
          <p:cNvSpPr/>
          <p:nvPr/>
        </p:nvSpPr>
        <p:spPr>
          <a:xfrm>
            <a:off x="4846320" y="1371600"/>
            <a:ext cx="109728" cy="36576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5"/>
          <p:cNvSpPr txBox="1"/>
          <p:nvPr/>
        </p:nvSpPr>
        <p:spPr>
          <a:xfrm>
            <a:off x="5047488" y="1325880"/>
            <a:ext cx="347472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3"/>
              </a:buClr>
              <a:buSzPts val="1800"/>
              <a:buFont typeface="Calibri"/>
              <a:buNone/>
            </a:pPr>
            <a:r>
              <a:rPr b="1" i="0" lang="en-US" sz="1800" u="none" cap="none" strike="noStrike">
                <a:solidFill>
                  <a:schemeClr val="accent3"/>
                </a:solidFill>
                <a:latin typeface="Calibri"/>
                <a:ea typeface="Calibri"/>
                <a:cs typeface="Calibri"/>
                <a:sym typeface="Calibri"/>
              </a:rPr>
              <a:t>Not proven, and we say so</a:t>
            </a:r>
            <a:endParaRPr b="0" i="0" sz="1800" u="none" cap="none" strike="noStrike">
              <a:solidFill>
                <a:schemeClr val="dk1"/>
              </a:solidFill>
              <a:latin typeface="Calibri"/>
              <a:ea typeface="Calibri"/>
              <a:cs typeface="Calibri"/>
              <a:sym typeface="Calibri"/>
            </a:endParaRPr>
          </a:p>
        </p:txBody>
      </p:sp>
      <p:sp>
        <p:nvSpPr>
          <p:cNvPr id="432" name="Google Shape;432;p15"/>
          <p:cNvSpPr txBox="1"/>
          <p:nvPr/>
        </p:nvSpPr>
        <p:spPr>
          <a:xfrm>
            <a:off x="4846320" y="1920240"/>
            <a:ext cx="3657600" cy="23774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Rates, fees and city costs are invented. We have not compared them with real quotes yet.</a:t>
            </a:r>
            <a:endParaRPr b="0" i="0" sz="12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No real parent has used it. The trained models saw synthetic data.</a:t>
            </a:r>
            <a:endParaRPr b="0" i="0" sz="12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Local code review and regression tests; no external penetration test.</a:t>
            </a:r>
            <a:endParaRPr b="0" i="0" sz="12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200"/>
              <a:buFont typeface="Calibri"/>
              <a:buChar char="•"/>
            </a:pPr>
            <a:r>
              <a:rPr b="0" i="0" lang="en-US" sz="1200" u="none" cap="none" strike="noStrike">
                <a:solidFill>
                  <a:schemeClr val="dk1"/>
                </a:solidFill>
                <a:latin typeface="Calibri"/>
                <a:ea typeface="Calibri"/>
                <a:cs typeface="Calibri"/>
                <a:sym typeface="Calibri"/>
              </a:rPr>
              <a:t>Most Bangladesh Bank figures are placeholders marked Not verified; four rules were read in the official circular.</a:t>
            </a:r>
            <a:endParaRPr b="0" i="0" sz="1200" u="none" cap="none" strike="noStrike">
              <a:solidFill>
                <a:schemeClr val="dk1"/>
              </a:solidFill>
              <a:latin typeface="Calibri"/>
              <a:ea typeface="Calibri"/>
              <a:cs typeface="Calibri"/>
              <a:sym typeface="Calibri"/>
            </a:endParaRPr>
          </a:p>
        </p:txBody>
      </p:sp>
      <p:sp>
        <p:nvSpPr>
          <p:cNvPr id="433" name="Google Shape;433;p15"/>
          <p:cNvSpPr txBox="1"/>
          <p:nvPr/>
        </p:nvSpPr>
        <p:spPr>
          <a:xfrm>
            <a:off x="457200" y="4526280"/>
            <a:ext cx="82296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Both lists are in the repository: docs/OPEN_QUESTIONS.md and docs/SECURITY_SELF_ASSESSMENT.md</a:t>
            </a:r>
            <a:endParaRPr b="0" i="0" sz="1100" u="none" cap="none" strike="noStrike">
              <a:solidFill>
                <a:schemeClr val="dk1"/>
              </a:solidFill>
              <a:latin typeface="Calibri"/>
              <a:ea typeface="Calibri"/>
              <a:cs typeface="Calibri"/>
              <a:sym typeface="Calibri"/>
            </a:endParaRPr>
          </a:p>
        </p:txBody>
      </p:sp>
      <p:sp>
        <p:nvSpPr>
          <p:cNvPr id="434" name="Google Shape;434;p15"/>
          <p:cNvSpPr txBox="1"/>
          <p:nvPr/>
        </p:nvSpPr>
        <p:spPr>
          <a:xfrm>
            <a:off x="457200" y="4864608"/>
            <a:ext cx="82296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Raw logs and reproduction commands: submission/evidence/, docs/TEST_CASES.md.</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16"/>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Every test we ran</a:t>
            </a:r>
            <a:endParaRPr sz="3600"/>
          </a:p>
        </p:txBody>
      </p:sp>
      <p:sp>
        <p:nvSpPr>
          <p:cNvPr id="441" name="Google Shape;441;p16"/>
          <p:cNvSpPr/>
          <p:nvPr/>
        </p:nvSpPr>
        <p:spPr>
          <a:xfrm>
            <a:off x="457200" y="123444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6"/>
          <p:cNvSpPr txBox="1"/>
          <p:nvPr/>
        </p:nvSpPr>
        <p:spPr>
          <a:xfrm>
            <a:off x="566928" y="126187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1,705</a:t>
            </a:r>
            <a:endParaRPr b="0" i="0" sz="2400" u="none" cap="none" strike="noStrike">
              <a:solidFill>
                <a:schemeClr val="dk1"/>
              </a:solidFill>
              <a:latin typeface="Calibri"/>
              <a:ea typeface="Calibri"/>
              <a:cs typeface="Calibri"/>
              <a:sym typeface="Calibri"/>
            </a:endParaRPr>
          </a:p>
        </p:txBody>
      </p:sp>
      <p:sp>
        <p:nvSpPr>
          <p:cNvPr id="443" name="Google Shape;443;p16"/>
          <p:cNvSpPr txBox="1"/>
          <p:nvPr/>
        </p:nvSpPr>
        <p:spPr>
          <a:xfrm>
            <a:off x="566928" y="173736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backend tests, incl. 25 assistant prompts (25 of 25 pass)</a:t>
            </a:r>
            <a:endParaRPr b="0" i="0" sz="1050" u="none" cap="none" strike="noStrike">
              <a:solidFill>
                <a:schemeClr val="dk1"/>
              </a:solidFill>
              <a:latin typeface="Calibri"/>
              <a:ea typeface="Calibri"/>
              <a:cs typeface="Calibri"/>
              <a:sym typeface="Calibri"/>
            </a:endParaRPr>
          </a:p>
        </p:txBody>
      </p:sp>
      <p:sp>
        <p:nvSpPr>
          <p:cNvPr id="444" name="Google Shape;444;p16"/>
          <p:cNvSpPr/>
          <p:nvPr/>
        </p:nvSpPr>
        <p:spPr>
          <a:xfrm>
            <a:off x="2651760" y="123444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6"/>
          <p:cNvSpPr txBox="1"/>
          <p:nvPr/>
        </p:nvSpPr>
        <p:spPr>
          <a:xfrm>
            <a:off x="2761488" y="126187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463</a:t>
            </a:r>
            <a:endParaRPr b="0" i="0" sz="2400" u="none" cap="none" strike="noStrike">
              <a:solidFill>
                <a:schemeClr val="dk1"/>
              </a:solidFill>
              <a:latin typeface="Calibri"/>
              <a:ea typeface="Calibri"/>
              <a:cs typeface="Calibri"/>
              <a:sym typeface="Calibri"/>
            </a:endParaRPr>
          </a:p>
        </p:txBody>
      </p:sp>
      <p:sp>
        <p:nvSpPr>
          <p:cNvPr id="446" name="Google Shape;446;p16"/>
          <p:cNvSpPr txBox="1"/>
          <p:nvPr/>
        </p:nvSpPr>
        <p:spPr>
          <a:xfrm>
            <a:off x="2761488" y="173736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web tests</a:t>
            </a:r>
            <a:endParaRPr b="0" i="0" sz="1050" u="none" cap="none" strike="noStrike">
              <a:solidFill>
                <a:schemeClr val="dk1"/>
              </a:solidFill>
              <a:latin typeface="Calibri"/>
              <a:ea typeface="Calibri"/>
              <a:cs typeface="Calibri"/>
              <a:sym typeface="Calibri"/>
            </a:endParaRPr>
          </a:p>
        </p:txBody>
      </p:sp>
      <p:sp>
        <p:nvSpPr>
          <p:cNvPr id="447" name="Google Shape;447;p16"/>
          <p:cNvSpPr/>
          <p:nvPr/>
        </p:nvSpPr>
        <p:spPr>
          <a:xfrm>
            <a:off x="457200" y="228600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6"/>
          <p:cNvSpPr txBox="1"/>
          <p:nvPr/>
        </p:nvSpPr>
        <p:spPr>
          <a:xfrm>
            <a:off x="566928" y="231343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24</a:t>
            </a:r>
            <a:endParaRPr b="0" i="0" sz="2400" u="none" cap="none" strike="noStrike">
              <a:solidFill>
                <a:schemeClr val="dk1"/>
              </a:solidFill>
              <a:latin typeface="Calibri"/>
              <a:ea typeface="Calibri"/>
              <a:cs typeface="Calibri"/>
              <a:sym typeface="Calibri"/>
            </a:endParaRPr>
          </a:p>
        </p:txBody>
      </p:sp>
      <p:sp>
        <p:nvSpPr>
          <p:cNvPr id="449" name="Google Shape;449;p16"/>
          <p:cNvSpPr txBox="1"/>
          <p:nvPr/>
        </p:nvSpPr>
        <p:spPr>
          <a:xfrm>
            <a:off x="566928" y="278892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browser tests</a:t>
            </a:r>
            <a:endParaRPr b="0" i="0" sz="1050" u="none" cap="none" strike="noStrike">
              <a:solidFill>
                <a:schemeClr val="dk1"/>
              </a:solidFill>
              <a:latin typeface="Calibri"/>
              <a:ea typeface="Calibri"/>
              <a:cs typeface="Calibri"/>
              <a:sym typeface="Calibri"/>
            </a:endParaRPr>
          </a:p>
        </p:txBody>
      </p:sp>
      <p:sp>
        <p:nvSpPr>
          <p:cNvPr id="450" name="Google Shape;450;p16"/>
          <p:cNvSpPr/>
          <p:nvPr/>
        </p:nvSpPr>
        <p:spPr>
          <a:xfrm>
            <a:off x="2651760" y="228600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6"/>
          <p:cNvSpPr txBox="1"/>
          <p:nvPr/>
        </p:nvSpPr>
        <p:spPr>
          <a:xfrm>
            <a:off x="2761488" y="231343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314</a:t>
            </a:r>
            <a:endParaRPr b="0" i="0" sz="2400" u="none" cap="none" strike="noStrike">
              <a:solidFill>
                <a:schemeClr val="dk1"/>
              </a:solidFill>
              <a:latin typeface="Calibri"/>
              <a:ea typeface="Calibri"/>
              <a:cs typeface="Calibri"/>
              <a:sym typeface="Calibri"/>
            </a:endParaRPr>
          </a:p>
        </p:txBody>
      </p:sp>
      <p:sp>
        <p:nvSpPr>
          <p:cNvPr id="452" name="Google Shape;452;p16"/>
          <p:cNvSpPr txBox="1"/>
          <p:nvPr/>
        </p:nvSpPr>
        <p:spPr>
          <a:xfrm>
            <a:off x="2761488" y="278892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security probe records (308 PASS, 6 INFO)</a:t>
            </a:r>
            <a:endParaRPr b="0" i="0" sz="1050" u="none" cap="none" strike="noStrike">
              <a:solidFill>
                <a:schemeClr val="dk1"/>
              </a:solidFill>
              <a:latin typeface="Calibri"/>
              <a:ea typeface="Calibri"/>
              <a:cs typeface="Calibri"/>
              <a:sym typeface="Calibri"/>
            </a:endParaRPr>
          </a:p>
        </p:txBody>
      </p:sp>
      <p:sp>
        <p:nvSpPr>
          <p:cNvPr id="453" name="Google Shape;453;p16"/>
          <p:cNvSpPr/>
          <p:nvPr/>
        </p:nvSpPr>
        <p:spPr>
          <a:xfrm>
            <a:off x="457200" y="333756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6"/>
          <p:cNvSpPr txBox="1"/>
          <p:nvPr/>
        </p:nvSpPr>
        <p:spPr>
          <a:xfrm>
            <a:off x="566928" y="336499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24 of 24</a:t>
            </a:r>
            <a:endParaRPr b="0" i="0" sz="2400" u="none" cap="none" strike="noStrike">
              <a:solidFill>
                <a:schemeClr val="dk1"/>
              </a:solidFill>
              <a:latin typeface="Calibri"/>
              <a:ea typeface="Calibri"/>
              <a:cs typeface="Calibri"/>
              <a:sym typeface="Calibri"/>
            </a:endParaRPr>
          </a:p>
        </p:txBody>
      </p:sp>
      <p:sp>
        <p:nvSpPr>
          <p:cNvPr id="455" name="Google Shape;455;p16"/>
          <p:cNvSpPr txBox="1"/>
          <p:nvPr/>
        </p:nvSpPr>
        <p:spPr>
          <a:xfrm>
            <a:off x="566928" y="384048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blueprint scenarios mapped to tests</a:t>
            </a:r>
            <a:endParaRPr b="0" i="0" sz="1050" u="none" cap="none" strike="noStrike">
              <a:solidFill>
                <a:schemeClr val="dk1"/>
              </a:solidFill>
              <a:latin typeface="Calibri"/>
              <a:ea typeface="Calibri"/>
              <a:cs typeface="Calibri"/>
              <a:sym typeface="Calibri"/>
            </a:endParaRPr>
          </a:p>
        </p:txBody>
      </p:sp>
      <p:sp>
        <p:nvSpPr>
          <p:cNvPr id="456" name="Google Shape;456;p16"/>
          <p:cNvSpPr/>
          <p:nvPr/>
        </p:nvSpPr>
        <p:spPr>
          <a:xfrm>
            <a:off x="2651760" y="3337560"/>
            <a:ext cx="2103120" cy="960120"/>
          </a:xfrm>
          <a:prstGeom prst="roundRect">
            <a:avLst>
              <a:gd fmla="val 7619"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6"/>
          <p:cNvSpPr txBox="1"/>
          <p:nvPr/>
        </p:nvSpPr>
        <p:spPr>
          <a:xfrm>
            <a:off x="2761488" y="3364992"/>
            <a:ext cx="1883664"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400"/>
              <a:buFont typeface="Cambria"/>
              <a:buNone/>
            </a:pPr>
            <a:r>
              <a:rPr b="1" i="0" lang="en-US" sz="2400" u="none" cap="none" strike="noStrike">
                <a:solidFill>
                  <a:schemeClr val="accent1"/>
                </a:solidFill>
                <a:latin typeface="Cambria"/>
                <a:ea typeface="Cambria"/>
                <a:cs typeface="Cambria"/>
                <a:sym typeface="Cambria"/>
              </a:rPr>
              <a:t>6 of 6</a:t>
            </a:r>
            <a:endParaRPr b="0" i="0" sz="2400" u="none" cap="none" strike="noStrike">
              <a:solidFill>
                <a:schemeClr val="dk1"/>
              </a:solidFill>
              <a:latin typeface="Calibri"/>
              <a:ea typeface="Calibri"/>
              <a:cs typeface="Calibri"/>
              <a:sym typeface="Calibri"/>
            </a:endParaRPr>
          </a:p>
        </p:txBody>
      </p:sp>
      <p:sp>
        <p:nvSpPr>
          <p:cNvPr id="458" name="Google Shape;458;p16"/>
          <p:cNvSpPr txBox="1"/>
          <p:nvPr/>
        </p:nvSpPr>
        <p:spPr>
          <a:xfrm>
            <a:off x="2761488" y="3840480"/>
            <a:ext cx="1883664"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CI jobs green on GitHub</a:t>
            </a:r>
            <a:endParaRPr b="0" i="0" sz="1050" u="none" cap="none" strike="noStrike">
              <a:solidFill>
                <a:schemeClr val="dk1"/>
              </a:solidFill>
              <a:latin typeface="Calibri"/>
              <a:ea typeface="Calibri"/>
              <a:cs typeface="Calibri"/>
              <a:sym typeface="Calibri"/>
            </a:endParaRPr>
          </a:p>
        </p:txBody>
      </p:sp>
      <p:sp>
        <p:nvSpPr>
          <p:cNvPr id="459" name="Google Shape;459;p16"/>
          <p:cNvSpPr/>
          <p:nvPr/>
        </p:nvSpPr>
        <p:spPr>
          <a:xfrm>
            <a:off x="5001768" y="1161288"/>
            <a:ext cx="3758184" cy="2403729"/>
          </a:xfrm>
          <a:prstGeom prst="roundRect">
            <a:avLst>
              <a:gd fmla="val 2282"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itHub Actions: all six CI jobs green on the latest commit" id="460" name="Google Shape;460;p16"/>
          <p:cNvPicPr preferRelativeResize="0"/>
          <p:nvPr/>
        </p:nvPicPr>
        <p:blipFill rotWithShape="1">
          <a:blip r:embed="rId3">
            <a:alphaModFix/>
          </a:blip>
          <a:srcRect b="0" l="0" r="0" t="0"/>
          <a:stretch/>
        </p:blipFill>
        <p:spPr>
          <a:xfrm>
            <a:off x="5074920" y="1234440"/>
            <a:ext cx="3611880" cy="2257425"/>
          </a:xfrm>
          <a:prstGeom prst="rect">
            <a:avLst/>
          </a:prstGeom>
          <a:noFill/>
          <a:ln>
            <a:noFill/>
          </a:ln>
        </p:spPr>
      </p:pic>
      <p:sp>
        <p:nvSpPr>
          <p:cNvPr id="461" name="Google Shape;461;p16"/>
          <p:cNvSpPr txBox="1"/>
          <p:nvPr/>
        </p:nvSpPr>
        <p:spPr>
          <a:xfrm>
            <a:off x="5074920" y="3619881"/>
            <a:ext cx="36118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GitHub Actions, latest commit: backend, web, contracts, secret-scan, dependency-audit and docker all green.</a:t>
            </a:r>
            <a:endParaRPr b="0" i="0" sz="1000" u="none" cap="none" strike="noStrike">
              <a:solidFill>
                <a:schemeClr val="dk1"/>
              </a:solidFill>
              <a:latin typeface="Calibri"/>
              <a:ea typeface="Calibri"/>
              <a:cs typeface="Calibri"/>
              <a:sym typeface="Calibri"/>
            </a:endParaRPr>
          </a:p>
        </p:txBody>
      </p:sp>
      <p:sp>
        <p:nvSpPr>
          <p:cNvPr id="462" name="Google Shape;462;p16"/>
          <p:cNvSpPr txBox="1"/>
          <p:nvPr/>
        </p:nvSpPr>
        <p:spPr>
          <a:xfrm>
            <a:off x="457200" y="452628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100"/>
              <a:buFont typeface="Calibri"/>
              <a:buNone/>
            </a:pPr>
            <a:r>
              <a:rPr b="0" i="0" lang="en-US" sz="1100" u="none" cap="none" strike="noStrike">
                <a:solidFill>
                  <a:schemeClr val="dk2"/>
                </a:solidFill>
                <a:latin typeface="Calibri"/>
                <a:ea typeface="Calibri"/>
                <a:cs typeface="Calibri"/>
                <a:sym typeface="Calibri"/>
              </a:rPr>
              <a:t>Our own tests: a fresh clone runs the same 1,705. No independent test yet.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7"/>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Security you can verify</a:t>
            </a:r>
            <a:endParaRPr sz="3600"/>
          </a:p>
        </p:txBody>
      </p:sp>
      <p:sp>
        <p:nvSpPr>
          <p:cNvPr id="469" name="Google Shape;469;p17"/>
          <p:cNvSpPr/>
          <p:nvPr/>
        </p:nvSpPr>
        <p:spPr>
          <a:xfrm>
            <a:off x="457200" y="1280160"/>
            <a:ext cx="4023360" cy="402336"/>
          </a:xfrm>
          <a:prstGeom prst="roundRect">
            <a:avLst>
              <a:gd fmla="val 1363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7"/>
          <p:cNvSpPr txBox="1"/>
          <p:nvPr/>
        </p:nvSpPr>
        <p:spPr>
          <a:xfrm>
            <a:off x="594360" y="1280160"/>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Public:</a:t>
            </a:r>
            <a:r>
              <a:rPr b="0" i="0" lang="en-US" sz="1400" u="none" cap="none" strike="noStrike">
                <a:solidFill>
                  <a:schemeClr val="dk1"/>
                </a:solidFill>
                <a:latin typeface="Calibri"/>
                <a:ea typeface="Calibri"/>
                <a:cs typeface="Calibri"/>
                <a:sym typeface="Calibri"/>
              </a:rPr>
              <a:t> sign in, health</a:t>
            </a:r>
            <a:endParaRPr b="0" i="0" sz="1400" u="none" cap="none" strike="noStrike">
              <a:solidFill>
                <a:schemeClr val="dk1"/>
              </a:solidFill>
              <a:latin typeface="Calibri"/>
              <a:ea typeface="Calibri"/>
              <a:cs typeface="Calibri"/>
              <a:sym typeface="Calibri"/>
            </a:endParaRPr>
          </a:p>
        </p:txBody>
      </p:sp>
      <p:sp>
        <p:nvSpPr>
          <p:cNvPr id="471" name="Google Shape;471;p17"/>
          <p:cNvSpPr/>
          <p:nvPr/>
        </p:nvSpPr>
        <p:spPr>
          <a:xfrm>
            <a:off x="457200" y="1755648"/>
            <a:ext cx="4023360" cy="402336"/>
          </a:xfrm>
          <a:prstGeom prst="roundRect">
            <a:avLst>
              <a:gd fmla="val 1363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7"/>
          <p:cNvSpPr txBox="1"/>
          <p:nvPr/>
        </p:nvSpPr>
        <p:spPr>
          <a:xfrm>
            <a:off x="594360" y="1755648"/>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Read:</a:t>
            </a:r>
            <a:r>
              <a:rPr b="0" i="0" lang="en-US" sz="1400" u="none" cap="none" strike="noStrike">
                <a:solidFill>
                  <a:schemeClr val="dk1"/>
                </a:solidFill>
                <a:latin typeface="Calibri"/>
                <a:ea typeface="Calibri"/>
                <a:cs typeface="Calibri"/>
                <a:sym typeface="Calibri"/>
              </a:rPr>
              <a:t> own household only</a:t>
            </a:r>
            <a:endParaRPr b="0" i="0" sz="1400" u="none" cap="none" strike="noStrike">
              <a:solidFill>
                <a:schemeClr val="dk1"/>
              </a:solidFill>
              <a:latin typeface="Calibri"/>
              <a:ea typeface="Calibri"/>
              <a:cs typeface="Calibri"/>
              <a:sym typeface="Calibri"/>
            </a:endParaRPr>
          </a:p>
        </p:txBody>
      </p:sp>
      <p:sp>
        <p:nvSpPr>
          <p:cNvPr id="473" name="Google Shape;473;p17"/>
          <p:cNvSpPr/>
          <p:nvPr/>
        </p:nvSpPr>
        <p:spPr>
          <a:xfrm>
            <a:off x="457200" y="2231136"/>
            <a:ext cx="4023360" cy="402336"/>
          </a:xfrm>
          <a:prstGeom prst="roundRect">
            <a:avLst>
              <a:gd fmla="val 1363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7"/>
          <p:cNvSpPr txBox="1"/>
          <p:nvPr/>
        </p:nvSpPr>
        <p:spPr>
          <a:xfrm>
            <a:off x="594360" y="2231136"/>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Prepare:</a:t>
            </a:r>
            <a:r>
              <a:rPr b="0" i="0" lang="en-US" sz="1400" u="none" cap="none" strike="noStrike">
                <a:solidFill>
                  <a:schemeClr val="dk1"/>
                </a:solidFill>
                <a:latin typeface="Calibri"/>
                <a:ea typeface="Calibri"/>
                <a:cs typeface="Calibri"/>
                <a:sym typeface="Calibri"/>
              </a:rPr>
              <a:t> drafts, recipients, documents</a:t>
            </a:r>
            <a:endParaRPr b="0" i="0" sz="1400" u="none" cap="none" strike="noStrike">
              <a:solidFill>
                <a:schemeClr val="dk1"/>
              </a:solidFill>
              <a:latin typeface="Calibri"/>
              <a:ea typeface="Calibri"/>
              <a:cs typeface="Calibri"/>
              <a:sym typeface="Calibri"/>
            </a:endParaRPr>
          </a:p>
        </p:txBody>
      </p:sp>
      <p:sp>
        <p:nvSpPr>
          <p:cNvPr id="475" name="Google Shape;475;p17"/>
          <p:cNvSpPr/>
          <p:nvPr/>
        </p:nvSpPr>
        <p:spPr>
          <a:xfrm>
            <a:off x="457200" y="2706624"/>
            <a:ext cx="4023360" cy="402336"/>
          </a:xfrm>
          <a:prstGeom prst="roundRect">
            <a:avLst>
              <a:gd fmla="val 13636"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7"/>
          <p:cNvSpPr txBox="1"/>
          <p:nvPr/>
        </p:nvSpPr>
        <p:spPr>
          <a:xfrm>
            <a:off x="594360" y="2706624"/>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Decide:</a:t>
            </a:r>
            <a:r>
              <a:rPr b="0" i="0" lang="en-US" sz="1400" u="none" cap="none" strike="noStrike">
                <a:solidFill>
                  <a:schemeClr val="lt1"/>
                </a:solidFill>
                <a:latin typeface="Calibri"/>
                <a:ea typeface="Calibri"/>
                <a:cs typeface="Calibri"/>
                <a:sym typeface="Calibri"/>
              </a:rPr>
              <a:t> human parent with fresh MFA</a:t>
            </a:r>
            <a:endParaRPr b="0" i="0" sz="1400" u="none" cap="none" strike="noStrike">
              <a:solidFill>
                <a:schemeClr val="dk1"/>
              </a:solidFill>
              <a:latin typeface="Calibri"/>
              <a:ea typeface="Calibri"/>
              <a:cs typeface="Calibri"/>
              <a:sym typeface="Calibri"/>
            </a:endParaRPr>
          </a:p>
        </p:txBody>
      </p:sp>
      <p:sp>
        <p:nvSpPr>
          <p:cNvPr id="477" name="Google Shape;477;p17"/>
          <p:cNvSpPr/>
          <p:nvPr/>
        </p:nvSpPr>
        <p:spPr>
          <a:xfrm>
            <a:off x="457200" y="3182112"/>
            <a:ext cx="4023360" cy="402336"/>
          </a:xfrm>
          <a:prstGeom prst="roundRect">
            <a:avLst>
              <a:gd fmla="val 1363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7"/>
          <p:cNvSpPr txBox="1"/>
          <p:nvPr/>
        </p:nvSpPr>
        <p:spPr>
          <a:xfrm>
            <a:off x="594360" y="3182112"/>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400"/>
              <a:buFont typeface="Calibri"/>
              <a:buNone/>
            </a:pPr>
            <a:r>
              <a:rPr b="1" i="0" lang="en-US" sz="1400" u="none" cap="none" strike="noStrike">
                <a:solidFill>
                  <a:schemeClr val="dk1"/>
                </a:solidFill>
                <a:latin typeface="Calibri"/>
                <a:ea typeface="Calibri"/>
                <a:cs typeface="Calibri"/>
                <a:sym typeface="Calibri"/>
              </a:rPr>
              <a:t>Administer:</a:t>
            </a:r>
            <a:r>
              <a:rPr b="0" i="0" lang="en-US" sz="1400" u="none" cap="none" strike="noStrike">
                <a:solidFill>
                  <a:schemeClr val="dk1"/>
                </a:solidFill>
                <a:latin typeface="Calibri"/>
                <a:ea typeface="Calibri"/>
                <a:cs typeface="Calibri"/>
                <a:sym typeface="Calibri"/>
              </a:rPr>
              <a:t> reviewer rules and Verify</a:t>
            </a:r>
            <a:endParaRPr b="0" i="0" sz="1400" u="none" cap="none" strike="noStrike">
              <a:solidFill>
                <a:schemeClr val="dk1"/>
              </a:solidFill>
              <a:latin typeface="Calibri"/>
              <a:ea typeface="Calibri"/>
              <a:cs typeface="Calibri"/>
              <a:sym typeface="Calibri"/>
            </a:endParaRPr>
          </a:p>
        </p:txBody>
      </p:sp>
      <p:sp>
        <p:nvSpPr>
          <p:cNvPr id="479" name="Google Shape;479;p17"/>
          <p:cNvSpPr/>
          <p:nvPr/>
        </p:nvSpPr>
        <p:spPr>
          <a:xfrm>
            <a:off x="457200" y="3657600"/>
            <a:ext cx="4023360" cy="402336"/>
          </a:xfrm>
          <a:prstGeom prst="roundRect">
            <a:avLst>
              <a:gd fmla="val 13636" name="adj"/>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7"/>
          <p:cNvSpPr txBox="1"/>
          <p:nvPr/>
        </p:nvSpPr>
        <p:spPr>
          <a:xfrm>
            <a:off x="594360" y="3657600"/>
            <a:ext cx="37947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400"/>
              <a:buFont typeface="Calibri"/>
              <a:buNone/>
            </a:pPr>
            <a:r>
              <a:rPr b="1" i="0" lang="en-US" sz="1400" u="none" cap="none" strike="noStrike">
                <a:solidFill>
                  <a:schemeClr val="lt1"/>
                </a:solidFill>
                <a:latin typeface="Calibri"/>
                <a:ea typeface="Calibri"/>
                <a:cs typeface="Calibri"/>
                <a:sym typeface="Calibri"/>
              </a:rPr>
              <a:t>Never for the AI:</a:t>
            </a:r>
            <a:r>
              <a:rPr b="0" i="0" lang="en-US" sz="1400" u="none" cap="none" strike="noStrike">
                <a:solidFill>
                  <a:schemeClr val="lt1"/>
                </a:solidFill>
                <a:latin typeface="Calibri"/>
                <a:ea typeface="Calibri"/>
                <a:cs typeface="Calibri"/>
                <a:sym typeface="Calibri"/>
              </a:rPr>
              <a:t> approve, cancel, limits</a:t>
            </a:r>
            <a:endParaRPr b="0" i="0" sz="1400" u="none" cap="none" strike="noStrike">
              <a:solidFill>
                <a:schemeClr val="dk1"/>
              </a:solidFill>
              <a:latin typeface="Calibri"/>
              <a:ea typeface="Calibri"/>
              <a:cs typeface="Calibri"/>
              <a:sym typeface="Calibri"/>
            </a:endParaRPr>
          </a:p>
        </p:txBody>
      </p:sp>
      <p:sp>
        <p:nvSpPr>
          <p:cNvPr id="481" name="Google Shape;481;p17"/>
          <p:cNvSpPr/>
          <p:nvPr/>
        </p:nvSpPr>
        <p:spPr>
          <a:xfrm>
            <a:off x="4590288" y="1207008"/>
            <a:ext cx="4169664" cy="1375664"/>
          </a:xfrm>
          <a:prstGeom prst="roundRect">
            <a:avLst>
              <a:gd fmla="val 3988" name="adj"/>
            </a:avLst>
          </a:prstGeom>
          <a:solidFill>
            <a:schemeClr val="lt1"/>
          </a:solidFill>
          <a:ln cap="flat" cmpd="sng" w="9525">
            <a:solidFill>
              <a:schemeClr val="accent5"/>
            </a:solidFill>
            <a:prstDash val="solid"/>
            <a:round/>
            <a:headEnd len="sm" w="sm" type="none"/>
            <a:tailEnd len="sm" w="sm" type="none"/>
          </a:ln>
          <a:effectLst>
            <a:outerShdw blurRad="101600" rotWithShape="0" algn="bl" dir="5400000" dist="25400">
              <a:srgbClr val="0B2545">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e live audit log: Verify the hash chain says PASS" id="482" name="Google Shape;482;p17"/>
          <p:cNvPicPr preferRelativeResize="0"/>
          <p:nvPr/>
        </p:nvPicPr>
        <p:blipFill rotWithShape="1">
          <a:blip r:embed="rId3">
            <a:alphaModFix/>
          </a:blip>
          <a:srcRect b="0" l="0" r="0" t="0"/>
          <a:stretch/>
        </p:blipFill>
        <p:spPr>
          <a:xfrm>
            <a:off x="4663440" y="1280160"/>
            <a:ext cx="4023360" cy="1229360"/>
          </a:xfrm>
          <a:prstGeom prst="rect">
            <a:avLst/>
          </a:prstGeom>
          <a:noFill/>
          <a:ln>
            <a:noFill/>
          </a:ln>
        </p:spPr>
      </p:pic>
      <p:sp>
        <p:nvSpPr>
          <p:cNvPr id="483" name="Google Shape;483;p17"/>
          <p:cNvSpPr txBox="1"/>
          <p:nvPr/>
        </p:nvSpPr>
        <p:spPr>
          <a:xfrm>
            <a:off x="4663440" y="2637536"/>
            <a:ext cx="4023360" cy="411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50"/>
              <a:buFont typeface="Calibri"/>
              <a:buNone/>
            </a:pPr>
            <a:r>
              <a:rPr b="0" i="0" lang="en-US" sz="1050" u="none" cap="none" strike="noStrike">
                <a:solidFill>
                  <a:schemeClr val="dk2"/>
                </a:solidFill>
                <a:latin typeface="Calibri"/>
                <a:ea typeface="Calibri"/>
                <a:cs typeface="Calibri"/>
                <a:sym typeface="Calibri"/>
              </a:rPr>
              <a:t>Live, studyroute.bot-keep.xyz, 19 Oct 2026: Verify the hash chain gives PASS on 40 events.</a:t>
            </a:r>
            <a:endParaRPr b="0" i="0" sz="1050" u="none" cap="none" strike="noStrike">
              <a:solidFill>
                <a:schemeClr val="dk1"/>
              </a:solidFill>
              <a:latin typeface="Calibri"/>
              <a:ea typeface="Calibri"/>
              <a:cs typeface="Calibri"/>
              <a:sym typeface="Calibri"/>
            </a:endParaRPr>
          </a:p>
        </p:txBody>
      </p:sp>
      <p:sp>
        <p:nvSpPr>
          <p:cNvPr id="484" name="Google Shape;484;p17"/>
          <p:cNvSpPr/>
          <p:nvPr/>
        </p:nvSpPr>
        <p:spPr>
          <a:xfrm>
            <a:off x="4663440" y="3063240"/>
            <a:ext cx="4023360" cy="777240"/>
          </a:xfrm>
          <a:prstGeom prst="roundRect">
            <a:avLst>
              <a:gd fmla="val 94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7"/>
          <p:cNvSpPr txBox="1"/>
          <p:nvPr/>
        </p:nvSpPr>
        <p:spPr>
          <a:xfrm>
            <a:off x="4800600" y="3108960"/>
            <a:ext cx="37490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Tamper test: </a:t>
            </a:r>
            <a:r>
              <a:rPr b="0" i="0" lang="en-US" sz="1100" u="none" cap="none" strike="noStrike">
                <a:solidFill>
                  <a:schemeClr val="dk1"/>
                </a:solidFill>
                <a:latin typeface="Calibri"/>
                <a:ea typeface="Calibri"/>
                <a:cs typeface="Calibri"/>
                <a:sym typeface="Calibri"/>
              </a:rPr>
              <a:t>edit one audit row behind the app's back and Verify fails at that event; restore it and Verify passes.</a:t>
            </a:r>
            <a:endParaRPr b="0" i="0" sz="1100" u="none" cap="none" strike="noStrike">
              <a:solidFill>
                <a:schemeClr val="dk1"/>
              </a:solidFill>
              <a:latin typeface="Calibri"/>
              <a:ea typeface="Calibri"/>
              <a:cs typeface="Calibri"/>
              <a:sym typeface="Calibri"/>
            </a:endParaRPr>
          </a:p>
        </p:txBody>
      </p:sp>
      <p:sp>
        <p:nvSpPr>
          <p:cNvPr id="486" name="Google Shape;486;p17"/>
          <p:cNvSpPr/>
          <p:nvPr/>
        </p:nvSpPr>
        <p:spPr>
          <a:xfrm>
            <a:off x="4663440" y="3931920"/>
            <a:ext cx="4023360" cy="777240"/>
          </a:xfrm>
          <a:prstGeom prst="roundRect">
            <a:avLst>
              <a:gd fmla="val 9412"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17"/>
          <p:cNvSpPr txBox="1"/>
          <p:nvPr/>
        </p:nvSpPr>
        <p:spPr>
          <a:xfrm>
            <a:off x="4800600" y="3977640"/>
            <a:ext cx="37490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1" i="0" lang="en-US" sz="1100" u="none" cap="none" strike="noStrike">
                <a:solidFill>
                  <a:schemeClr val="dk1"/>
                </a:solidFill>
                <a:latin typeface="Calibri"/>
                <a:ea typeface="Calibri"/>
                <a:cs typeface="Calibri"/>
                <a:sym typeface="Calibri"/>
              </a:rPr>
              <a:t>Also: </a:t>
            </a:r>
            <a:r>
              <a:rPr b="0" i="0" lang="en-US" sz="1100" u="none" cap="none" strike="noStrike">
                <a:solidFill>
                  <a:schemeClr val="dk1"/>
                </a:solidFill>
                <a:latin typeface="Calibri"/>
                <a:ea typeface="Calibri"/>
                <a:cs typeface="Calibri"/>
                <a:sym typeface="Calibri"/>
              </a:rPr>
              <a:t>each payment's compliance report carries a hash your browser can recompute. Every threat has a test: docs/SECURITY.md.</a:t>
            </a:r>
            <a:endParaRPr b="0" i="0" sz="1100" u="none" cap="none" strike="noStrike">
              <a:solidFill>
                <a:schemeClr val="dk1"/>
              </a:solidFill>
              <a:latin typeface="Calibri"/>
              <a:ea typeface="Calibri"/>
              <a:cs typeface="Calibri"/>
              <a:sym typeface="Calibri"/>
            </a:endParaRPr>
          </a:p>
        </p:txBody>
      </p:sp>
      <p:sp>
        <p:nvSpPr>
          <p:cNvPr id="488" name="Google Shape;488;p17"/>
          <p:cNvSpPr txBox="1"/>
          <p:nvPr/>
        </p:nvSpPr>
        <p:spPr>
          <a:xfrm>
            <a:off x="457200" y="4864608"/>
            <a:ext cx="82296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Raw logs: submission/evidence/.</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18"/>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Attacking our own app</a:t>
            </a:r>
            <a:endParaRPr sz="3600"/>
          </a:p>
        </p:txBody>
      </p:sp>
      <p:sp>
        <p:nvSpPr>
          <p:cNvPr id="495" name="Google Shape;495;p18"/>
          <p:cNvSpPr/>
          <p:nvPr/>
        </p:nvSpPr>
        <p:spPr>
          <a:xfrm>
            <a:off x="457200" y="1234440"/>
            <a:ext cx="4754880" cy="3200400"/>
          </a:xfrm>
          <a:prstGeom prst="roundRect">
            <a:avLst>
              <a:gd fmla="val 2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8"/>
          <p:cNvSpPr txBox="1"/>
          <p:nvPr/>
        </p:nvSpPr>
        <p:spPr>
          <a:xfrm>
            <a:off x="640080" y="1298448"/>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1" i="0" lang="en-US" sz="1300" u="none" cap="none" strike="noStrike">
                <a:solidFill>
                  <a:schemeClr val="dk1"/>
                </a:solidFill>
                <a:latin typeface="Calibri"/>
                <a:ea typeface="Calibri"/>
                <a:cs typeface="Calibri"/>
                <a:sym typeface="Calibri"/>
              </a:rPr>
              <a:t>Recorded checks by tool (all pass)</a:t>
            </a:r>
            <a:endParaRPr b="0" i="0" sz="1300" u="none" cap="none" strike="noStrike">
              <a:solidFill>
                <a:schemeClr val="dk1"/>
              </a:solidFill>
              <a:latin typeface="Calibri"/>
              <a:ea typeface="Calibri"/>
              <a:cs typeface="Calibri"/>
              <a:sym typeface="Calibri"/>
            </a:endParaRPr>
          </a:p>
        </p:txBody>
      </p:sp>
      <p:sp>
        <p:nvSpPr>
          <p:cNvPr id="497" name="Google Shape;497;p18"/>
          <p:cNvSpPr txBox="1"/>
          <p:nvPr/>
        </p:nvSpPr>
        <p:spPr>
          <a:xfrm>
            <a:off x="640080" y="1737360"/>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Access control, injection</a:t>
            </a:r>
            <a:endParaRPr b="0" i="0" sz="1100" u="none" cap="none" strike="noStrike">
              <a:solidFill>
                <a:schemeClr val="dk1"/>
              </a:solidFill>
              <a:latin typeface="Calibri"/>
              <a:ea typeface="Calibri"/>
              <a:cs typeface="Calibri"/>
              <a:sym typeface="Calibri"/>
            </a:endParaRPr>
          </a:p>
        </p:txBody>
      </p:sp>
      <p:sp>
        <p:nvSpPr>
          <p:cNvPr id="498" name="Google Shape;498;p18"/>
          <p:cNvSpPr/>
          <p:nvPr/>
        </p:nvSpPr>
        <p:spPr>
          <a:xfrm>
            <a:off x="2606040" y="1824228"/>
            <a:ext cx="1920240" cy="219456"/>
          </a:xfrm>
          <a:prstGeom prst="roundRect">
            <a:avLst>
              <a:gd fmla="val 125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8"/>
          <p:cNvSpPr txBox="1"/>
          <p:nvPr/>
        </p:nvSpPr>
        <p:spPr>
          <a:xfrm>
            <a:off x="4599432" y="1824228"/>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146</a:t>
            </a:r>
            <a:endParaRPr b="0" i="0" sz="1000" u="none" cap="none" strike="noStrike">
              <a:solidFill>
                <a:schemeClr val="dk1"/>
              </a:solidFill>
              <a:latin typeface="Calibri"/>
              <a:ea typeface="Calibri"/>
              <a:cs typeface="Calibri"/>
              <a:sym typeface="Calibri"/>
            </a:endParaRPr>
          </a:p>
        </p:txBody>
      </p:sp>
      <p:sp>
        <p:nvSpPr>
          <p:cNvPr id="500" name="Google Shape;500;p18"/>
          <p:cNvSpPr txBox="1"/>
          <p:nvPr/>
        </p:nvSpPr>
        <p:spPr>
          <a:xfrm>
            <a:off x="640080" y="2130552"/>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Browser, CSP, XSS</a:t>
            </a:r>
            <a:endParaRPr b="0" i="0" sz="1100" u="none" cap="none" strike="noStrike">
              <a:solidFill>
                <a:schemeClr val="dk1"/>
              </a:solidFill>
              <a:latin typeface="Calibri"/>
              <a:ea typeface="Calibri"/>
              <a:cs typeface="Calibri"/>
              <a:sym typeface="Calibri"/>
            </a:endParaRPr>
          </a:p>
        </p:txBody>
      </p:sp>
      <p:sp>
        <p:nvSpPr>
          <p:cNvPr id="501" name="Google Shape;501;p18"/>
          <p:cNvSpPr/>
          <p:nvPr/>
        </p:nvSpPr>
        <p:spPr>
          <a:xfrm>
            <a:off x="2606040" y="2217420"/>
            <a:ext cx="631312" cy="219456"/>
          </a:xfrm>
          <a:prstGeom prst="roundRect">
            <a:avLst>
              <a:gd fmla="val 125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8"/>
          <p:cNvSpPr txBox="1"/>
          <p:nvPr/>
        </p:nvSpPr>
        <p:spPr>
          <a:xfrm>
            <a:off x="3310504" y="2217420"/>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48</a:t>
            </a:r>
            <a:endParaRPr b="0" i="0" sz="1000" u="none" cap="none" strike="noStrike">
              <a:solidFill>
                <a:schemeClr val="dk1"/>
              </a:solidFill>
              <a:latin typeface="Calibri"/>
              <a:ea typeface="Calibri"/>
              <a:cs typeface="Calibri"/>
              <a:sym typeface="Calibri"/>
            </a:endParaRPr>
          </a:p>
        </p:txBody>
      </p:sp>
      <p:sp>
        <p:nvSpPr>
          <p:cNvPr id="503" name="Google Shape;503;p18"/>
          <p:cNvSpPr txBox="1"/>
          <p:nvPr/>
        </p:nvSpPr>
        <p:spPr>
          <a:xfrm>
            <a:off x="640080" y="2523744"/>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Leak canaries (+2 info)</a:t>
            </a:r>
            <a:endParaRPr b="0" i="0" sz="1100" u="none" cap="none" strike="noStrike">
              <a:solidFill>
                <a:schemeClr val="dk1"/>
              </a:solidFill>
              <a:latin typeface="Calibri"/>
              <a:ea typeface="Calibri"/>
              <a:cs typeface="Calibri"/>
              <a:sym typeface="Calibri"/>
            </a:endParaRPr>
          </a:p>
        </p:txBody>
      </p:sp>
      <p:sp>
        <p:nvSpPr>
          <p:cNvPr id="504" name="Google Shape;504;p18"/>
          <p:cNvSpPr/>
          <p:nvPr/>
        </p:nvSpPr>
        <p:spPr>
          <a:xfrm>
            <a:off x="2606040" y="2610612"/>
            <a:ext cx="657616" cy="219456"/>
          </a:xfrm>
          <a:prstGeom prst="roundRect">
            <a:avLst>
              <a:gd fmla="val 125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8"/>
          <p:cNvSpPr txBox="1"/>
          <p:nvPr/>
        </p:nvSpPr>
        <p:spPr>
          <a:xfrm>
            <a:off x="3336808" y="2610612"/>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50</a:t>
            </a:r>
            <a:endParaRPr b="0" i="0" sz="1000" u="none" cap="none" strike="noStrike">
              <a:solidFill>
                <a:schemeClr val="dk1"/>
              </a:solidFill>
              <a:latin typeface="Calibri"/>
              <a:ea typeface="Calibri"/>
              <a:cs typeface="Calibri"/>
              <a:sym typeface="Calibri"/>
            </a:endParaRPr>
          </a:p>
        </p:txBody>
      </p:sp>
      <p:sp>
        <p:nvSpPr>
          <p:cNvPr id="506" name="Google Shape;506;p18"/>
          <p:cNvSpPr txBox="1"/>
          <p:nvPr/>
        </p:nvSpPr>
        <p:spPr>
          <a:xfrm>
            <a:off x="640080" y="2916936"/>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Hostile assistant prompts</a:t>
            </a:r>
            <a:endParaRPr b="0" i="0" sz="1100" u="none" cap="none" strike="noStrike">
              <a:solidFill>
                <a:schemeClr val="dk1"/>
              </a:solidFill>
              <a:latin typeface="Calibri"/>
              <a:ea typeface="Calibri"/>
              <a:cs typeface="Calibri"/>
              <a:sym typeface="Calibri"/>
            </a:endParaRPr>
          </a:p>
        </p:txBody>
      </p:sp>
      <p:sp>
        <p:nvSpPr>
          <p:cNvPr id="507" name="Google Shape;507;p18"/>
          <p:cNvSpPr/>
          <p:nvPr/>
        </p:nvSpPr>
        <p:spPr>
          <a:xfrm>
            <a:off x="2606040" y="3003804"/>
            <a:ext cx="552398" cy="219456"/>
          </a:xfrm>
          <a:prstGeom prst="roundRect">
            <a:avLst>
              <a:gd fmla="val 125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8"/>
          <p:cNvSpPr txBox="1"/>
          <p:nvPr/>
        </p:nvSpPr>
        <p:spPr>
          <a:xfrm>
            <a:off x="3231590" y="3003804"/>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42</a:t>
            </a:r>
            <a:endParaRPr b="0" i="0" sz="1000" u="none" cap="none" strike="noStrike">
              <a:solidFill>
                <a:schemeClr val="dk1"/>
              </a:solidFill>
              <a:latin typeface="Calibri"/>
              <a:ea typeface="Calibri"/>
              <a:cs typeface="Calibri"/>
              <a:sym typeface="Calibri"/>
            </a:endParaRPr>
          </a:p>
        </p:txBody>
      </p:sp>
      <p:sp>
        <p:nvSpPr>
          <p:cNvPr id="509" name="Google Shape;509;p18"/>
          <p:cNvSpPr txBox="1"/>
          <p:nvPr/>
        </p:nvSpPr>
        <p:spPr>
          <a:xfrm>
            <a:off x="640080" y="3310128"/>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Man-in-the-middle (+4 info)</a:t>
            </a:r>
            <a:endParaRPr b="0" i="0" sz="1100" u="none" cap="none" strike="noStrike">
              <a:solidFill>
                <a:schemeClr val="dk1"/>
              </a:solidFill>
              <a:latin typeface="Calibri"/>
              <a:ea typeface="Calibri"/>
              <a:cs typeface="Calibri"/>
              <a:sym typeface="Calibri"/>
            </a:endParaRPr>
          </a:p>
        </p:txBody>
      </p:sp>
      <p:sp>
        <p:nvSpPr>
          <p:cNvPr id="510" name="Google Shape;510;p18"/>
          <p:cNvSpPr/>
          <p:nvPr/>
        </p:nvSpPr>
        <p:spPr>
          <a:xfrm>
            <a:off x="2606040" y="3396996"/>
            <a:ext cx="184133" cy="219456"/>
          </a:xfrm>
          <a:prstGeom prst="roundRect">
            <a:avLst>
              <a:gd fmla="val 14898"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8"/>
          <p:cNvSpPr txBox="1"/>
          <p:nvPr/>
        </p:nvSpPr>
        <p:spPr>
          <a:xfrm>
            <a:off x="2863325" y="3396996"/>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14</a:t>
            </a:r>
            <a:endParaRPr b="0" i="0" sz="1000" u="none" cap="none" strike="noStrike">
              <a:solidFill>
                <a:schemeClr val="dk1"/>
              </a:solidFill>
              <a:latin typeface="Calibri"/>
              <a:ea typeface="Calibri"/>
              <a:cs typeface="Calibri"/>
              <a:sym typeface="Calibri"/>
            </a:endParaRPr>
          </a:p>
        </p:txBody>
      </p:sp>
      <p:sp>
        <p:nvSpPr>
          <p:cNvPr id="512" name="Google Shape;512;p18"/>
          <p:cNvSpPr txBox="1"/>
          <p:nvPr/>
        </p:nvSpPr>
        <p:spPr>
          <a:xfrm>
            <a:off x="640080" y="3703320"/>
            <a:ext cx="1874520" cy="3931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Login and MFA guessing</a:t>
            </a:r>
            <a:endParaRPr b="0" i="0" sz="1100" u="none" cap="none" strike="noStrike">
              <a:solidFill>
                <a:schemeClr val="dk1"/>
              </a:solidFill>
              <a:latin typeface="Calibri"/>
              <a:ea typeface="Calibri"/>
              <a:cs typeface="Calibri"/>
              <a:sym typeface="Calibri"/>
            </a:endParaRPr>
          </a:p>
        </p:txBody>
      </p:sp>
      <p:sp>
        <p:nvSpPr>
          <p:cNvPr id="513" name="Google Shape;513;p18"/>
          <p:cNvSpPr/>
          <p:nvPr/>
        </p:nvSpPr>
        <p:spPr>
          <a:xfrm>
            <a:off x="2606040" y="3790188"/>
            <a:ext cx="105219" cy="219456"/>
          </a:xfrm>
          <a:prstGeom prst="roundRect">
            <a:avLst>
              <a:gd fmla="val 26071"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8"/>
          <p:cNvSpPr txBox="1"/>
          <p:nvPr/>
        </p:nvSpPr>
        <p:spPr>
          <a:xfrm>
            <a:off x="2784411" y="3790188"/>
            <a:ext cx="685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000"/>
              <a:buFont typeface="Calibri"/>
              <a:buNone/>
            </a:pPr>
            <a:r>
              <a:rPr b="1" i="0" lang="en-US" sz="1000" u="none" cap="none" strike="noStrike">
                <a:solidFill>
                  <a:schemeClr val="dk1"/>
                </a:solidFill>
                <a:latin typeface="Calibri"/>
                <a:ea typeface="Calibri"/>
                <a:cs typeface="Calibri"/>
                <a:sym typeface="Calibri"/>
              </a:rPr>
              <a:t>8</a:t>
            </a:r>
            <a:endParaRPr b="0" i="0" sz="1000" u="none" cap="none" strike="noStrike">
              <a:solidFill>
                <a:schemeClr val="dk1"/>
              </a:solidFill>
              <a:latin typeface="Calibri"/>
              <a:ea typeface="Calibri"/>
              <a:cs typeface="Calibri"/>
              <a:sym typeface="Calibri"/>
            </a:endParaRPr>
          </a:p>
        </p:txBody>
      </p:sp>
      <p:sp>
        <p:nvSpPr>
          <p:cNvPr id="515" name="Google Shape;515;p18"/>
          <p:cNvSpPr txBox="1"/>
          <p:nvPr/>
        </p:nvSpPr>
        <p:spPr>
          <a:xfrm>
            <a:off x="640080" y="4114800"/>
            <a:ext cx="43891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314 records: 308 PASS, 6 INFO. Team-run lab results; not 314 different attacks.</a:t>
            </a:r>
            <a:endParaRPr b="0" i="0" sz="1000" u="none" cap="none" strike="noStrike">
              <a:solidFill>
                <a:schemeClr val="dk1"/>
              </a:solidFill>
              <a:latin typeface="Calibri"/>
              <a:ea typeface="Calibri"/>
              <a:cs typeface="Calibri"/>
              <a:sym typeface="Calibri"/>
            </a:endParaRPr>
          </a:p>
        </p:txBody>
      </p:sp>
      <p:sp>
        <p:nvSpPr>
          <p:cNvPr id="516" name="Google Shape;516;p18"/>
          <p:cNvSpPr/>
          <p:nvPr/>
        </p:nvSpPr>
        <p:spPr>
          <a:xfrm>
            <a:off x="5394960" y="1234440"/>
            <a:ext cx="3291840" cy="3200400"/>
          </a:xfrm>
          <a:prstGeom prst="roundRect">
            <a:avLst>
              <a:gd fmla="val 2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8"/>
          <p:cNvSpPr txBox="1"/>
          <p:nvPr/>
        </p:nvSpPr>
        <p:spPr>
          <a:xfrm>
            <a:off x="5532120" y="1298448"/>
            <a:ext cx="30175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300"/>
              <a:buFont typeface="Calibri"/>
              <a:buNone/>
            </a:pPr>
            <a:r>
              <a:rPr b="1" i="0" lang="en-US" sz="1300" u="none" cap="none" strike="noStrike">
                <a:solidFill>
                  <a:schemeClr val="dk1"/>
                </a:solidFill>
                <a:latin typeface="Calibri"/>
                <a:ea typeface="Calibri"/>
                <a:cs typeface="Calibri"/>
                <a:sym typeface="Calibri"/>
              </a:rPr>
              <a:t>The man-in-the-middle test</a:t>
            </a:r>
            <a:endParaRPr b="0" i="0" sz="1300" u="none" cap="none" strike="noStrike">
              <a:solidFill>
                <a:schemeClr val="dk1"/>
              </a:solidFill>
              <a:latin typeface="Calibri"/>
              <a:ea typeface="Calibri"/>
              <a:cs typeface="Calibri"/>
              <a:sym typeface="Calibri"/>
            </a:endParaRPr>
          </a:p>
        </p:txBody>
      </p:sp>
      <p:sp>
        <p:nvSpPr>
          <p:cNvPr id="518" name="Google Shape;518;p18"/>
          <p:cNvSpPr txBox="1"/>
          <p:nvPr/>
        </p:nvSpPr>
        <p:spPr>
          <a:xfrm>
            <a:off x="5532120" y="1691640"/>
            <a:ext cx="30175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6"/>
              </a:buClr>
              <a:buSzPts val="1200"/>
              <a:buFont typeface="Calibri"/>
              <a:buNone/>
            </a:pPr>
            <a:r>
              <a:rPr b="1" i="0" lang="en-US" sz="1200" u="none" cap="none" strike="noStrike">
                <a:solidFill>
                  <a:schemeClr val="accent6"/>
                </a:solidFill>
                <a:latin typeface="Calibri"/>
                <a:ea typeface="Calibri"/>
                <a:cs typeface="Calibri"/>
                <a:sym typeface="Calibri"/>
              </a:rPr>
              <a:t>Held (14 of 14)</a:t>
            </a:r>
            <a:endParaRPr b="0" i="0" sz="1200" u="none" cap="none" strike="noStrike">
              <a:solidFill>
                <a:schemeClr val="dk1"/>
              </a:solidFill>
              <a:latin typeface="Calibri"/>
              <a:ea typeface="Calibri"/>
              <a:cs typeface="Calibri"/>
              <a:sym typeface="Calibri"/>
            </a:endParaRPr>
          </a:p>
        </p:txBody>
      </p:sp>
      <p:sp>
        <p:nvSpPr>
          <p:cNvPr id="519" name="Google Shape;519;p18"/>
          <p:cNvSpPr txBox="1"/>
          <p:nvPr/>
        </p:nvSpPr>
        <p:spPr>
          <a:xfrm>
            <a:off x="5532120" y="1965960"/>
            <a:ext cx="3017520" cy="128016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Altered or redirected approval: refused</a:t>
            </a:r>
            <a:endParaRPr b="0" i="0" sz="105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Stripped or swapped MFA proof: refused</a:t>
            </a:r>
            <a:endParaRPr b="0" i="0" sz="105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Stolen token cannot approve or allowlist</a:t>
            </a:r>
            <a:endParaRPr b="0" i="0" sz="105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Webhook tamper and replay: refused</a:t>
            </a:r>
            <a:endParaRPr b="0" i="0" sz="1050" u="none" cap="none" strike="noStrike">
              <a:solidFill>
                <a:schemeClr val="dk1"/>
              </a:solidFill>
              <a:latin typeface="Calibri"/>
              <a:ea typeface="Calibri"/>
              <a:cs typeface="Calibri"/>
              <a:sym typeface="Calibri"/>
            </a:endParaRPr>
          </a:p>
        </p:txBody>
      </p:sp>
      <p:sp>
        <p:nvSpPr>
          <p:cNvPr id="520" name="Google Shape;520;p18"/>
          <p:cNvSpPr txBox="1"/>
          <p:nvPr/>
        </p:nvSpPr>
        <p:spPr>
          <a:xfrm>
            <a:off x="5532120" y="3200400"/>
            <a:ext cx="30175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3"/>
              </a:buClr>
              <a:buSzPts val="1200"/>
              <a:buFont typeface="Calibri"/>
              <a:buNone/>
            </a:pPr>
            <a:r>
              <a:rPr b="1" i="0" lang="en-US" sz="1200" u="none" cap="none" strike="noStrike">
                <a:solidFill>
                  <a:schemeClr val="accent3"/>
                </a:solidFill>
                <a:latin typeface="Calibri"/>
                <a:ea typeface="Calibri"/>
                <a:cs typeface="Calibri"/>
                <a:sym typeface="Calibri"/>
              </a:rPr>
              <a:t>Did not hold</a:t>
            </a:r>
            <a:endParaRPr b="0" i="0" sz="1200" u="none" cap="none" strike="noStrike">
              <a:solidFill>
                <a:schemeClr val="dk1"/>
              </a:solidFill>
              <a:latin typeface="Calibri"/>
              <a:ea typeface="Calibri"/>
              <a:cs typeface="Calibri"/>
              <a:sym typeface="Calibri"/>
            </a:endParaRPr>
          </a:p>
        </p:txBody>
      </p:sp>
      <p:sp>
        <p:nvSpPr>
          <p:cNvPr id="521" name="Google Shape;521;p18"/>
          <p:cNvSpPr txBox="1"/>
          <p:nvPr/>
        </p:nvSpPr>
        <p:spPr>
          <a:xfrm>
            <a:off x="5532120" y="3474720"/>
            <a:ext cx="3017520" cy="91440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Plain HTTP: a listener reads the password and token</a:t>
            </a:r>
            <a:endParaRPr b="0" i="0" sz="1050" u="none" cap="none" strike="noStrike">
              <a:solidFill>
                <a:schemeClr val="dk1"/>
              </a:solidFill>
              <a:latin typeface="Calibri"/>
              <a:ea typeface="Calibri"/>
              <a:cs typeface="Calibri"/>
              <a:sym typeface="Calibri"/>
            </a:endParaRPr>
          </a:p>
          <a:p>
            <a:pPr indent="-342900" lvl="0" marL="342900" marR="0" rtl="0" algn="l">
              <a:spcBef>
                <a:spcPts val="200"/>
              </a:spcBef>
              <a:spcAft>
                <a:spcPts val="0"/>
              </a:spcAft>
              <a:buClr>
                <a:schemeClr val="dk1"/>
              </a:buClr>
              <a:buSzPts val="1050"/>
              <a:buFont typeface="Calibri"/>
              <a:buChar char="•"/>
            </a:pPr>
            <a:r>
              <a:rPr b="0" i="0" lang="en-US" sz="1050" u="none" cap="none" strike="noStrike">
                <a:solidFill>
                  <a:schemeClr val="dk1"/>
                </a:solidFill>
                <a:latin typeface="Calibri"/>
                <a:ea typeface="Calibri"/>
                <a:cs typeface="Calibri"/>
                <a:sym typeface="Calibri"/>
              </a:rPr>
              <a:t>A stolen token reads payments and cancels a draft for 15 minutes</a:t>
            </a:r>
            <a:endParaRPr b="0" i="0" sz="1050" u="none" cap="none" strike="noStrike">
              <a:solidFill>
                <a:schemeClr val="dk1"/>
              </a:solidFill>
              <a:latin typeface="Calibri"/>
              <a:ea typeface="Calibri"/>
              <a:cs typeface="Calibri"/>
              <a:sym typeface="Calibri"/>
            </a:endParaRPr>
          </a:p>
        </p:txBody>
      </p:sp>
      <p:sp>
        <p:nvSpPr>
          <p:cNvPr id="522" name="Google Shape;522;p18"/>
          <p:cNvSpPr txBox="1"/>
          <p:nvPr/>
        </p:nvSpPr>
        <p:spPr>
          <a:xfrm>
            <a:off x="457200" y="452628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Raw logs and hashes: submission/evidence/security_2026-10-18/ and the security self-assessment, section 7 and Appendix A.</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19"/>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Security problems we found</a:t>
            </a:r>
            <a:endParaRPr sz="3600"/>
          </a:p>
        </p:txBody>
      </p:sp>
      <p:graphicFrame>
        <p:nvGraphicFramePr>
          <p:cNvPr id="529" name="Google Shape;529;p19"/>
          <p:cNvGraphicFramePr/>
          <p:nvPr/>
        </p:nvGraphicFramePr>
        <p:xfrm>
          <a:off x="457200" y="1188720"/>
          <a:ext cx="3000000" cy="3000000"/>
        </p:xfrm>
        <a:graphic>
          <a:graphicData uri="http://schemas.openxmlformats.org/drawingml/2006/table">
            <a:tbl>
              <a:tblPr>
                <a:noFill/>
                <a:tableStyleId>{9FCBD0EA-42DF-4A38-8C5C-F2C40DA175B8}</a:tableStyleId>
              </a:tblPr>
              <a:tblGrid>
                <a:gridCol w="2834650"/>
                <a:gridCol w="868675"/>
                <a:gridCol w="4526275"/>
              </a:tblGrid>
              <a:tr h="411475">
                <a:tc>
                  <a:txBody>
                    <a:bodyPr/>
                    <a:lstStyle/>
                    <a:p>
                      <a:pPr indent="0" lvl="0" marL="0" marR="0" rtl="0" algn="l">
                        <a:spcBef>
                          <a:spcPts val="0"/>
                        </a:spcBef>
                        <a:spcAft>
                          <a:spcPts val="0"/>
                        </a:spcAft>
                        <a:buClr>
                          <a:schemeClr val="lt1"/>
                        </a:buClr>
                        <a:buSzPts val="1000"/>
                        <a:buFont typeface="Calibri"/>
                        <a:buNone/>
                      </a:pPr>
                      <a:r>
                        <a:rPr b="1" lang="en-US" sz="1000" u="none" cap="none" strike="noStrike">
                          <a:solidFill>
                            <a:schemeClr val="lt1"/>
                          </a:solidFill>
                        </a:rPr>
                        <a:t>Problem found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000"/>
                        <a:buFont typeface="Calibri"/>
                        <a:buNone/>
                      </a:pPr>
                      <a:r>
                        <a:rPr b="1" lang="en-US" sz="1000" u="none" cap="none" strike="noStrike">
                          <a:solidFill>
                            <a:schemeClr val="lt1"/>
                          </a:solidFill>
                        </a:rPr>
                        <a:t>Status</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c>
                  <a:txBody>
                    <a:bodyPr/>
                    <a:lstStyle/>
                    <a:p>
                      <a:pPr indent="0" lvl="0" marL="0" marR="0" rtl="0" algn="l">
                        <a:spcBef>
                          <a:spcPts val="0"/>
                        </a:spcBef>
                        <a:spcAft>
                          <a:spcPts val="0"/>
                        </a:spcAft>
                        <a:buClr>
                          <a:schemeClr val="lt1"/>
                        </a:buClr>
                        <a:buSzPts val="1000"/>
                        <a:buFont typeface="Calibri"/>
                        <a:buNone/>
                      </a:pPr>
                      <a:r>
                        <a:rPr b="1" lang="en-US" sz="1000" u="none" cap="none" strike="noStrike">
                          <a:solidFill>
                            <a:schemeClr val="lt1"/>
                          </a:solidFill>
                        </a:rPr>
                        <a:t>What we did, or still need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dk1"/>
                    </a:solidFill>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Plain HTTP exposes the password and token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1"/>
                        </a:buClr>
                        <a:buSzPts val="1000"/>
                        <a:buFont typeface="Calibri"/>
                        <a:buNone/>
                      </a:pPr>
                      <a:r>
                        <a:rPr b="1" lang="en-US" sz="1000" u="none" cap="none" strike="noStrike">
                          <a:solidFill>
                            <a:schemeClr val="accent1"/>
                          </a:solidFill>
                        </a:rPr>
                        <a:t>Mitigated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The public site answers over HTTPS with an HSTS header (seen 19 Oct). The local demo is HTTP by design. Not independently tested.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A stolen token reads payments, cancels a draft (15 min)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accent3"/>
                        </a:buClr>
                        <a:buSzPts val="1000"/>
                        <a:buFont typeface="Calibri"/>
                        <a:buNone/>
                      </a:pPr>
                      <a:r>
                        <a:rPr b="1" lang="en-US" sz="1000" u="none" cap="none" strike="noStrike">
                          <a:solidFill>
                            <a:schemeClr val="accent3"/>
                          </a:solidFill>
                        </a:rPr>
                        <a:t>Open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Approval still needs a fresh MFA proof bound to the payment. Cancel rights are under review.</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Account names guessable after repeated failures</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6"/>
                        </a:buClr>
                        <a:buSzPts val="1000"/>
                        <a:buFont typeface="Calibri"/>
                        <a:buNone/>
                      </a:pPr>
                      <a:r>
                        <a:rPr b="1" lang="en-US" sz="1000" u="none" cap="none" strike="noStrike">
                          <a:solidFill>
                            <a:schemeClr val="accent6"/>
                          </a:solidFill>
                        </a:rPr>
                        <a:t>Fixed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Uniform lockout and failure tracking, with tests.</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Model runtime phoned a public telemetry host</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accent6"/>
                        </a:buClr>
                        <a:buSzPts val="1000"/>
                        <a:buFont typeface="Calibri"/>
                        <a:buNone/>
                      </a:pPr>
                      <a:r>
                        <a:rPr b="1" lang="en-US" sz="1000" u="none" cap="none" strike="noStrike">
                          <a:solidFill>
                            <a:schemeClr val="accent6"/>
                          </a:solidFill>
                        </a:rPr>
                        <a:t>Fixed</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Switched off; a new capture found no packet to a public address.</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Document text, with a planted passport, was readable</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4"/>
                        </a:buClr>
                        <a:buSzPts val="1000"/>
                        <a:buFont typeface="Calibri"/>
                        <a:buNone/>
                      </a:pPr>
                      <a:r>
                        <a:rPr b="1" lang="en-US" sz="1000" u="none" cap="none" strike="noStrike">
                          <a:solidFill>
                            <a:schemeClr val="accent4"/>
                          </a:solidFill>
                        </a:rPr>
                        <a:t>Partly</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New rows use AES-256-GCM. Old rows, names and file names stay readable.</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Nine high advisories in development tools</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accent3"/>
                        </a:buClr>
                        <a:buSzPts val="1000"/>
                        <a:buFont typeface="Calibri"/>
                        <a:buNone/>
                      </a:pPr>
                      <a:r>
                        <a:rPr b="1" lang="en-US" sz="1000" u="none" cap="none" strike="noStrike">
                          <a:solidFill>
                            <a:schemeClr val="accent3"/>
                          </a:solidFill>
                        </a:rPr>
                        <a:t>Open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Dev tools only; upgrade deferred. Not a clean bill of health.</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tcPr>
                </a:tc>
              </a:tr>
              <a:tr h="411475">
                <a:tc>
                  <a:txBody>
                    <a:bodyPr/>
                    <a:lstStyle/>
                    <a:p>
                      <a:pPr indent="0" lvl="0" marL="0" marR="0" rtl="0" algn="l">
                        <a:spcBef>
                          <a:spcPts val="0"/>
                        </a:spcBef>
                        <a:spcAft>
                          <a:spcPts val="0"/>
                        </a:spcAft>
                        <a:buClr>
                          <a:schemeClr val="dk1"/>
                        </a:buClr>
                        <a:buSzPts val="1000"/>
                        <a:buFont typeface="Calibri"/>
                        <a:buNone/>
                      </a:pPr>
                      <a:r>
                        <a:rPr b="1" lang="en-US" sz="1000" u="none" cap="none" strike="noStrike">
                          <a:solidFill>
                            <a:schemeClr val="dk1"/>
                          </a:solidFill>
                        </a:rPr>
                        <a:t>No independent penetration test; simulated chain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accent3"/>
                        </a:buClr>
                        <a:buSzPts val="1000"/>
                        <a:buFont typeface="Calibri"/>
                        <a:buNone/>
                      </a:pPr>
                      <a:r>
                        <a:rPr b="1" lang="en-US" sz="1000" u="none" cap="none" strike="noStrike">
                          <a:solidFill>
                            <a:schemeClr val="accent3"/>
                          </a:solidFill>
                        </a:rPr>
                        <a:t>Open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c>
                  <a:txBody>
                    <a:bodyPr/>
                    <a:lstStyle/>
                    <a:p>
                      <a:pPr indent="0" lvl="0" marL="0" marR="0" rtl="0" algn="l">
                        <a:spcBef>
                          <a:spcPts val="0"/>
                        </a:spcBef>
                        <a:spcAft>
                          <a:spcPts val="0"/>
                        </a:spcAft>
                        <a:buClr>
                          <a:schemeClr val="dk1"/>
                        </a:buClr>
                        <a:buSzPts val="1000"/>
                        <a:buFont typeface="Calibri"/>
                        <a:buNone/>
                      </a:pPr>
                      <a:r>
                        <a:rPr lang="en-US" sz="1000" u="none" cap="none" strike="noStrike">
                          <a:solidFill>
                            <a:schemeClr val="dk1"/>
                          </a:solidFill>
                        </a:rPr>
                        <a:t>Every attack tool was written by the team. The chain is a simulation.</a:t>
                      </a:r>
                      <a:endParaRPr sz="1000" u="none" cap="none" strike="noStrike"/>
                    </a:p>
                  </a:txBody>
                  <a:tcPr marT="45725" marB="45725" marR="91450" marL="91450" anchor="ctr">
                    <a:lnL cap="flat" cmpd="sng" w="9525">
                      <a:solidFill>
                        <a:srgbClr val="C9D6E3"/>
                      </a:solidFill>
                      <a:prstDash val="solid"/>
                      <a:round/>
                      <a:headEnd len="sm" w="sm" type="none"/>
                      <a:tailEnd len="sm" w="sm" type="none"/>
                    </a:lnL>
                    <a:lnR cap="flat" cmpd="sng" w="9525">
                      <a:solidFill>
                        <a:srgbClr val="C9D6E3"/>
                      </a:solidFill>
                      <a:prstDash val="solid"/>
                      <a:round/>
                      <a:headEnd len="sm" w="sm" type="none"/>
                      <a:tailEnd len="sm" w="sm" type="none"/>
                    </a:lnR>
                    <a:lnT cap="flat" cmpd="sng" w="9525">
                      <a:solidFill>
                        <a:srgbClr val="C9D6E3"/>
                      </a:solidFill>
                      <a:prstDash val="solid"/>
                      <a:round/>
                      <a:headEnd len="sm" w="sm" type="none"/>
                      <a:tailEnd len="sm" w="sm" type="none"/>
                    </a:lnT>
                    <a:lnB cap="flat" cmpd="sng" w="9525">
                      <a:solidFill>
                        <a:srgbClr val="C9D6E3"/>
                      </a:solidFill>
                      <a:prstDash val="solid"/>
                      <a:round/>
                      <a:headEnd len="sm" w="sm" type="none"/>
                      <a:tailEnd len="sm" w="sm" type="none"/>
                    </a:lnB>
                    <a:solidFill>
                      <a:schemeClr val="lt2"/>
                    </a:solidFill>
                  </a:tcPr>
                </a:tc>
              </a:tr>
            </a:tbl>
          </a:graphicData>
        </a:graphic>
      </p:graphicFrame>
      <p:sp>
        <p:nvSpPr>
          <p:cNvPr id="530" name="Google Shape;530;p19"/>
          <p:cNvSpPr txBox="1"/>
          <p:nvPr/>
        </p:nvSpPr>
        <p:spPr>
          <a:xfrm>
            <a:off x="457200" y="457200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Source: security self-assessment, section 7 and Appendix A: every record, the raw-log hashes and what each fix did and did not show.</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20"/>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600"/>
              <a:buFont typeface="Cambria"/>
              <a:buNone/>
            </a:pPr>
            <a:r>
              <a:rPr b="1" lang="en-US" sz="3600">
                <a:solidFill>
                  <a:schemeClr val="dk1"/>
                </a:solidFill>
                <a:latin typeface="Cambria"/>
                <a:ea typeface="Cambria"/>
                <a:cs typeface="Cambria"/>
                <a:sym typeface="Cambria"/>
              </a:rPr>
              <a:t>Why it can work</a:t>
            </a:r>
            <a:endParaRPr sz="3600"/>
          </a:p>
        </p:txBody>
      </p:sp>
      <p:sp>
        <p:nvSpPr>
          <p:cNvPr id="537" name="Google Shape;537;p20"/>
          <p:cNvSpPr/>
          <p:nvPr/>
        </p:nvSpPr>
        <p:spPr>
          <a:xfrm>
            <a:off x="457200" y="1188720"/>
            <a:ext cx="4846320" cy="1078992"/>
          </a:xfrm>
          <a:prstGeom prst="roundRect">
            <a:avLst>
              <a:gd fmla="val 678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0"/>
          <p:cNvSpPr txBox="1"/>
          <p:nvPr/>
        </p:nvSpPr>
        <p:spPr>
          <a:xfrm>
            <a:off x="594360" y="1234440"/>
            <a:ext cx="178308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i="0" lang="en-US" sz="2100" u="none" cap="none" strike="noStrike">
                <a:solidFill>
                  <a:schemeClr val="accent1"/>
                </a:solidFill>
                <a:latin typeface="Cambria"/>
                <a:ea typeface="Cambria"/>
                <a:cs typeface="Cambria"/>
                <a:sym typeface="Cambria"/>
              </a:rPr>
              <a:t>USD 881.7m</a:t>
            </a:r>
            <a:endParaRPr b="0" i="0" sz="2100" u="none" cap="none" strike="noStrike">
              <a:solidFill>
                <a:schemeClr val="dk1"/>
              </a:solidFill>
              <a:latin typeface="Calibri"/>
              <a:ea typeface="Calibri"/>
              <a:cs typeface="Calibri"/>
              <a:sym typeface="Calibri"/>
            </a:endParaRPr>
          </a:p>
        </p:txBody>
      </p:sp>
      <p:sp>
        <p:nvSpPr>
          <p:cNvPr id="539" name="Google Shape;539;p20"/>
          <p:cNvSpPr txBox="1"/>
          <p:nvPr/>
        </p:nvSpPr>
        <p:spPr>
          <a:xfrm>
            <a:off x="2423160" y="1234440"/>
            <a:ext cx="278892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sent through Bangladeshi banks for overseas education in FY2025-26: a record, up 32% in a year. Bangladesh Bank data, via The Observer, 24 Jul 2026.</a:t>
            </a:r>
            <a:endParaRPr b="0" i="0" sz="1100" u="none" cap="none" strike="noStrike">
              <a:solidFill>
                <a:schemeClr val="dk1"/>
              </a:solidFill>
              <a:latin typeface="Calibri"/>
              <a:ea typeface="Calibri"/>
              <a:cs typeface="Calibri"/>
              <a:sym typeface="Calibri"/>
            </a:endParaRPr>
          </a:p>
        </p:txBody>
      </p:sp>
      <p:sp>
        <p:nvSpPr>
          <p:cNvPr id="540" name="Google Shape;540;p20"/>
          <p:cNvSpPr/>
          <p:nvPr/>
        </p:nvSpPr>
        <p:spPr>
          <a:xfrm>
            <a:off x="457200" y="2359152"/>
            <a:ext cx="4846320" cy="1078992"/>
          </a:xfrm>
          <a:prstGeom prst="roundRect">
            <a:avLst>
              <a:gd fmla="val 678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20"/>
          <p:cNvSpPr txBox="1"/>
          <p:nvPr/>
        </p:nvSpPr>
        <p:spPr>
          <a:xfrm>
            <a:off x="594360" y="2404872"/>
            <a:ext cx="178308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i="0" lang="en-US" sz="2100" u="none" cap="none" strike="noStrike">
                <a:solidFill>
                  <a:schemeClr val="accent1"/>
                </a:solidFill>
                <a:latin typeface="Cambria"/>
                <a:ea typeface="Cambria"/>
                <a:cs typeface="Cambria"/>
                <a:sym typeface="Cambria"/>
              </a:rPr>
              <a:t>6.4%</a:t>
            </a:r>
            <a:endParaRPr b="0" i="0" sz="2100" u="none" cap="none" strike="noStrike">
              <a:solidFill>
                <a:schemeClr val="dk1"/>
              </a:solidFill>
              <a:latin typeface="Calibri"/>
              <a:ea typeface="Calibri"/>
              <a:cs typeface="Calibri"/>
              <a:sym typeface="Calibri"/>
            </a:endParaRPr>
          </a:p>
        </p:txBody>
      </p:sp>
      <p:sp>
        <p:nvSpPr>
          <p:cNvPr id="542" name="Google Shape;542;p20"/>
          <p:cNvSpPr txBox="1"/>
          <p:nvPr/>
        </p:nvSpPr>
        <p:spPr>
          <a:xfrm>
            <a:off x="2423160" y="2404872"/>
            <a:ext cx="278892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average cost of sending USD 200 worldwide, Q3 2025, against a 3% goal (World Bank). Small remittances, not tuition: context only.</a:t>
            </a:r>
            <a:endParaRPr b="0" i="0" sz="1100" u="none" cap="none" strike="noStrike">
              <a:solidFill>
                <a:schemeClr val="dk1"/>
              </a:solidFill>
              <a:latin typeface="Calibri"/>
              <a:ea typeface="Calibri"/>
              <a:cs typeface="Calibri"/>
              <a:sym typeface="Calibri"/>
            </a:endParaRPr>
          </a:p>
        </p:txBody>
      </p:sp>
      <p:sp>
        <p:nvSpPr>
          <p:cNvPr id="543" name="Google Shape;543;p20"/>
          <p:cNvSpPr/>
          <p:nvPr/>
        </p:nvSpPr>
        <p:spPr>
          <a:xfrm>
            <a:off x="457200" y="3529584"/>
            <a:ext cx="4846320" cy="1078992"/>
          </a:xfrm>
          <a:prstGeom prst="roundRect">
            <a:avLst>
              <a:gd fmla="val 678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0"/>
          <p:cNvSpPr txBox="1"/>
          <p:nvPr/>
        </p:nvSpPr>
        <p:spPr>
          <a:xfrm>
            <a:off x="594360" y="3575304"/>
            <a:ext cx="178308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2100"/>
              <a:buFont typeface="Cambria"/>
              <a:buNone/>
            </a:pPr>
            <a:r>
              <a:rPr b="1" i="0" lang="en-US" sz="2100" u="none" cap="none" strike="noStrike">
                <a:solidFill>
                  <a:schemeClr val="accent1"/>
                </a:solidFill>
                <a:latin typeface="Cambria"/>
                <a:ea typeface="Cambria"/>
                <a:cs typeface="Cambria"/>
                <a:sym typeface="Cambria"/>
              </a:rPr>
              <a:t>USD 8.8m</a:t>
            </a:r>
            <a:endParaRPr b="0" i="0" sz="2100" u="none" cap="none" strike="noStrike">
              <a:solidFill>
                <a:schemeClr val="dk1"/>
              </a:solidFill>
              <a:latin typeface="Calibri"/>
              <a:ea typeface="Calibri"/>
              <a:cs typeface="Calibri"/>
              <a:sym typeface="Calibri"/>
            </a:endParaRPr>
          </a:p>
        </p:txBody>
      </p:sp>
      <p:sp>
        <p:nvSpPr>
          <p:cNvPr id="545" name="Google Shape;545;p20"/>
          <p:cNvSpPr txBox="1"/>
          <p:nvPr/>
        </p:nvSpPr>
        <p:spPr>
          <a:xfrm>
            <a:off x="2423160" y="3575304"/>
            <a:ext cx="2788920" cy="9875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a year stays with families for each 1 point of cost taken off that volume. Our arithmetic (1% of 881.7m), not a forecast.</a:t>
            </a:r>
            <a:endParaRPr b="0" i="0" sz="1100" u="none" cap="none" strike="noStrike">
              <a:solidFill>
                <a:schemeClr val="dk1"/>
              </a:solidFill>
              <a:latin typeface="Calibri"/>
              <a:ea typeface="Calibri"/>
              <a:cs typeface="Calibri"/>
              <a:sym typeface="Calibri"/>
            </a:endParaRPr>
          </a:p>
        </p:txBody>
      </p:sp>
      <p:sp>
        <p:nvSpPr>
          <p:cNvPr id="546" name="Google Shape;546;p20"/>
          <p:cNvSpPr/>
          <p:nvPr/>
        </p:nvSpPr>
        <p:spPr>
          <a:xfrm>
            <a:off x="5486400" y="1188720"/>
            <a:ext cx="3200400" cy="3383280"/>
          </a:xfrm>
          <a:prstGeom prst="roundRect">
            <a:avLst>
              <a:gd fmla="val 2286"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0"/>
          <p:cNvSpPr txBox="1"/>
          <p:nvPr/>
        </p:nvSpPr>
        <p:spPr>
          <a:xfrm>
            <a:off x="5669280" y="1261872"/>
            <a:ext cx="28346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600"/>
              <a:buFont typeface="Calibri"/>
              <a:buNone/>
            </a:pPr>
            <a:r>
              <a:rPr b="1" i="0" lang="en-US" sz="1600" u="none" cap="none" strike="noStrike">
                <a:solidFill>
                  <a:schemeClr val="accent1"/>
                </a:solidFill>
                <a:latin typeface="Calibri"/>
                <a:ea typeface="Calibri"/>
                <a:cs typeface="Calibri"/>
                <a:sym typeface="Calibri"/>
              </a:rPr>
              <a:t>Who gains</a:t>
            </a:r>
            <a:endParaRPr b="0" i="0" sz="1600" u="none" cap="none" strike="noStrike">
              <a:solidFill>
                <a:schemeClr val="dk1"/>
              </a:solidFill>
              <a:latin typeface="Calibri"/>
              <a:ea typeface="Calibri"/>
              <a:cs typeface="Calibri"/>
              <a:sym typeface="Calibri"/>
            </a:endParaRPr>
          </a:p>
        </p:txBody>
      </p:sp>
      <p:sp>
        <p:nvSpPr>
          <p:cNvPr id="548" name="Google Shape;548;p20"/>
          <p:cNvSpPr txBox="1"/>
          <p:nvPr/>
        </p:nvSpPr>
        <p:spPr>
          <a:xfrm>
            <a:off x="5669280" y="1691640"/>
            <a:ext cx="28346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Family: </a:t>
            </a:r>
            <a:r>
              <a:rPr b="0" i="0" lang="en-US" sz="1200" u="none" cap="none" strike="noStrike">
                <a:solidFill>
                  <a:schemeClr val="dk1"/>
                </a:solidFill>
                <a:latin typeface="Calibri"/>
                <a:ea typeface="Calibri"/>
                <a:cs typeface="Calibri"/>
                <a:sym typeface="Calibri"/>
              </a:rPr>
              <a:t>Lower true cost, a safe deadline, one plan.</a:t>
            </a:r>
            <a:endParaRPr b="0" i="0" sz="1200" u="none" cap="none" strike="noStrike">
              <a:solidFill>
                <a:schemeClr val="dk1"/>
              </a:solidFill>
              <a:latin typeface="Calibri"/>
              <a:ea typeface="Calibri"/>
              <a:cs typeface="Calibri"/>
              <a:sym typeface="Calibri"/>
            </a:endParaRPr>
          </a:p>
        </p:txBody>
      </p:sp>
      <p:sp>
        <p:nvSpPr>
          <p:cNvPr id="549" name="Google Shape;549;p20"/>
          <p:cNvSpPr txBox="1"/>
          <p:nvPr/>
        </p:nvSpPr>
        <p:spPr>
          <a:xfrm>
            <a:off x="5669280" y="2258568"/>
            <a:ext cx="28346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Bank: </a:t>
            </a:r>
            <a:r>
              <a:rPr b="0" i="0" lang="en-US" sz="1200" u="none" cap="none" strike="noStrike">
                <a:solidFill>
                  <a:schemeClr val="dk1"/>
                </a:solidFill>
                <a:latin typeface="Calibri"/>
                <a:ea typeface="Calibri"/>
                <a:cs typeface="Calibri"/>
                <a:sym typeface="Calibri"/>
              </a:rPr>
              <a:t>Documents checked and risk-routed before a reviewer looks.</a:t>
            </a:r>
            <a:endParaRPr b="0" i="0" sz="1200" u="none" cap="none" strike="noStrike">
              <a:solidFill>
                <a:schemeClr val="dk1"/>
              </a:solidFill>
              <a:latin typeface="Calibri"/>
              <a:ea typeface="Calibri"/>
              <a:cs typeface="Calibri"/>
              <a:sym typeface="Calibri"/>
            </a:endParaRPr>
          </a:p>
        </p:txBody>
      </p:sp>
      <p:sp>
        <p:nvSpPr>
          <p:cNvPr id="550" name="Google Shape;550;p20"/>
          <p:cNvSpPr txBox="1"/>
          <p:nvPr/>
        </p:nvSpPr>
        <p:spPr>
          <a:xfrm>
            <a:off x="5669280" y="2825496"/>
            <a:ext cx="283464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rPr b="1" i="0" lang="en-US" sz="1200" u="none" cap="none" strike="noStrike">
                <a:solidFill>
                  <a:schemeClr val="dk1"/>
                </a:solidFill>
                <a:latin typeface="Calibri"/>
                <a:ea typeface="Calibri"/>
                <a:cs typeface="Calibri"/>
                <a:sym typeface="Calibri"/>
              </a:rPr>
              <a:t>University: </a:t>
            </a:r>
            <a:r>
              <a:rPr b="0" i="0" lang="en-US" sz="1200" u="none" cap="none" strike="noStrike">
                <a:solidFill>
                  <a:schemeClr val="dk1"/>
                </a:solidFill>
                <a:latin typeface="Calibri"/>
                <a:ea typeface="Calibri"/>
                <a:cs typeface="Calibri"/>
                <a:sym typeface="Calibri"/>
              </a:rPr>
              <a:t>Fewer short or unmatched payments.</a:t>
            </a:r>
            <a:endParaRPr b="0" i="0" sz="1200" u="none" cap="none" strike="noStrike">
              <a:solidFill>
                <a:schemeClr val="dk1"/>
              </a:solidFill>
              <a:latin typeface="Calibri"/>
              <a:ea typeface="Calibri"/>
              <a:cs typeface="Calibri"/>
              <a:sym typeface="Calibri"/>
            </a:endParaRPr>
          </a:p>
        </p:txBody>
      </p:sp>
      <p:sp>
        <p:nvSpPr>
          <p:cNvPr id="551" name="Google Shape;551;p20"/>
          <p:cNvSpPr txBox="1"/>
          <p:nvPr/>
        </p:nvSpPr>
        <p:spPr>
          <a:xfrm>
            <a:off x="5669280" y="3429000"/>
            <a:ext cx="2834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1"/>
              </a:buClr>
              <a:buSzPts val="1400"/>
              <a:buFont typeface="Calibri"/>
              <a:buNone/>
            </a:pPr>
            <a:r>
              <a:rPr b="1" i="0" lang="en-US" sz="1400" u="none" cap="none" strike="noStrike">
                <a:solidFill>
                  <a:schemeClr val="accent1"/>
                </a:solidFill>
                <a:latin typeface="Calibri"/>
                <a:ea typeface="Calibri"/>
                <a:cs typeface="Calibri"/>
                <a:sym typeface="Calibri"/>
              </a:rPr>
              <a:t>Who could pay (to test)</a:t>
            </a:r>
            <a:endParaRPr b="0" i="0" sz="1400" u="none" cap="none" strike="noStrike">
              <a:solidFill>
                <a:schemeClr val="dk1"/>
              </a:solidFill>
              <a:latin typeface="Calibri"/>
              <a:ea typeface="Calibri"/>
              <a:cs typeface="Calibri"/>
              <a:sym typeface="Calibri"/>
            </a:endParaRPr>
          </a:p>
        </p:txBody>
      </p:sp>
      <p:sp>
        <p:nvSpPr>
          <p:cNvPr id="552" name="Google Shape;552;p20"/>
          <p:cNvSpPr txBox="1"/>
          <p:nvPr/>
        </p:nvSpPr>
        <p:spPr>
          <a:xfrm>
            <a:off x="5669280" y="3703320"/>
            <a:ext cx="283464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100"/>
              <a:buFont typeface="Calibri"/>
              <a:buNone/>
            </a:pPr>
            <a:r>
              <a:rPr b="0" i="0" lang="en-US" sz="1100" u="none" cap="none" strike="noStrike">
                <a:solidFill>
                  <a:schemeClr val="dk1"/>
                </a:solidFill>
                <a:latin typeface="Calibri"/>
                <a:ea typeface="Calibri"/>
                <a:cs typeface="Calibri"/>
                <a:sym typeface="Calibri"/>
              </a:rPr>
              <a:t>A partner bank pays a small service fee per assisted payment. At 0.2% of the volume, a 5% share is about USD 88,000 a year: modest, and a number to test.</a:t>
            </a:r>
            <a:endParaRPr b="0" i="0" sz="1100" u="none" cap="none" strike="noStrike">
              <a:solidFill>
                <a:schemeClr val="dk1"/>
              </a:solidFill>
              <a:latin typeface="Calibri"/>
              <a:ea typeface="Calibri"/>
              <a:cs typeface="Calibri"/>
              <a:sym typeface="Calibri"/>
            </a:endParaRPr>
          </a:p>
        </p:txBody>
      </p:sp>
      <p:sp>
        <p:nvSpPr>
          <p:cNvPr id="553" name="Google Shape;553;p20"/>
          <p:cNvSpPr txBox="1"/>
          <p:nvPr/>
        </p:nvSpPr>
        <p:spPr>
          <a:xfrm>
            <a:off x="457200" y="4864608"/>
            <a:ext cx="82296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1000"/>
              <a:buFont typeface="Calibri"/>
              <a:buNone/>
            </a:pPr>
            <a:r>
              <a:rPr b="0" i="0" lang="en-US" sz="1000" u="none" cap="none" strike="noStrike">
                <a:solidFill>
                  <a:schemeClr val="dk2"/>
                </a:solidFill>
                <a:latin typeface="Calibri"/>
                <a:ea typeface="Calibri"/>
                <a:cs typeface="Calibri"/>
                <a:sym typeface="Calibri"/>
              </a:rPr>
              <a:t>Illustrations, not forecasts. No partner, no pilot, no real users yet. Sources and sums: docs/BUSINESS_CASE.md</a:t>
            </a:r>
            <a:endParaRPr b="0" i="0" sz="1000" u="none" cap="none" strike="noStrike">
              <a:solidFill>
                <a:schemeClr val="dk1"/>
              </a:solidFill>
              <a:latin typeface="Calibri"/>
              <a:ea typeface="Calibri"/>
              <a:cs typeface="Calibri"/>
              <a:sym typeface="Calibri"/>
            </a:endParaRPr>
          </a:p>
        </p:txBody>
      </p:sp>
      <p:sp>
        <p:nvSpPr>
          <p:cNvPr id="554" name="Google Shape;554;p20"/>
          <p:cNvSpPr txBox="1"/>
          <p:nvPr/>
        </p:nvSpPr>
        <p:spPr>
          <a:xfrm>
            <a:off x="457200" y="4626864"/>
            <a:ext cx="8229600" cy="21945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950"/>
              <a:buFont typeface="Calibri"/>
              <a:buNone/>
            </a:pPr>
            <a:r>
              <a:rPr b="0" i="0" lang="en-US" sz="950" u="none" cap="none" strike="noStrike">
                <a:solidFill>
                  <a:schemeClr val="dk2"/>
                </a:solidFill>
                <a:latin typeface="Calibri"/>
                <a:ea typeface="Calibri"/>
                <a:cs typeface="Calibri"/>
                <a:sym typeface="Calibri"/>
              </a:rPr>
              <a:t>Volume is real (Bangladesh Bank, via The Observer). Rates, fees, city costs and the 8.8m figure are our arithmetic or invented for the sandbox.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21"/>
          <p:cNvSpPr txBox="1"/>
          <p:nvPr>
            <p:ph type="title"/>
          </p:nvPr>
        </p:nvSpPr>
        <p:spPr>
          <a:xfrm>
            <a:off x="457200" y="274320"/>
            <a:ext cx="8229600" cy="77724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3600"/>
              <a:buFont typeface="Cambria"/>
              <a:buNone/>
            </a:pPr>
            <a:r>
              <a:rPr b="1" lang="en-US" sz="3600">
                <a:solidFill>
                  <a:schemeClr val="lt1"/>
                </a:solidFill>
                <a:latin typeface="Cambria"/>
                <a:ea typeface="Cambria"/>
                <a:cs typeface="Cambria"/>
                <a:sym typeface="Cambria"/>
              </a:rPr>
              <a:t>What comes next</a:t>
            </a:r>
            <a:endParaRPr sz="3600"/>
          </a:p>
        </p:txBody>
      </p:sp>
      <p:sp>
        <p:nvSpPr>
          <p:cNvPr id="561" name="Google Shape;561;p21"/>
          <p:cNvSpPr/>
          <p:nvPr/>
        </p:nvSpPr>
        <p:spPr>
          <a:xfrm>
            <a:off x="457200" y="1234440"/>
            <a:ext cx="4023360" cy="1143000"/>
          </a:xfrm>
          <a:prstGeom prst="roundRect">
            <a:avLst>
              <a:gd fmla="val 64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21"/>
          <p:cNvSpPr txBox="1"/>
          <p:nvPr/>
        </p:nvSpPr>
        <p:spPr>
          <a:xfrm>
            <a:off x="640080" y="1325880"/>
            <a:ext cx="3657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Verified rules</a:t>
            </a:r>
            <a:endParaRPr b="0" i="0" sz="1800" u="none" cap="none" strike="noStrike">
              <a:solidFill>
                <a:schemeClr val="dk1"/>
              </a:solidFill>
              <a:latin typeface="Calibri"/>
              <a:ea typeface="Calibri"/>
              <a:cs typeface="Calibri"/>
              <a:sym typeface="Calibri"/>
            </a:endParaRPr>
          </a:p>
        </p:txBody>
      </p:sp>
      <p:sp>
        <p:nvSpPr>
          <p:cNvPr id="563" name="Google Shape;563;p21"/>
          <p:cNvSpPr txBox="1"/>
          <p:nvPr/>
        </p:nvSpPr>
        <p:spPr>
          <a:xfrm>
            <a:off x="640080" y="169164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400"/>
              <a:buFont typeface="Calibri"/>
              <a:buNone/>
            </a:pPr>
            <a:r>
              <a:rPr b="0" i="0" lang="en-US" sz="1400" u="none" cap="none" strike="noStrike">
                <a:solidFill>
                  <a:schemeClr val="lt2"/>
                </a:solidFill>
                <a:latin typeface="Calibri"/>
                <a:ea typeface="Calibri"/>
                <a:cs typeface="Calibri"/>
                <a:sym typeface="Calibri"/>
              </a:rPr>
              <a:t>Four study-abroad rules now rest on Bangladesh Bank's circular. Verify the rest.</a:t>
            </a:r>
            <a:endParaRPr b="0" i="0" sz="1400" u="none" cap="none" strike="noStrike">
              <a:solidFill>
                <a:schemeClr val="dk1"/>
              </a:solidFill>
              <a:latin typeface="Calibri"/>
              <a:ea typeface="Calibri"/>
              <a:cs typeface="Calibri"/>
              <a:sym typeface="Calibri"/>
            </a:endParaRPr>
          </a:p>
        </p:txBody>
      </p:sp>
      <p:sp>
        <p:nvSpPr>
          <p:cNvPr id="564" name="Google Shape;564;p21"/>
          <p:cNvSpPr/>
          <p:nvPr/>
        </p:nvSpPr>
        <p:spPr>
          <a:xfrm>
            <a:off x="4663440" y="1234440"/>
            <a:ext cx="4023360" cy="1143000"/>
          </a:xfrm>
          <a:prstGeom prst="roundRect">
            <a:avLst>
              <a:gd fmla="val 64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21"/>
          <p:cNvSpPr txBox="1"/>
          <p:nvPr/>
        </p:nvSpPr>
        <p:spPr>
          <a:xfrm>
            <a:off x="4846320" y="1325880"/>
            <a:ext cx="3657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A real AD bank partner</a:t>
            </a:r>
            <a:endParaRPr b="0" i="0" sz="1800" u="none" cap="none" strike="noStrike">
              <a:solidFill>
                <a:schemeClr val="dk1"/>
              </a:solidFill>
              <a:latin typeface="Calibri"/>
              <a:ea typeface="Calibri"/>
              <a:cs typeface="Calibri"/>
              <a:sym typeface="Calibri"/>
            </a:endParaRPr>
          </a:p>
        </p:txBody>
      </p:sp>
      <p:sp>
        <p:nvSpPr>
          <p:cNvPr id="566" name="Google Shape;566;p21"/>
          <p:cNvSpPr txBox="1"/>
          <p:nvPr/>
        </p:nvSpPr>
        <p:spPr>
          <a:xfrm>
            <a:off x="4846320" y="169164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400"/>
              <a:buFont typeface="Calibri"/>
              <a:buNone/>
            </a:pPr>
            <a:r>
              <a:rPr b="0" i="0" lang="en-US" sz="1400" u="none" cap="none" strike="noStrike">
                <a:solidFill>
                  <a:schemeClr val="lt2"/>
                </a:solidFill>
                <a:latin typeface="Calibri"/>
                <a:ea typeface="Calibri"/>
                <a:cs typeface="Calibri"/>
                <a:sym typeface="Calibri"/>
              </a:rPr>
              <a:t>Real quotes, real KYC, and regulator-ready reports from the audit log.</a:t>
            </a:r>
            <a:endParaRPr b="0" i="0" sz="1400" u="none" cap="none" strike="noStrike">
              <a:solidFill>
                <a:schemeClr val="dk1"/>
              </a:solidFill>
              <a:latin typeface="Calibri"/>
              <a:ea typeface="Calibri"/>
              <a:cs typeface="Calibri"/>
              <a:sym typeface="Calibri"/>
            </a:endParaRPr>
          </a:p>
        </p:txBody>
      </p:sp>
      <p:sp>
        <p:nvSpPr>
          <p:cNvPr id="567" name="Google Shape;567;p21"/>
          <p:cNvSpPr/>
          <p:nvPr/>
        </p:nvSpPr>
        <p:spPr>
          <a:xfrm>
            <a:off x="457200" y="2514600"/>
            <a:ext cx="4023360" cy="1143000"/>
          </a:xfrm>
          <a:prstGeom prst="roundRect">
            <a:avLst>
              <a:gd fmla="val 64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21"/>
          <p:cNvSpPr txBox="1"/>
          <p:nvPr/>
        </p:nvSpPr>
        <p:spPr>
          <a:xfrm>
            <a:off x="640080" y="2606040"/>
            <a:ext cx="3657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Credit and multi-currency</a:t>
            </a:r>
            <a:endParaRPr b="0" i="0" sz="1800" u="none" cap="none" strike="noStrike">
              <a:solidFill>
                <a:schemeClr val="dk1"/>
              </a:solidFill>
              <a:latin typeface="Calibri"/>
              <a:ea typeface="Calibri"/>
              <a:cs typeface="Calibri"/>
              <a:sym typeface="Calibri"/>
            </a:endParaRPr>
          </a:p>
        </p:txBody>
      </p:sp>
      <p:sp>
        <p:nvSpPr>
          <p:cNvPr id="569" name="Google Shape;569;p21"/>
          <p:cNvSpPr txBox="1"/>
          <p:nvPr/>
        </p:nvSpPr>
        <p:spPr>
          <a:xfrm>
            <a:off x="640080" y="297180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400"/>
              <a:buFont typeface="Calibri"/>
              <a:buNone/>
            </a:pPr>
            <a:r>
              <a:rPr b="0" i="0" lang="en-US" sz="1400" u="none" cap="none" strike="noStrike">
                <a:solidFill>
                  <a:schemeClr val="lt2"/>
                </a:solidFill>
                <a:latin typeface="Calibri"/>
                <a:ea typeface="Calibri"/>
                <a:cs typeface="Calibri"/>
                <a:sym typeface="Calibri"/>
              </a:rPr>
              <a:t>Credit history abroad is not built. Multi-currency exists only as simulated accounts.</a:t>
            </a:r>
            <a:endParaRPr b="0" i="0" sz="1400" u="none" cap="none" strike="noStrike">
              <a:solidFill>
                <a:schemeClr val="dk1"/>
              </a:solidFill>
              <a:latin typeface="Calibri"/>
              <a:ea typeface="Calibri"/>
              <a:cs typeface="Calibri"/>
              <a:sym typeface="Calibri"/>
            </a:endParaRPr>
          </a:p>
        </p:txBody>
      </p:sp>
      <p:sp>
        <p:nvSpPr>
          <p:cNvPr id="570" name="Google Shape;570;p21"/>
          <p:cNvSpPr/>
          <p:nvPr/>
        </p:nvSpPr>
        <p:spPr>
          <a:xfrm>
            <a:off x="4663440" y="2514600"/>
            <a:ext cx="4023360" cy="1143000"/>
          </a:xfrm>
          <a:prstGeom prst="roundRect">
            <a:avLst>
              <a:gd fmla="val 6400" name="adj"/>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1"/>
          <p:cNvSpPr txBox="1"/>
          <p:nvPr/>
        </p:nvSpPr>
        <p:spPr>
          <a:xfrm>
            <a:off x="4846320" y="2606040"/>
            <a:ext cx="3657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lt1"/>
              </a:buClr>
              <a:buSzPts val="1800"/>
              <a:buFont typeface="Calibri"/>
              <a:buNone/>
            </a:pPr>
            <a:r>
              <a:rPr b="1" i="0" lang="en-US" sz="1800" u="none" cap="none" strike="noStrike">
                <a:solidFill>
                  <a:schemeClr val="lt1"/>
                </a:solidFill>
                <a:latin typeface="Calibri"/>
                <a:ea typeface="Calibri"/>
                <a:cs typeface="Calibri"/>
                <a:sym typeface="Calibri"/>
              </a:rPr>
              <a:t>A real chain</a:t>
            </a:r>
            <a:endParaRPr b="0" i="0" sz="1800" u="none" cap="none" strike="noStrike">
              <a:solidFill>
                <a:schemeClr val="dk1"/>
              </a:solidFill>
              <a:latin typeface="Calibri"/>
              <a:ea typeface="Calibri"/>
              <a:cs typeface="Calibri"/>
              <a:sym typeface="Calibri"/>
            </a:endParaRPr>
          </a:p>
        </p:txBody>
      </p:sp>
      <p:sp>
        <p:nvSpPr>
          <p:cNvPr id="572" name="Google Shape;572;p21"/>
          <p:cNvSpPr txBox="1"/>
          <p:nvPr/>
        </p:nvSpPr>
        <p:spPr>
          <a:xfrm>
            <a:off x="4846320" y="2971800"/>
            <a:ext cx="365760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2"/>
              </a:buClr>
              <a:buSzPts val="1400"/>
              <a:buFont typeface="Calibri"/>
              <a:buNone/>
            </a:pPr>
            <a:r>
              <a:rPr b="0" i="0" lang="en-US" sz="1400" u="none" cap="none" strike="noStrike">
                <a:solidFill>
                  <a:schemeClr val="lt2"/>
                </a:solidFill>
                <a:latin typeface="Calibri"/>
                <a:ea typeface="Calibri"/>
                <a:cs typeface="Calibri"/>
                <a:sym typeface="Calibri"/>
              </a:rPr>
              <a:t>Today the escrow runs on a simulated chain, with no network. Next: a permissioned chain and a bank-issued token.</a:t>
            </a:r>
            <a:endParaRPr b="0" i="0" sz="1400" u="none" cap="none" strike="noStrike">
              <a:solidFill>
                <a:schemeClr val="dk1"/>
              </a:solidFill>
              <a:latin typeface="Calibri"/>
              <a:ea typeface="Calibri"/>
              <a:cs typeface="Calibri"/>
              <a:sym typeface="Calibri"/>
            </a:endParaRPr>
          </a:p>
        </p:txBody>
      </p:sp>
      <p:sp>
        <p:nvSpPr>
          <p:cNvPr id="573" name="Google Shape;573;p21"/>
          <p:cNvSpPr txBox="1"/>
          <p:nvPr/>
        </p:nvSpPr>
        <p:spPr>
          <a:xfrm>
            <a:off x="457200" y="3886200"/>
            <a:ext cx="82296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2"/>
              </a:buClr>
              <a:buSzPts val="2400"/>
              <a:buFont typeface="Cambria"/>
              <a:buNone/>
            </a:pPr>
            <a:r>
              <a:rPr b="1" i="0" lang="en-US" sz="2400" u="none" cap="none" strike="noStrike">
                <a:solidFill>
                  <a:schemeClr val="accent2"/>
                </a:solidFill>
                <a:latin typeface="Cambria"/>
                <a:ea typeface="Cambria"/>
                <a:cs typeface="Cambria"/>
                <a:sym typeface="Cambria"/>
              </a:rPr>
              <a:t>Clear costs. Human control.</a:t>
            </a:r>
            <a:endParaRPr b="0" i="0" sz="2400" u="none" cap="none" strike="noStrike">
              <a:solidFill>
                <a:schemeClr val="dk1"/>
              </a:solidFill>
              <a:latin typeface="Calibri"/>
              <a:ea typeface="Calibri"/>
              <a:cs typeface="Calibri"/>
              <a:sym typeface="Calibri"/>
            </a:endParaRPr>
          </a:p>
        </p:txBody>
      </p:sp>
      <p:sp>
        <p:nvSpPr>
          <p:cNvPr id="574" name="Google Shape;574;p21"/>
          <p:cNvSpPr txBox="1"/>
          <p:nvPr/>
        </p:nvSpPr>
        <p:spPr>
          <a:xfrm>
            <a:off x="457200" y="4434840"/>
            <a:ext cx="82296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accent5"/>
              </a:buClr>
              <a:buSzPts val="1200"/>
              <a:buFont typeface="Calibri"/>
              <a:buNone/>
            </a:pPr>
            <a:r>
              <a:rPr b="0" i="0" lang="en-US" sz="1200" u="none" cap="none" strike="noStrike">
                <a:solidFill>
                  <a:schemeClr val="accent5"/>
                </a:solidFill>
                <a:latin typeface="Calibri"/>
                <a:ea typeface="Calibri"/>
                <a:cs typeface="Calibri"/>
                <a:sym typeface="Calibri"/>
              </a:rPr>
              <a:t>TeamEkxin  ·  https://github.com/NoobCrow/StudyRoute  ·  Sandbox: no real money moves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2026-10-19T14:36:51Z</dcterms:created>
  <dc:creator>TeamEkxin</dc:creator>
</cp:coreProperties>
</file>