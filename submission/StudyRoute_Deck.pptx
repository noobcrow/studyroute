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a5025290-ca18-7c34-6d8c-e25ca3ef9357}">
          <p14:sldIdLst>
            <p14:sldId id="256"/>
            <p14:sldId id="257"/>
          </p14:sldIdLst>
        </p14:section>
        <p14:section name="The problem" id="{ac47a9c9-3714-8f0e-b677-c0631f917d31}">
          <p14:sldIdLst>
            <p14:sldId id="258"/>
            <p14:sldId id="259"/>
          </p14:sldIdLst>
        </p14:section>
        <p14:section name="The solution" id="{2a9bbd95-4f7d-e707-845d-ffc6de58b9d3}">
          <p14:sldIdLst>
            <p14:sldId id="260"/>
            <p14:sldId id="261"/>
          </p14:sldIdLst>
        </p14:section>
        <p14:section name="Trust" id="{9395864e-c9f2-b035-1148-f873a05bdbe4}">
          <p14:sldIdLst>
            <p14:sldId id="262"/>
            <p14:sldId id="263"/>
            <p14:sldId id="264"/>
          </p14:sldIdLst>
        </p14:section>
        <p14:section name="Close" id="{17e5a3e9-d64f-bbf2-f7b4-040c3ae1b9ef}">
          <p14:sldIdLst>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Cost</c:v>
                </c:pt>
              </c:strCache>
            </c:strRef>
          </c:tx>
          <c:spPr>
            <a:solidFill>
              <a:schemeClr val="accent1"/>
            </a:solidFill>
            <a:ln w="9525" cap="flat">
              <a:solidFill>
                <a:srgbClr val="F9F9F9"/>
              </a:solidFill>
              <a:prstDash val="solid"/>
              <a:round/>
            </a:ln>
            <a:effectLst/>
          </c:spPr>
          <c:dPt>
            <c:idx val="0"/>
            <c:bubble3D val="0"/>
            <c:spPr>
              <a:solidFill>
                <a:srgbClr val="0B7A70"/>
              </a:solidFill>
              <a:ln w="25400" cap="flat">
                <a:solidFill>
                  <a:srgbClr val="FFFFFF"/>
                </a:solidFill>
                <a:prstDash val="solid"/>
                <a:round/>
              </a:ln>
              <a:effectLst/>
            </c:spPr>
          </c:dPt>
          <c:dPt>
            <c:idx val="1"/>
            <c:bubble3D val="0"/>
            <c:spPr>
              <a:solidFill>
                <a:srgbClr val="2F6DA3"/>
              </a:solidFill>
              <a:ln w="25400" cap="flat">
                <a:solidFill>
                  <a:srgbClr val="FFFFFF"/>
                </a:solidFill>
                <a:prstDash val="solid"/>
                <a:round/>
              </a:ln>
              <a:effectLst/>
            </c:spPr>
          </c:dPt>
          <c:dPt>
            <c:idx val="2"/>
            <c:bubble3D val="0"/>
            <c:spPr>
              <a:solidFill>
                <a:srgbClr val="F4B942"/>
              </a:solidFill>
              <a:ln w="25400" cap="flat">
                <a:solidFill>
                  <a:srgbClr val="FFFFFF"/>
                </a:solidFill>
                <a:prstDash val="solid"/>
                <a:round/>
              </a:ln>
              <a:effectLst/>
            </c:spPr>
          </c:dPt>
          <c:dPt>
            <c:idx val="3"/>
            <c:bubble3D val="0"/>
            <c:spPr>
              <a:solidFill>
                <a:srgbClr val="C8344A"/>
              </a:solidFill>
              <a:ln w="25400" cap="flat">
                <a:solidFill>
                  <a:srgbClr val="FFFFFF"/>
                </a:solidFill>
                <a:prstDash val="solid"/>
                <a:round/>
              </a:ln>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2"/>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3"/>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Sheet1!$A$2:$A$5</c:f>
              <c:strCache>
                <c:ptCount val="4"/>
                <c:pt idx="0">
                  <c:v>FX margin</c:v>
                </c:pt>
                <c:pt idx="1">
                  <c:v>Fixed fee</c:v>
                </c:pt>
                <c:pt idx="2">
                  <c:v>SWIFT fee</c:v>
                </c:pt>
                <c:pt idx="3">
                  <c:v>OUR fees</c:v>
                </c:pt>
              </c:strCache>
            </c:strRef>
          </c:cat>
          <c:val>
            <c:numRef>
              <c:f>Sheet1!$B$2:$B$5</c:f>
              <c:numCache>
                <c:ptCount val="4"/>
                <c:pt idx="0">
                  <c:v>16000</c:v>
                </c:pt>
                <c:pt idx="1">
                  <c:v>3000</c:v>
                </c:pt>
                <c:pt idx="2">
                  <c:v>1500</c:v>
                </c:pt>
                <c:pt idx="3">
                  <c:v>4800</c:v>
                </c:pt>
              </c:numCache>
            </c:numRef>
          </c:val>
        </c:ser>
        <c:firstSliceAng val="0"/>
        <c:holeSize val="58"/>
      </c:doughnutChart>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We are team [Team name], and this is StudyRoute, our entry for Topic C, the cross-border and student finance assistant. StudyRoute is a sandbox AI agent that helps a parent in Bangladesh pay a student's tuition abroad. Everything you will see is synthetic and no real money moves. Our design rule is on the slide, and the rest of the talk shows how we make each of those four sentences true and testable: the engine calculates, the AI explains, the human approves, and every step is logged.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parent in Bangladesh paying tuition abroad usually compares banks by the fee they are shown. But in our synthetic worked example, for GBP 10,000 with Provider B, 63 percent of the real cost is the hidden exchange-rate margin, not the visible fees. On top of that, correspondent and receiving banks can deduct fees on the way, so the university may be paid short, and the deadline has to respect two calendars. Then there is the paperwork. These five problems are what StudyRoute is built around.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people feel this. The parent pays in taka, compares banks by the posted fee, approves a large transfer with little to check it against, and has to prove where the money came from. The student needs the university paid on time: if tuition arrives short or cannot be matched to the invoice, there are late fees and weeks of waiting with no status. StudyRoute gives both one plan. The parent decides. The student can see the plan, add recipient details and follow the status, but cannot approve.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real chain. The parent pays in taka to an authorised dealer bank, which sells foreign currency and sends a SWIFT instruction carrying a UETR and a charge code. A correspondent bank may take a lifting fee, the receiving bank may take another, and the university matches the payment by reference. Each step has a typical failure, shown in red. SWIFT only carries the instruction; banks settle between their own accounts. StudyRoute simulates this chain end to end with invented banks, a correspondent and a double-entry ledger where debits equal credits, and a failed payment is returned in full. It never moves real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task completion. On the left, the parent typed one sentence into the chat: I need to pay ten thousand pounds of tuition by 28 October. The agent read it, made the quote, ranked the providers, planned the deadline and checked KYC, the recipient and the documents, and it built this plan card from the engine's output. On the right, the agent and the person share the work. The person creates the draft, chooses the recipient and approves with a fresh MFA code. The agent blocks the payment until KYC, the allowlist and the sandbox caps pass, then tracks it to settled and seals a compliance report. Look at what the agent did not do: it created no payment. It can propose a draft, but a person always clicks.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number comes from a deterministic engine: integer minor units, decimal rates, no floats. For one provider, total cost is the FX margin plus the fixed fee, the SWIFT fee, any fees the sender pays under OUR, plus a shortfall when fees are deducted from the amount. We rank by that percentage. In our synthetic example, Provider B is first at 1.58 percent, Provider C looks cheap but it is quoted as SHA, so the university would receive 35 pounds less, and Provider A is third at 2.16 percent. On the right is where Provider B's 25,300 taka goes: 16,000 is the margin, 3,000 the fixed fee, 1,500 the SWIFT fee and 4,800 the fees we pay under OUR. The same engine powers the smart send plan: fixed fees are paid on every transfer, so sending 12,000 pounds of living costs all at once costs 28,500 taka against 68,400 monthly. It does not predict exchange rates, and says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assistant follows a fixed pipeline. A policy check flags attempts to override rules, approve or reveal secrets, and a flagged message never reaches the model. Facts come only from the engine. Personal data is masked before any model call. The model is the only step that is not deterministic, and it is optional. Then a number guard checks every figure in the reply against the engine's facts and falls back to a template if anything is invented, a tool guard allows only proposals, and everything is audited. So: every number comes from the engine, the AI can only propose, and it works with no API key at all. Adding a model later is one command, check_ai.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Security and compliance is thirty percent of the score, so we made it checkable. On the left are the permission tiers, enforced in the domain layer, not just in the screens. Public, read, prepare, decide, and administer. Deciding, meaning approving a payment, is only for a human parent with a fresh MFA proof bound to that payment and to the hash of the summary they saw. The AI has no approve, cancel, limit or config permission at all. On the right, the numbers: 760 backend and 93 frontend tests, all 24 blueprint scenarios mapped to tests, and 21 known risks that we list openly in the self-assessment. The audit log is hash-chained: Verify passes, we edit one row behind the application's back, and Verify fails at exactly that event. Each payment also gets a compliance report whose hash your browser can recompute. The threat matrix with a proof for each row is in the repository.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Honesty is a feature. A banner on every screen and an X-Sandbox header on every API response say this is a sandbox. The Sandbox screen on the left lists everything that is simulated and how to trigger the edge cases, such as a recipient named FAIL_TEST. Any rule that has not been checked against an official source carries a yellow Not verified badge and the sentence: indicative, confirm with your AD bank. On the right is a payment's compliance report: the parties, ten controls with their evidence, the approval proof and the audit trail, sealed with a hash that the browser recomputes. Change a copy and it says does not match. The sandbox operation logs from a real run, including the tamper demo, are in the repository under submission slash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steps. First, replace every placeholder rule with an official Bangladesh Bank source and add the moon-dependent holidays. We would also add the moon-dependent holidays to the planner. Second, a partnership with an authorised dealer bank for real quotes and real KYC, and regulator-ready reports from the audit log. Topic C also mentions credit building and multi-currency management. We have not built those, and we would rather say so than pretend. To close: StudyRoute is clear, cheap and safe, because the engine calculates, the AI explains, the human approves, and every step is logged.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0B2545"/>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960120"/>
            <a:ext cx="5303520" cy="1051560"/>
          </a:xfrm>
          <a:prstGeom prst="rect">
            <a:avLst/>
          </a:prstGeom>
          <a:noFill/>
          <a:ln/>
        </p:spPr>
        <p:txBody>
          <a:bodyPr wrap="square" rtlCol="0"/>
          <a:lstStyle>
            <a:lvl1pPr algn="l" indent="0" marL="0">
              <a:buNone/>
              <a:defRPr lang="en-US" sz="6000" b="1" dirty="0">
                <a:solidFill>
                  <a:schemeClr val="bg1"/>
                </a:solidFill>
                <a:latin typeface="+mj-lt" pitchFamily="34" charset="0"/>
                <a:ea typeface="+mj-lt" pitchFamily="34" charset="-122"/>
                <a:cs typeface="+mj-lt" pitchFamily="34" charset="-120"/>
              </a:defRPr>
            </a:lvl1pPr>
          </a:lstStyle>
          <a:p>
            <a:pPr algn="l" indent="0" marL="0">
              <a:buNone/>
            </a:pPr>
            <a:endParaRPr lang="en-US" sz="6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rtlCol="0"/>
          <a:lstStyle>
            <a:lvl1pPr algn="l" indent="0" marL="0">
              <a:buNone/>
              <a:defRPr lang="en-US" sz="3600" b="1" dirty="0">
                <a:solidFill>
                  <a:schemeClr val="tx1"/>
                </a:solidFill>
                <a:latin typeface="+mj-lt" pitchFamily="34" charset="0"/>
                <a:ea typeface="+mj-lt" pitchFamily="34" charset="-122"/>
                <a:cs typeface="+mj-lt" pitchFamily="34" charset="-120"/>
              </a:defRPr>
            </a:lvl1pPr>
          </a:lstStyle>
          <a:p>
            <a:pPr algn="l" indent="0" marL="0">
              <a:buNone/>
            </a:pPr>
            <a:endParaRPr lang="en-US" sz="36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p:bg>
      <p:bgPr>
        <a:solidFill>
          <a:srgbClr val="0B2545"/>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rtlCol="0"/>
          <a:lstStyle>
            <a:lvl1pPr algn="l" indent="0" marL="0">
              <a:buNone/>
              <a:defRPr lang="en-US" sz="3600" b="1" dirty="0">
                <a:solidFill>
                  <a:schemeClr val="bg1"/>
                </a:solidFill>
                <a:latin typeface="+mj-lt" pitchFamily="34" charset="0"/>
                <a:ea typeface="+mj-lt" pitchFamily="34" charset="-122"/>
                <a:cs typeface="+mj-lt" pitchFamily="34" charset="-120"/>
              </a:defRPr>
            </a:lvl1pPr>
          </a:lstStyle>
          <a:p>
            <a:pPr algn="l" indent="0" marL="0">
              <a:buNone/>
            </a:pPr>
            <a:endParaRPr lang="en-US" sz="3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3.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960120"/>
            <a:ext cx="5303520" cy="1051560"/>
          </a:xfrm>
          <a:prstGeom prst="rect">
            <a:avLst/>
          </a:prstGeom>
          <a:noFill/>
          <a:ln/>
        </p:spPr>
        <p:txBody>
          <a:bodyPr wrap="square" lIns="0" tIns="0" rIns="0" bIns="0" rtlCol="0" anchor="ctr"/>
          <a:lstStyle/>
          <a:p>
            <a:pPr algn="l" indent="0" marL="0">
              <a:buNone/>
            </a:pPr>
            <a:r>
              <a:rPr lang="en-US" sz="6000" b="1" dirty="0">
                <a:solidFill>
                  <a:schemeClr val="bg1"/>
                </a:solidFill>
                <a:latin typeface="+mj-lt" pitchFamily="34" charset="0"/>
                <a:ea typeface="+mj-lt" pitchFamily="34" charset="-122"/>
                <a:cs typeface="+mj-lt" pitchFamily="34" charset="-120"/>
              </a:rPr>
              <a:t>StudyRoute</a:t>
            </a:r>
            <a:endParaRPr lang="en-US" sz="6000" dirty="0"/>
          </a:p>
        </p:txBody>
      </p:sp>
      <p:sp>
        <p:nvSpPr>
          <p:cNvPr id="3" name="title-1-text-1"/>
          <p:cNvSpPr txBox="1"/>
          <p:nvPr/>
        </p:nvSpPr>
        <p:spPr>
          <a:xfrm>
            <a:off x="548640" y="502920"/>
            <a:ext cx="5486400" cy="274320"/>
          </a:xfrm>
          <a:prstGeom prst="rect">
            <a:avLst/>
          </a:prstGeom>
          <a:noFill/>
          <a:ln/>
        </p:spPr>
        <p:txBody>
          <a:bodyPr wrap="square" lIns="0" tIns="0" rIns="0" bIns="0" rtlCol="0" anchor="t"/>
          <a:lstStyle/>
          <a:p>
            <a:pPr algn="l" indent="0" marL="0">
              <a:buNone/>
            </a:pPr>
            <a:r>
              <a:rPr lang="en-US" sz="1200" b="1" dirty="0">
                <a:solidFill>
                  <a:schemeClr val="accent2"/>
                </a:solidFill>
              </a:rPr>
              <a:t>TOPIC C  ·  CROSS-BORDER AND STUDENT FINANCE ASSISTANT</a:t>
            </a:r>
            <a:endParaRPr lang="en-US" sz="1200" dirty="0"/>
          </a:p>
        </p:txBody>
      </p:sp>
      <p:sp>
        <p:nvSpPr>
          <p:cNvPr id="4" name="title-1-text-2"/>
          <p:cNvSpPr txBox="1"/>
          <p:nvPr/>
        </p:nvSpPr>
        <p:spPr>
          <a:xfrm>
            <a:off x="548640" y="2148840"/>
            <a:ext cx="5212080" cy="1188720"/>
          </a:xfrm>
          <a:prstGeom prst="rect">
            <a:avLst/>
          </a:prstGeom>
          <a:noFill/>
          <a:ln/>
        </p:spPr>
        <p:txBody>
          <a:bodyPr wrap="square" lIns="0" tIns="0" rIns="0" bIns="0" rtlCol="0" anchor="t"/>
          <a:lstStyle/>
          <a:p>
            <a:pPr algn="l" indent="0" marL="0">
              <a:buNone/>
            </a:pPr>
            <a:r>
              <a:rPr lang="en-US" sz="2000" dirty="0">
                <a:solidFill>
                  <a:schemeClr val="bg2"/>
                </a:solidFill>
              </a:rPr>
              <a:t>An AI agent that helps a parent in Bangladesh pay tuition abroad: clear costs, safe approval, full audit.</a:t>
            </a:r>
            <a:endParaRPr lang="en-US" sz="2000" dirty="0"/>
          </a:p>
        </p:txBody>
      </p:sp>
      <p:sp>
        <p:nvSpPr>
          <p:cNvPr id="5" name="title-1-text-3"/>
          <p:cNvSpPr txBox="1"/>
          <p:nvPr/>
        </p:nvSpPr>
        <p:spPr>
          <a:xfrm>
            <a:off x="548640" y="3520440"/>
            <a:ext cx="5212080" cy="914400"/>
          </a:xfrm>
          <a:prstGeom prst="rect">
            <a:avLst/>
          </a:prstGeom>
          <a:noFill/>
          <a:ln/>
        </p:spPr>
        <p:txBody>
          <a:bodyPr wrap="square" lIns="0" tIns="0" rIns="0" bIns="0" rtlCol="0" anchor="t"/>
          <a:lstStyle/>
          <a:p>
            <a:pPr algn="l" indent="0" marL="0">
              <a:buNone/>
            </a:pPr>
            <a:r>
              <a:rPr lang="en-US" sz="1600" i="1" dirty="0">
                <a:solidFill>
                  <a:schemeClr val="accent2"/>
                </a:solidFill>
              </a:rPr>
              <a:t>The engine calculates. The AI explains. The human approves. Every step is logged.</a:t>
            </a:r>
            <a:endParaRPr lang="en-US" sz="1600" dirty="0"/>
          </a:p>
        </p:txBody>
      </p:sp>
      <p:sp>
        <p:nvSpPr>
          <p:cNvPr id="6" name="title-1-text-4"/>
          <p:cNvSpPr txBox="1"/>
          <p:nvPr/>
        </p:nvSpPr>
        <p:spPr>
          <a:xfrm>
            <a:off x="548640" y="4572000"/>
            <a:ext cx="5303520" cy="274320"/>
          </a:xfrm>
          <a:prstGeom prst="rect">
            <a:avLst/>
          </a:prstGeom>
          <a:noFill/>
          <a:ln/>
        </p:spPr>
        <p:txBody>
          <a:bodyPr wrap="square" lIns="0" tIns="0" rIns="0" bIns="0" rtlCol="0" anchor="t"/>
          <a:lstStyle/>
          <a:p>
            <a:pPr algn="l" indent="0" marL="0">
              <a:buNone/>
            </a:pPr>
            <a:r>
              <a:rPr lang="en-US" sz="1200" dirty="0">
                <a:solidFill>
                  <a:schemeClr val="accent5"/>
                </a:solidFill>
              </a:rPr>
              <a:t>[Team name]  ·  Sandbox: synthetic data, no real money moves</a:t>
            </a:r>
            <a:endParaRPr lang="en-US" sz="1200" dirty="0"/>
          </a:p>
        </p:txBody>
      </p:sp>
      <p:sp>
        <p:nvSpPr>
          <p:cNvPr id="7" name="title-1-rect-5"/>
          <p:cNvSpPr/>
          <p:nvPr/>
        </p:nvSpPr>
        <p:spPr>
          <a:xfrm>
            <a:off x="6144768" y="475488"/>
            <a:ext cx="2706624" cy="2148840"/>
          </a:xfrm>
          <a:prstGeom prst="roundRect">
            <a:avLst>
              <a:gd name="adj" fmla="val 2553"/>
            </a:avLst>
          </a:prstGeom>
          <a:solidFill>
            <a:schemeClr val="bg1"/>
          </a:solidFill>
          <a:ln w="9525">
            <a:solidFill>
              <a:schemeClr val="accent5"/>
            </a:solidFill>
            <a:prstDash val="solid"/>
          </a:ln>
          <a:effectLst>
            <a:outerShdw sx="100000" sy="100000" kx="0" ky="0" algn="bl" rotWithShape="0" blurRad="101600" dist="25400" dir="5400000">
              <a:srgbClr val="0B2545">
                <a:alpha val="18000"/>
              </a:srgbClr>
            </a:outerShdw>
          </a:effectLst>
        </p:spPr>
      </p:sp>
      <p:pic>
        <p:nvPicPr>
          <p:cNvPr id="8" name="title-1-image-6" descr="StudyRoute compare screen ranking three providers">    </p:cNvPr>
          <p:cNvPicPr>
            <a:picLocks noChangeAspect="1"/>
          </p:cNvPicPr>
          <p:nvPr/>
        </p:nvPicPr>
        <p:blipFill>
          <a:blip r:embed="rId1"/>
          <a:stretch>
            <a:fillRect/>
          </a:stretch>
        </p:blipFill>
        <p:spPr>
          <a:xfrm>
            <a:off x="6217920" y="548640"/>
            <a:ext cx="2560320" cy="2002536"/>
          </a:xfrm>
          <a:prstGeom prst="rect">
            <a:avLst/>
          </a:prstGeom>
        </p:spPr>
      </p:pic>
      <p:sp>
        <p:nvSpPr>
          <p:cNvPr id="9" name="title-1-rect-7"/>
          <p:cNvSpPr/>
          <p:nvPr/>
        </p:nvSpPr>
        <p:spPr>
          <a:xfrm>
            <a:off x="6144768" y="2715768"/>
            <a:ext cx="2706624" cy="2148840"/>
          </a:xfrm>
          <a:prstGeom prst="roundRect">
            <a:avLst>
              <a:gd name="adj" fmla="val 2553"/>
            </a:avLst>
          </a:prstGeom>
          <a:solidFill>
            <a:schemeClr val="bg1"/>
          </a:solidFill>
          <a:ln w="9525">
            <a:solidFill>
              <a:schemeClr val="accent5"/>
            </a:solidFill>
            <a:prstDash val="solid"/>
          </a:ln>
          <a:effectLst>
            <a:outerShdw sx="100000" sy="100000" kx="0" ky="0" algn="bl" rotWithShape="0" blurRad="101600" dist="25400" dir="5400000">
              <a:srgbClr val="0B2545">
                <a:alpha val="18000"/>
              </a:srgbClr>
            </a:outerShdw>
          </a:effectLst>
        </p:spPr>
      </p:sp>
      <p:pic>
        <p:nvPicPr>
          <p:cNvPr id="10" name="title-1-image-8" descr="Audit log with the hash chain verified">    </p:cNvPr>
          <p:cNvPicPr>
            <a:picLocks noChangeAspect="1"/>
          </p:cNvPicPr>
          <p:nvPr/>
        </p:nvPicPr>
        <p:blipFill>
          <a:blip r:embed="rId2"/>
          <a:stretch>
            <a:fillRect/>
          </a:stretch>
        </p:blipFill>
        <p:spPr>
          <a:xfrm>
            <a:off x="6217920" y="2788920"/>
            <a:ext cx="2560320" cy="2002536"/>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The posted fee is not the price</a:t>
            </a:r>
            <a:endParaRPr lang="en-US" sz="3600" dirty="0"/>
          </a:p>
        </p:txBody>
      </p:sp>
      <p:sp>
        <p:nvSpPr>
          <p:cNvPr id="3" name="content-2-rect-1"/>
          <p:cNvSpPr/>
          <p:nvPr/>
        </p:nvSpPr>
        <p:spPr>
          <a:xfrm>
            <a:off x="457200" y="1234440"/>
            <a:ext cx="3017520" cy="3429000"/>
          </a:xfrm>
          <a:prstGeom prst="roundRect">
            <a:avLst>
              <a:gd name="adj" fmla="val 2424"/>
            </a:avLst>
          </a:prstGeom>
          <a:solidFill>
            <a:schemeClr val="bg2"/>
          </a:solidFill>
          <a:ln/>
        </p:spPr>
      </p:sp>
      <p:sp>
        <p:nvSpPr>
          <p:cNvPr id="4" name="content-2-text-2"/>
          <p:cNvSpPr txBox="1"/>
          <p:nvPr/>
        </p:nvSpPr>
        <p:spPr>
          <a:xfrm>
            <a:off x="640080" y="1371600"/>
            <a:ext cx="2651760" cy="1097280"/>
          </a:xfrm>
          <a:prstGeom prst="rect">
            <a:avLst/>
          </a:prstGeom>
          <a:noFill/>
          <a:ln/>
        </p:spPr>
        <p:txBody>
          <a:bodyPr wrap="square" lIns="0" tIns="0" rIns="0" bIns="0" rtlCol="0" anchor="ctr"/>
          <a:lstStyle/>
          <a:p>
            <a:pPr algn="l" indent="0" marL="0">
              <a:buNone/>
            </a:pPr>
            <a:r>
              <a:rPr lang="en-US" sz="6600" b="1" dirty="0">
                <a:solidFill>
                  <a:schemeClr val="accent1"/>
                </a:solidFill>
                <a:latin typeface="+mj-lt" pitchFamily="34" charset="0"/>
                <a:ea typeface="+mj-lt" pitchFamily="34" charset="-122"/>
                <a:cs typeface="+mj-lt" pitchFamily="34" charset="-120"/>
              </a:rPr>
              <a:t>63%</a:t>
            </a:r>
            <a:endParaRPr lang="en-US" sz="6600" dirty="0"/>
          </a:p>
        </p:txBody>
      </p:sp>
      <p:sp>
        <p:nvSpPr>
          <p:cNvPr id="5" name="content-2-text-3"/>
          <p:cNvSpPr txBox="1"/>
          <p:nvPr/>
        </p:nvSpPr>
        <p:spPr>
          <a:xfrm>
            <a:off x="640080" y="2560320"/>
            <a:ext cx="2651760" cy="1005840"/>
          </a:xfrm>
          <a:prstGeom prst="rect">
            <a:avLst/>
          </a:prstGeom>
          <a:noFill/>
          <a:ln/>
        </p:spPr>
        <p:txBody>
          <a:bodyPr wrap="square" lIns="0" tIns="0" rIns="0" bIns="0" rtlCol="0" anchor="t"/>
          <a:lstStyle/>
          <a:p>
            <a:pPr algn="l" indent="0" marL="0">
              <a:buNone/>
            </a:pPr>
            <a:r>
              <a:rPr lang="en-US" sz="1600" b="1" dirty="0">
                <a:solidFill>
                  <a:schemeClr val="tx1"/>
                </a:solidFill>
              </a:rPr>
              <a:t>of the real cost is the hidden exchange-rate margin</a:t>
            </a:r>
            <a:endParaRPr lang="en-US" sz="1600" dirty="0"/>
          </a:p>
        </p:txBody>
      </p:sp>
      <p:sp>
        <p:nvSpPr>
          <p:cNvPr id="6" name="content-2-text-4"/>
          <p:cNvSpPr txBox="1"/>
          <p:nvPr/>
        </p:nvSpPr>
        <p:spPr>
          <a:xfrm>
            <a:off x="640080" y="4023360"/>
            <a:ext cx="2651760" cy="502920"/>
          </a:xfrm>
          <a:prstGeom prst="rect">
            <a:avLst/>
          </a:prstGeom>
          <a:noFill/>
          <a:ln/>
        </p:spPr>
        <p:txBody>
          <a:bodyPr wrap="square" lIns="0" tIns="0" rIns="0" bIns="0" rtlCol="0" anchor="t"/>
          <a:lstStyle/>
          <a:p>
            <a:pPr algn="l" indent="0" marL="0">
              <a:buNone/>
            </a:pPr>
            <a:r>
              <a:rPr lang="en-US" sz="1100" dirty="0">
                <a:solidFill>
                  <a:schemeClr val="tx2"/>
                </a:solidFill>
              </a:rPr>
              <a:t>Provider B, GBP 10,000. Synthetic rates and fees.</a:t>
            </a:r>
            <a:endParaRPr lang="en-US" sz="1100" dirty="0"/>
          </a:p>
        </p:txBody>
      </p:sp>
      <p:sp>
        <p:nvSpPr>
          <p:cNvPr id="7" name="content-2-oval-5"/>
          <p:cNvSpPr/>
          <p:nvPr/>
        </p:nvSpPr>
        <p:spPr>
          <a:xfrm>
            <a:off x="3749040" y="1280160"/>
            <a:ext cx="329184" cy="329184"/>
          </a:xfrm>
          <a:prstGeom prst="ellipse">
            <a:avLst/>
          </a:prstGeom>
          <a:solidFill>
            <a:schemeClr val="accent1"/>
          </a:solidFill>
          <a:ln/>
        </p:spPr>
      </p:sp>
      <p:sp>
        <p:nvSpPr>
          <p:cNvPr id="8" name="content-2-text-6"/>
          <p:cNvSpPr txBox="1"/>
          <p:nvPr/>
        </p:nvSpPr>
        <p:spPr>
          <a:xfrm>
            <a:off x="3749040" y="1280160"/>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9" name="content-2-text-7"/>
          <p:cNvSpPr txBox="1"/>
          <p:nvPr/>
        </p:nvSpPr>
        <p:spPr>
          <a:xfrm>
            <a:off x="4251960" y="1234440"/>
            <a:ext cx="4434840" cy="658368"/>
          </a:xfrm>
          <a:prstGeom prst="rect">
            <a:avLst/>
          </a:prstGeom>
          <a:noFill/>
          <a:ln/>
        </p:spPr>
        <p:txBody>
          <a:bodyPr wrap="square" lIns="0" tIns="0" rIns="0" bIns="0" rtlCol="0" anchor="ctr"/>
          <a:lstStyle/>
          <a:p>
            <a:pPr algn="l" indent="0" marL="0">
              <a:buNone/>
            </a:pPr>
            <a:r>
              <a:rPr lang="en-US" sz="1400" b="1" dirty="0">
                <a:solidFill>
                  <a:schemeClr val="tx1"/>
                </a:solidFill>
              </a:rPr>
              <a:t>Hidden margin.</a:t>
            </a:r>
            <a:pPr algn="l" indent="0" marL="0">
              <a:buNone/>
            </a:pPr>
            <a:r>
              <a:rPr lang="en-US" sz="1400" dirty="0">
                <a:solidFill>
                  <a:schemeClr val="tx2"/>
                </a:solidFill>
              </a:rPr>
              <a:t> The rate sits above mid-market, and banks show a fee, not the margin.</a:t>
            </a:r>
            <a:endParaRPr lang="en-US" sz="1400" dirty="0"/>
          </a:p>
        </p:txBody>
      </p:sp>
      <p:sp>
        <p:nvSpPr>
          <p:cNvPr id="10" name="content-2-oval-8"/>
          <p:cNvSpPr/>
          <p:nvPr/>
        </p:nvSpPr>
        <p:spPr>
          <a:xfrm>
            <a:off x="3749040" y="1975104"/>
            <a:ext cx="329184" cy="329184"/>
          </a:xfrm>
          <a:prstGeom prst="ellipse">
            <a:avLst/>
          </a:prstGeom>
          <a:solidFill>
            <a:schemeClr val="accent1"/>
          </a:solidFill>
          <a:ln/>
        </p:spPr>
      </p:sp>
      <p:sp>
        <p:nvSpPr>
          <p:cNvPr id="11" name="content-2-text-9"/>
          <p:cNvSpPr txBox="1"/>
          <p:nvPr/>
        </p:nvSpPr>
        <p:spPr>
          <a:xfrm>
            <a:off x="3749040" y="1975104"/>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2" name="content-2-text-10"/>
          <p:cNvSpPr txBox="1"/>
          <p:nvPr/>
        </p:nvSpPr>
        <p:spPr>
          <a:xfrm>
            <a:off x="4251960" y="1929384"/>
            <a:ext cx="4434840" cy="658368"/>
          </a:xfrm>
          <a:prstGeom prst="rect">
            <a:avLst/>
          </a:prstGeom>
          <a:noFill/>
          <a:ln/>
        </p:spPr>
        <p:txBody>
          <a:bodyPr wrap="square" lIns="0" tIns="0" rIns="0" bIns="0" rtlCol="0" anchor="ctr"/>
          <a:lstStyle/>
          <a:p>
            <a:pPr algn="l" indent="0" marL="0">
              <a:buNone/>
            </a:pPr>
            <a:r>
              <a:rPr lang="en-US" sz="1400" b="1" dirty="0">
                <a:solidFill>
                  <a:schemeClr val="tx1"/>
                </a:solidFill>
              </a:rPr>
              <a:t>Fees on the way.</a:t>
            </a:r>
            <a:pPr algn="l" indent="0" marL="0">
              <a:buNone/>
            </a:pPr>
            <a:r>
              <a:rPr lang="en-US" sz="1400" dirty="0">
                <a:solidFill>
                  <a:schemeClr val="tx2"/>
                </a:solidFill>
              </a:rPr>
              <a:t> Correspondent and receiving banks deduct from the amount.</a:t>
            </a:r>
            <a:endParaRPr lang="en-US" sz="1400" dirty="0"/>
          </a:p>
        </p:txBody>
      </p:sp>
      <p:sp>
        <p:nvSpPr>
          <p:cNvPr id="13" name="content-2-oval-11"/>
          <p:cNvSpPr/>
          <p:nvPr/>
        </p:nvSpPr>
        <p:spPr>
          <a:xfrm>
            <a:off x="3749040" y="2670048"/>
            <a:ext cx="329184" cy="329184"/>
          </a:xfrm>
          <a:prstGeom prst="ellipse">
            <a:avLst/>
          </a:prstGeom>
          <a:solidFill>
            <a:schemeClr val="accent1"/>
          </a:solidFill>
          <a:ln/>
        </p:spPr>
      </p:sp>
      <p:sp>
        <p:nvSpPr>
          <p:cNvPr id="14" name="content-2-text-12"/>
          <p:cNvSpPr txBox="1"/>
          <p:nvPr/>
        </p:nvSpPr>
        <p:spPr>
          <a:xfrm>
            <a:off x="3749040" y="2670048"/>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5" name="content-2-text-13"/>
          <p:cNvSpPr txBox="1"/>
          <p:nvPr/>
        </p:nvSpPr>
        <p:spPr>
          <a:xfrm>
            <a:off x="4251960" y="2624328"/>
            <a:ext cx="4434840" cy="658368"/>
          </a:xfrm>
          <a:prstGeom prst="rect">
            <a:avLst/>
          </a:prstGeom>
          <a:noFill/>
          <a:ln/>
        </p:spPr>
        <p:txBody>
          <a:bodyPr wrap="square" lIns="0" tIns="0" rIns="0" bIns="0" rtlCol="0" anchor="ctr"/>
          <a:lstStyle/>
          <a:p>
            <a:pPr algn="l" indent="0" marL="0">
              <a:buNone/>
            </a:pPr>
            <a:r>
              <a:rPr lang="en-US" sz="1400" b="1" dirty="0">
                <a:solidFill>
                  <a:schemeClr val="tx1"/>
                </a:solidFill>
              </a:rPr>
              <a:t>Short payment.</a:t>
            </a:r>
            <a:pPr algn="l" indent="0" marL="0">
              <a:buNone/>
            </a:pPr>
            <a:r>
              <a:rPr lang="en-US" sz="1400" dirty="0">
                <a:solidFill>
                  <a:schemeClr val="tx2"/>
                </a:solidFill>
              </a:rPr>
              <a:t> The university gets less than invoiced and may add a late fee.</a:t>
            </a:r>
            <a:endParaRPr lang="en-US" sz="1400" dirty="0"/>
          </a:p>
        </p:txBody>
      </p:sp>
      <p:sp>
        <p:nvSpPr>
          <p:cNvPr id="16" name="content-2-oval-14"/>
          <p:cNvSpPr/>
          <p:nvPr/>
        </p:nvSpPr>
        <p:spPr>
          <a:xfrm>
            <a:off x="3749040" y="3364992"/>
            <a:ext cx="329184" cy="329184"/>
          </a:xfrm>
          <a:prstGeom prst="ellipse">
            <a:avLst/>
          </a:prstGeom>
          <a:solidFill>
            <a:schemeClr val="accent1"/>
          </a:solidFill>
          <a:ln/>
        </p:spPr>
      </p:sp>
      <p:sp>
        <p:nvSpPr>
          <p:cNvPr id="17" name="content-2-text-15"/>
          <p:cNvSpPr txBox="1"/>
          <p:nvPr/>
        </p:nvSpPr>
        <p:spPr>
          <a:xfrm>
            <a:off x="3749040" y="3364992"/>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8" name="content-2-text-16"/>
          <p:cNvSpPr txBox="1"/>
          <p:nvPr/>
        </p:nvSpPr>
        <p:spPr>
          <a:xfrm>
            <a:off x="4251960" y="3319272"/>
            <a:ext cx="4434840" cy="658368"/>
          </a:xfrm>
          <a:prstGeom prst="rect">
            <a:avLst/>
          </a:prstGeom>
          <a:noFill/>
          <a:ln/>
        </p:spPr>
        <p:txBody>
          <a:bodyPr wrap="square" lIns="0" tIns="0" rIns="0" bIns="0" rtlCol="0" anchor="ctr"/>
          <a:lstStyle/>
          <a:p>
            <a:pPr algn="l" indent="0" marL="0">
              <a:buNone/>
            </a:pPr>
            <a:r>
              <a:rPr lang="en-US" sz="1400" b="1" dirty="0">
                <a:solidFill>
                  <a:schemeClr val="tx1"/>
                </a:solidFill>
              </a:rPr>
              <a:t>Missed deadlines.</a:t>
            </a:r>
            <a:pPr algn="l" indent="0" marL="0">
              <a:buNone/>
            </a:pPr>
            <a:r>
              <a:rPr lang="en-US" sz="1400" dirty="0">
                <a:solidFill>
                  <a:schemeClr val="tx2"/>
                </a:solidFill>
              </a:rPr>
              <a:t> Two calendars: Friday and Saturday off in Bangladesh, plus the host country.</a:t>
            </a:r>
            <a:endParaRPr lang="en-US" sz="1400" dirty="0"/>
          </a:p>
        </p:txBody>
      </p:sp>
      <p:sp>
        <p:nvSpPr>
          <p:cNvPr id="19" name="content-2-oval-17"/>
          <p:cNvSpPr/>
          <p:nvPr/>
        </p:nvSpPr>
        <p:spPr>
          <a:xfrm>
            <a:off x="3749040" y="4059936"/>
            <a:ext cx="329184" cy="329184"/>
          </a:xfrm>
          <a:prstGeom prst="ellipse">
            <a:avLst/>
          </a:prstGeom>
          <a:solidFill>
            <a:schemeClr val="accent1"/>
          </a:solidFill>
          <a:ln/>
        </p:spPr>
      </p:sp>
      <p:sp>
        <p:nvSpPr>
          <p:cNvPr id="20" name="content-2-text-18"/>
          <p:cNvSpPr txBox="1"/>
          <p:nvPr/>
        </p:nvSpPr>
        <p:spPr>
          <a:xfrm>
            <a:off x="3749040" y="4059936"/>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1" name="content-2-text-19"/>
          <p:cNvSpPr txBox="1"/>
          <p:nvPr/>
        </p:nvSpPr>
        <p:spPr>
          <a:xfrm>
            <a:off x="4251960" y="4014216"/>
            <a:ext cx="4434840" cy="658368"/>
          </a:xfrm>
          <a:prstGeom prst="rect">
            <a:avLst/>
          </a:prstGeom>
          <a:noFill/>
          <a:ln/>
        </p:spPr>
        <p:txBody>
          <a:bodyPr wrap="square" lIns="0" tIns="0" rIns="0" bIns="0" rtlCol="0" anchor="ctr"/>
          <a:lstStyle/>
          <a:p>
            <a:pPr algn="l" indent="0" marL="0">
              <a:buNone/>
            </a:pPr>
            <a:r>
              <a:rPr lang="en-US" sz="1400" b="1" dirty="0">
                <a:solidFill>
                  <a:schemeClr val="tx1"/>
                </a:solidFill>
              </a:rPr>
              <a:t>Paperwork.</a:t>
            </a:r>
            <a:pPr algn="l" indent="0" marL="0">
              <a:buNone/>
            </a:pPr>
            <a:r>
              <a:rPr lang="en-US" sz="1400" dirty="0">
                <a:solidFill>
                  <a:schemeClr val="tx2"/>
                </a:solidFill>
              </a:rPr>
              <a:t> An unclear document list and weeks of back and forth.</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A family carries the risk</a:t>
            </a:r>
            <a:endParaRPr lang="en-US" sz="3600" dirty="0"/>
          </a:p>
        </p:txBody>
      </p:sp>
      <p:sp>
        <p:nvSpPr>
          <p:cNvPr id="3" name="content-3-rect-1"/>
          <p:cNvSpPr/>
          <p:nvPr/>
        </p:nvSpPr>
        <p:spPr>
          <a:xfrm>
            <a:off x="457200" y="1234440"/>
            <a:ext cx="4023360" cy="2926080"/>
          </a:xfrm>
          <a:prstGeom prst="roundRect">
            <a:avLst>
              <a:gd name="adj" fmla="val 2500"/>
            </a:avLst>
          </a:prstGeom>
          <a:solidFill>
            <a:schemeClr val="bg2"/>
          </a:solidFill>
          <a:ln/>
        </p:spPr>
      </p:sp>
      <p:sp>
        <p:nvSpPr>
          <p:cNvPr id="4" name="content-3-oval-2"/>
          <p:cNvSpPr/>
          <p:nvPr/>
        </p:nvSpPr>
        <p:spPr>
          <a:xfrm>
            <a:off x="640080" y="1417320"/>
            <a:ext cx="457200" cy="457200"/>
          </a:xfrm>
          <a:prstGeom prst="ellipse">
            <a:avLst/>
          </a:prstGeom>
          <a:solidFill>
            <a:schemeClr val="accent4"/>
          </a:solidFill>
          <a:ln/>
        </p:spPr>
      </p:sp>
      <p:sp>
        <p:nvSpPr>
          <p:cNvPr id="5" name="content-3-text-3"/>
          <p:cNvSpPr txBox="1"/>
          <p:nvPr/>
        </p:nvSpPr>
        <p:spPr>
          <a:xfrm>
            <a:off x="640080" y="141732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P</a:t>
            </a:r>
            <a:endParaRPr lang="en-US" sz="1800" dirty="0"/>
          </a:p>
        </p:txBody>
      </p:sp>
      <p:sp>
        <p:nvSpPr>
          <p:cNvPr id="6" name="content-3-text-4"/>
          <p:cNvSpPr txBox="1"/>
          <p:nvPr/>
        </p:nvSpPr>
        <p:spPr>
          <a:xfrm>
            <a:off x="1234440" y="1371600"/>
            <a:ext cx="3108960" cy="548640"/>
          </a:xfrm>
          <a:prstGeom prst="rect">
            <a:avLst/>
          </a:prstGeom>
          <a:noFill/>
          <a:ln/>
        </p:spPr>
        <p:txBody>
          <a:bodyPr wrap="square" lIns="0" tIns="0" rIns="0" bIns="0" rtlCol="0" anchor="ctr"/>
          <a:lstStyle/>
          <a:p>
            <a:pPr algn="l" indent="0" marL="0">
              <a:buNone/>
            </a:pPr>
            <a:r>
              <a:rPr lang="en-US" sz="1800" b="1" dirty="0">
                <a:solidFill>
                  <a:schemeClr val="tx1"/>
                </a:solidFill>
              </a:rPr>
              <a:t>The parent in Bangladesh</a:t>
            </a:r>
            <a:endParaRPr lang="en-US" sz="1800" dirty="0"/>
          </a:p>
        </p:txBody>
      </p:sp>
      <p:sp>
        <p:nvSpPr>
          <p:cNvPr id="7" name="content-3-text-5"/>
          <p:cNvSpPr txBox="1"/>
          <p:nvPr/>
        </p:nvSpPr>
        <p:spPr>
          <a:xfrm>
            <a:off x="640080" y="2011680"/>
            <a:ext cx="3657600" cy="365760"/>
          </a:xfrm>
          <a:prstGeom prst="rect">
            <a:avLst/>
          </a:prstGeom>
          <a:noFill/>
          <a:ln/>
        </p:spPr>
        <p:txBody>
          <a:bodyPr wrap="square" lIns="0" tIns="0" rIns="0" bIns="0" rtlCol="0" anchor="t"/>
          <a:lstStyle/>
          <a:p>
            <a:pPr algn="l" indent="0" marL="0">
              <a:buNone/>
            </a:pPr>
            <a:r>
              <a:rPr lang="en-US" sz="1400" i="1" dirty="0">
                <a:solidFill>
                  <a:schemeClr val="tx2"/>
                </a:solidFill>
              </a:rPr>
              <a:t>Pays in BDT and carries the risk</a:t>
            </a:r>
            <a:endParaRPr lang="en-US" sz="1400" dirty="0"/>
          </a:p>
        </p:txBody>
      </p:sp>
      <p:sp>
        <p:nvSpPr>
          <p:cNvPr id="8" name="content-3-text-6"/>
          <p:cNvSpPr txBox="1"/>
          <p:nvPr/>
        </p:nvSpPr>
        <p:spPr>
          <a:xfrm>
            <a:off x="640080" y="2468880"/>
            <a:ext cx="3657600" cy="1600200"/>
          </a:xfrm>
          <a:prstGeom prst="rect">
            <a:avLst/>
          </a:prstGeom>
          <a:noFill/>
          <a:ln/>
        </p:spPr>
        <p:txBody>
          <a:bodyPr wrap="square" lIns="0" tIns="0" rIns="0" bIns="0" rtlCol="0" anchor="t"/>
          <a:lstStyle/>
          <a:p>
            <a:pPr algn="l" marL="342900" indent="-342900">
              <a:spcAft>
                <a:spcPts val="600"/>
              </a:spcAft>
              <a:buSzPct val="100000"/>
              <a:buChar char="•"/>
            </a:pPr>
            <a:r>
              <a:rPr lang="en-US" sz="1400" dirty="0">
                <a:solidFill>
                  <a:schemeClr val="tx1"/>
                </a:solidFill>
              </a:rPr>
              <a:t>Compares banks by the posted fee only</a:t>
            </a:r>
            <a:endParaRPr lang="en-US" sz="1400" dirty="0"/>
          </a:p>
          <a:p>
            <a:pPr algn="l" marL="342900" indent="-342900">
              <a:spcAft>
                <a:spcPts val="600"/>
              </a:spcAft>
              <a:buSzPct val="100000"/>
              <a:buChar char="•"/>
            </a:pPr>
            <a:r>
              <a:rPr lang="en-US" sz="1400" dirty="0">
                <a:solidFill>
                  <a:schemeClr val="tx1"/>
                </a:solidFill>
              </a:rPr>
              <a:t>Approves a large transfer with little to check it against</a:t>
            </a:r>
            <a:endParaRPr lang="en-US" sz="1400" dirty="0"/>
          </a:p>
          <a:p>
            <a:pPr algn="l" marL="342900" indent="-342900">
              <a:spcAft>
                <a:spcPts val="600"/>
              </a:spcAft>
              <a:buSzPct val="100000"/>
              <a:buChar char="•"/>
            </a:pPr>
            <a:r>
              <a:rPr lang="en-US" sz="1400" dirty="0">
                <a:solidFill>
                  <a:schemeClr val="tx1"/>
                </a:solidFill>
              </a:rPr>
              <a:t>Must prove source of funds and gather documents</a:t>
            </a:r>
            <a:endParaRPr lang="en-US" sz="1400" dirty="0"/>
          </a:p>
        </p:txBody>
      </p:sp>
      <p:sp>
        <p:nvSpPr>
          <p:cNvPr id="9" name="content-3-rect-7"/>
          <p:cNvSpPr/>
          <p:nvPr/>
        </p:nvSpPr>
        <p:spPr>
          <a:xfrm>
            <a:off x="4663440" y="1234440"/>
            <a:ext cx="4023360" cy="2926080"/>
          </a:xfrm>
          <a:prstGeom prst="roundRect">
            <a:avLst>
              <a:gd name="adj" fmla="val 2500"/>
            </a:avLst>
          </a:prstGeom>
          <a:solidFill>
            <a:schemeClr val="bg2"/>
          </a:solidFill>
          <a:ln/>
        </p:spPr>
      </p:sp>
      <p:sp>
        <p:nvSpPr>
          <p:cNvPr id="10" name="content-3-oval-8"/>
          <p:cNvSpPr/>
          <p:nvPr/>
        </p:nvSpPr>
        <p:spPr>
          <a:xfrm>
            <a:off x="4846320" y="1417320"/>
            <a:ext cx="457200" cy="457200"/>
          </a:xfrm>
          <a:prstGeom prst="ellipse">
            <a:avLst/>
          </a:prstGeom>
          <a:solidFill>
            <a:schemeClr val="accent1"/>
          </a:solidFill>
          <a:ln/>
        </p:spPr>
      </p:sp>
      <p:sp>
        <p:nvSpPr>
          <p:cNvPr id="11" name="content-3-text-9"/>
          <p:cNvSpPr txBox="1"/>
          <p:nvPr/>
        </p:nvSpPr>
        <p:spPr>
          <a:xfrm>
            <a:off x="4846320" y="141732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S</a:t>
            </a:r>
            <a:endParaRPr lang="en-US" sz="1800" dirty="0"/>
          </a:p>
        </p:txBody>
      </p:sp>
      <p:sp>
        <p:nvSpPr>
          <p:cNvPr id="12" name="content-3-text-10"/>
          <p:cNvSpPr txBox="1"/>
          <p:nvPr/>
        </p:nvSpPr>
        <p:spPr>
          <a:xfrm>
            <a:off x="5440680" y="1371600"/>
            <a:ext cx="3108960" cy="548640"/>
          </a:xfrm>
          <a:prstGeom prst="rect">
            <a:avLst/>
          </a:prstGeom>
          <a:noFill/>
          <a:ln/>
        </p:spPr>
        <p:txBody>
          <a:bodyPr wrap="square" lIns="0" tIns="0" rIns="0" bIns="0" rtlCol="0" anchor="ctr"/>
          <a:lstStyle/>
          <a:p>
            <a:pPr algn="l" indent="0" marL="0">
              <a:buNone/>
            </a:pPr>
            <a:r>
              <a:rPr lang="en-US" sz="1800" b="1" dirty="0">
                <a:solidFill>
                  <a:schemeClr val="tx1"/>
                </a:solidFill>
              </a:rPr>
              <a:t>The student abroad</a:t>
            </a:r>
            <a:endParaRPr lang="en-US" sz="1800" dirty="0"/>
          </a:p>
        </p:txBody>
      </p:sp>
      <p:sp>
        <p:nvSpPr>
          <p:cNvPr id="13" name="content-3-text-11"/>
          <p:cNvSpPr txBox="1"/>
          <p:nvPr/>
        </p:nvSpPr>
        <p:spPr>
          <a:xfrm>
            <a:off x="4846320" y="2011680"/>
            <a:ext cx="3657600" cy="365760"/>
          </a:xfrm>
          <a:prstGeom prst="rect">
            <a:avLst/>
          </a:prstGeom>
          <a:noFill/>
          <a:ln/>
        </p:spPr>
        <p:txBody>
          <a:bodyPr wrap="square" lIns="0" tIns="0" rIns="0" bIns="0" rtlCol="0" anchor="t"/>
          <a:lstStyle/>
          <a:p>
            <a:pPr algn="l" indent="0" marL="0">
              <a:buNone/>
            </a:pPr>
            <a:r>
              <a:rPr lang="en-US" sz="1400" i="1" dirty="0">
                <a:solidFill>
                  <a:schemeClr val="tx2"/>
                </a:solidFill>
              </a:rPr>
              <a:t>Needs the university paid on time</a:t>
            </a:r>
            <a:endParaRPr lang="en-US" sz="1400" dirty="0"/>
          </a:p>
        </p:txBody>
      </p:sp>
      <p:sp>
        <p:nvSpPr>
          <p:cNvPr id="14" name="content-3-text-12"/>
          <p:cNvSpPr txBox="1"/>
          <p:nvPr/>
        </p:nvSpPr>
        <p:spPr>
          <a:xfrm>
            <a:off x="4846320" y="2468880"/>
            <a:ext cx="3657600" cy="1600200"/>
          </a:xfrm>
          <a:prstGeom prst="rect">
            <a:avLst/>
          </a:prstGeom>
          <a:noFill/>
          <a:ln/>
        </p:spPr>
        <p:txBody>
          <a:bodyPr wrap="square" lIns="0" tIns="0" rIns="0" bIns="0" rtlCol="0" anchor="t"/>
          <a:lstStyle/>
          <a:p>
            <a:pPr algn="l" marL="342900" indent="-342900">
              <a:spcAft>
                <a:spcPts val="600"/>
              </a:spcAft>
              <a:buSzPct val="100000"/>
              <a:buChar char="•"/>
            </a:pPr>
            <a:r>
              <a:rPr lang="en-US" sz="1400" dirty="0">
                <a:solidFill>
                  <a:schemeClr val="tx1"/>
                </a:solidFill>
              </a:rPr>
              <a:t>Tuition arrives short or cannot be matched</a:t>
            </a:r>
            <a:endParaRPr lang="en-US" sz="1400" dirty="0"/>
          </a:p>
          <a:p>
            <a:pPr algn="l" marL="342900" indent="-342900">
              <a:spcAft>
                <a:spcPts val="600"/>
              </a:spcAft>
              <a:buSzPct val="100000"/>
              <a:buChar char="•"/>
            </a:pPr>
            <a:r>
              <a:rPr lang="en-US" sz="1400" dirty="0">
                <a:solidFill>
                  <a:schemeClr val="tx1"/>
                </a:solidFill>
              </a:rPr>
              <a:t>Late fees, or a payment the university cannot match</a:t>
            </a:r>
            <a:endParaRPr lang="en-US" sz="1400" dirty="0"/>
          </a:p>
          <a:p>
            <a:pPr algn="l" marL="342900" indent="-342900">
              <a:spcAft>
                <a:spcPts val="600"/>
              </a:spcAft>
              <a:buSzPct val="100000"/>
              <a:buChar char="•"/>
            </a:pPr>
            <a:r>
              <a:rPr lang="en-US" sz="1400" dirty="0">
                <a:solidFill>
                  <a:schemeClr val="tx1"/>
                </a:solidFill>
              </a:rPr>
              <a:t>Weeks of waiting with no status</a:t>
            </a:r>
            <a:endParaRPr lang="en-US" sz="1400" dirty="0"/>
          </a:p>
        </p:txBody>
      </p:sp>
      <p:sp>
        <p:nvSpPr>
          <p:cNvPr id="15" name="content-3-text-13"/>
          <p:cNvSpPr txBox="1"/>
          <p:nvPr/>
        </p:nvSpPr>
        <p:spPr>
          <a:xfrm>
            <a:off x="457200" y="4343400"/>
            <a:ext cx="8229600" cy="411480"/>
          </a:xfrm>
          <a:prstGeom prst="rect">
            <a:avLst/>
          </a:prstGeom>
          <a:noFill/>
          <a:ln/>
        </p:spPr>
        <p:txBody>
          <a:bodyPr wrap="square" lIns="0" tIns="0" rIns="0" bIns="0" rtlCol="0" anchor="ctr"/>
          <a:lstStyle/>
          <a:p>
            <a:pPr algn="l" indent="0" marL="0">
              <a:buNone/>
            </a:pPr>
            <a:r>
              <a:rPr lang="en-US" sz="1600" b="1" dirty="0">
                <a:solidFill>
                  <a:schemeClr val="accent1"/>
                </a:solidFill>
              </a:rPr>
              <a:t>StudyRoute gives both one plan: the parent decides, the student can see.</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How money really moves</a:t>
            </a:r>
            <a:endParaRPr lang="en-US" sz="3600" dirty="0"/>
          </a:p>
        </p:txBody>
      </p:sp>
      <p:sp>
        <p:nvSpPr>
          <p:cNvPr id="3" name="content-4-rect-1"/>
          <p:cNvSpPr/>
          <p:nvPr/>
        </p:nvSpPr>
        <p:spPr>
          <a:xfrm>
            <a:off x="457200" y="1417320"/>
            <a:ext cx="1481328" cy="1417320"/>
          </a:xfrm>
          <a:prstGeom prst="roundRect">
            <a:avLst>
              <a:gd name="adj" fmla="val 5161"/>
            </a:avLst>
          </a:prstGeom>
          <a:solidFill>
            <a:schemeClr val="tx1"/>
          </a:solidFill>
          <a:ln/>
        </p:spPr>
      </p:sp>
      <p:sp>
        <p:nvSpPr>
          <p:cNvPr id="4" name="content-4-text-2"/>
          <p:cNvSpPr txBox="1"/>
          <p:nvPr/>
        </p:nvSpPr>
        <p:spPr>
          <a:xfrm>
            <a:off x="530352" y="1508760"/>
            <a:ext cx="1335024" cy="548640"/>
          </a:xfrm>
          <a:prstGeom prst="rect">
            <a:avLst/>
          </a:prstGeom>
          <a:noFill/>
          <a:ln/>
        </p:spPr>
        <p:txBody>
          <a:bodyPr wrap="square" lIns="0" tIns="0" rIns="0" bIns="0" rtlCol="0" anchor="ctr"/>
          <a:lstStyle/>
          <a:p>
            <a:pPr algn="ctr" indent="0" marL="0">
              <a:buNone/>
            </a:pPr>
            <a:r>
              <a:rPr lang="en-US" sz="1400" b="1" dirty="0">
                <a:solidFill>
                  <a:schemeClr val="bg1"/>
                </a:solidFill>
              </a:rPr>
              <a:t>Parent</a:t>
            </a:r>
            <a:endParaRPr lang="en-US" sz="1400" dirty="0"/>
          </a:p>
        </p:txBody>
      </p:sp>
      <p:sp>
        <p:nvSpPr>
          <p:cNvPr id="5" name="content-4-text-3"/>
          <p:cNvSpPr txBox="1"/>
          <p:nvPr/>
        </p:nvSpPr>
        <p:spPr>
          <a:xfrm>
            <a:off x="530352" y="2103120"/>
            <a:ext cx="1335024" cy="685800"/>
          </a:xfrm>
          <a:prstGeom prst="rect">
            <a:avLst/>
          </a:prstGeom>
          <a:noFill/>
          <a:ln/>
        </p:spPr>
        <p:txBody>
          <a:bodyPr wrap="square" lIns="0" tIns="0" rIns="0" bIns="0" rtlCol="0" anchor="t"/>
          <a:lstStyle/>
          <a:p>
            <a:pPr algn="ctr" indent="0" marL="0">
              <a:buNone/>
            </a:pPr>
            <a:r>
              <a:rPr lang="en-US" sz="1200" dirty="0">
                <a:solidFill>
                  <a:schemeClr val="bg2"/>
                </a:solidFill>
              </a:rPr>
              <a:t>pays BDT</a:t>
            </a:r>
            <a:endParaRPr lang="en-US" sz="1200" dirty="0"/>
          </a:p>
        </p:txBody>
      </p:sp>
      <p:sp>
        <p:nvSpPr>
          <p:cNvPr id="6" name="content-4-text-4"/>
          <p:cNvSpPr txBox="1"/>
          <p:nvPr/>
        </p:nvSpPr>
        <p:spPr>
          <a:xfrm>
            <a:off x="457200" y="3200400"/>
            <a:ext cx="1481328" cy="594360"/>
          </a:xfrm>
          <a:prstGeom prst="rect">
            <a:avLst/>
          </a:prstGeom>
          <a:noFill/>
          <a:ln/>
        </p:spPr>
        <p:txBody>
          <a:bodyPr wrap="square" lIns="0" tIns="0" rIns="0" bIns="0" rtlCol="0" anchor="t"/>
          <a:lstStyle/>
          <a:p>
            <a:pPr algn="ctr" indent="0" marL="0">
              <a:buNone/>
            </a:pPr>
            <a:r>
              <a:rPr lang="en-US" sz="1200" b="1" dirty="0">
                <a:solidFill>
                  <a:schemeClr val="accent3"/>
                </a:solidFill>
              </a:rPr>
              <a:t>Missing document</a:t>
            </a:r>
            <a:endParaRPr lang="en-US" sz="1200" dirty="0"/>
          </a:p>
        </p:txBody>
      </p:sp>
      <p:sp>
        <p:nvSpPr>
          <p:cNvPr id="7" name="content-4-arrow-5"/>
          <p:cNvSpPr/>
          <p:nvPr/>
        </p:nvSpPr>
        <p:spPr>
          <a:xfrm>
            <a:off x="1956816" y="2130552"/>
            <a:ext cx="164592" cy="0"/>
          </a:xfrm>
          <a:prstGeom prst="line">
            <a:avLst/>
          </a:prstGeom>
          <a:noFill/>
          <a:ln w="25400">
            <a:solidFill>
              <a:schemeClr val="tx2"/>
            </a:solidFill>
            <a:prstDash val="solid"/>
            <a:tailEnd type="triangle"/>
          </a:ln>
        </p:spPr>
      </p:sp>
      <p:sp>
        <p:nvSpPr>
          <p:cNvPr id="8" name="content-4-rect-6"/>
          <p:cNvSpPr/>
          <p:nvPr/>
        </p:nvSpPr>
        <p:spPr>
          <a:xfrm>
            <a:off x="2139696" y="1417320"/>
            <a:ext cx="1481328" cy="1417320"/>
          </a:xfrm>
          <a:prstGeom prst="roundRect">
            <a:avLst>
              <a:gd name="adj" fmla="val 5161"/>
            </a:avLst>
          </a:prstGeom>
          <a:solidFill>
            <a:schemeClr val="tx1"/>
          </a:solidFill>
          <a:ln/>
        </p:spPr>
      </p:sp>
      <p:sp>
        <p:nvSpPr>
          <p:cNvPr id="9" name="content-4-text-7"/>
          <p:cNvSpPr txBox="1"/>
          <p:nvPr/>
        </p:nvSpPr>
        <p:spPr>
          <a:xfrm>
            <a:off x="2212848" y="1508760"/>
            <a:ext cx="1335024" cy="548640"/>
          </a:xfrm>
          <a:prstGeom prst="rect">
            <a:avLst/>
          </a:prstGeom>
          <a:noFill/>
          <a:ln/>
        </p:spPr>
        <p:txBody>
          <a:bodyPr wrap="square" lIns="0" tIns="0" rIns="0" bIns="0" rtlCol="0" anchor="ctr"/>
          <a:lstStyle/>
          <a:p>
            <a:pPr algn="ctr" indent="0" marL="0">
              <a:buNone/>
            </a:pPr>
            <a:r>
              <a:rPr lang="en-US" sz="1400" b="1" dirty="0">
                <a:solidFill>
                  <a:schemeClr val="bg1"/>
                </a:solidFill>
              </a:rPr>
              <a:t>AD bank</a:t>
            </a:r>
            <a:endParaRPr lang="en-US" sz="1400" dirty="0"/>
          </a:p>
        </p:txBody>
      </p:sp>
      <p:sp>
        <p:nvSpPr>
          <p:cNvPr id="10" name="content-4-text-8"/>
          <p:cNvSpPr txBox="1"/>
          <p:nvPr/>
        </p:nvSpPr>
        <p:spPr>
          <a:xfrm>
            <a:off x="2212848" y="2103120"/>
            <a:ext cx="1335024" cy="685800"/>
          </a:xfrm>
          <a:prstGeom prst="rect">
            <a:avLst/>
          </a:prstGeom>
          <a:noFill/>
          <a:ln/>
        </p:spPr>
        <p:txBody>
          <a:bodyPr wrap="square" lIns="0" tIns="0" rIns="0" bIns="0" rtlCol="0" anchor="t"/>
          <a:lstStyle/>
          <a:p>
            <a:pPr algn="ctr" indent="0" marL="0">
              <a:buNone/>
            </a:pPr>
            <a:r>
              <a:rPr lang="en-US" sz="1200" dirty="0">
                <a:solidFill>
                  <a:schemeClr val="bg2"/>
                </a:solidFill>
              </a:rPr>
              <a:t>sells FX, sends SWIFT message</a:t>
            </a:r>
            <a:endParaRPr lang="en-US" sz="1200" dirty="0"/>
          </a:p>
        </p:txBody>
      </p:sp>
      <p:sp>
        <p:nvSpPr>
          <p:cNvPr id="11" name="content-4-text-9"/>
          <p:cNvSpPr txBox="1"/>
          <p:nvPr/>
        </p:nvSpPr>
        <p:spPr>
          <a:xfrm>
            <a:off x="2139696" y="3200400"/>
            <a:ext cx="1481328" cy="594360"/>
          </a:xfrm>
          <a:prstGeom prst="rect">
            <a:avLst/>
          </a:prstGeom>
          <a:noFill/>
          <a:ln/>
        </p:spPr>
        <p:txBody>
          <a:bodyPr wrap="square" lIns="0" tIns="0" rIns="0" bIns="0" rtlCol="0" anchor="t"/>
          <a:lstStyle/>
          <a:p>
            <a:pPr algn="ctr" indent="0" marL="0">
              <a:buNone/>
            </a:pPr>
            <a:r>
              <a:rPr lang="en-US" sz="1200" b="1" dirty="0">
                <a:solidFill>
                  <a:schemeClr val="accent3"/>
                </a:solidFill>
              </a:rPr>
              <a:t>Wrong BIC: payment bounces</a:t>
            </a:r>
            <a:endParaRPr lang="en-US" sz="1200" dirty="0"/>
          </a:p>
        </p:txBody>
      </p:sp>
      <p:sp>
        <p:nvSpPr>
          <p:cNvPr id="12" name="content-4-arrow-10"/>
          <p:cNvSpPr/>
          <p:nvPr/>
        </p:nvSpPr>
        <p:spPr>
          <a:xfrm>
            <a:off x="3639312" y="2130552"/>
            <a:ext cx="164592" cy="0"/>
          </a:xfrm>
          <a:prstGeom prst="line">
            <a:avLst/>
          </a:prstGeom>
          <a:noFill/>
          <a:ln w="25400">
            <a:solidFill>
              <a:schemeClr val="tx2"/>
            </a:solidFill>
            <a:prstDash val="solid"/>
            <a:tailEnd type="triangle"/>
          </a:ln>
        </p:spPr>
      </p:sp>
      <p:sp>
        <p:nvSpPr>
          <p:cNvPr id="13" name="content-4-rect-11"/>
          <p:cNvSpPr/>
          <p:nvPr/>
        </p:nvSpPr>
        <p:spPr>
          <a:xfrm>
            <a:off x="3822192" y="1417320"/>
            <a:ext cx="1481328" cy="1417320"/>
          </a:xfrm>
          <a:prstGeom prst="roundRect">
            <a:avLst>
              <a:gd name="adj" fmla="val 5161"/>
            </a:avLst>
          </a:prstGeom>
          <a:solidFill>
            <a:schemeClr val="tx1"/>
          </a:solidFill>
          <a:ln/>
        </p:spPr>
      </p:sp>
      <p:sp>
        <p:nvSpPr>
          <p:cNvPr id="14" name="content-4-text-12"/>
          <p:cNvSpPr txBox="1"/>
          <p:nvPr/>
        </p:nvSpPr>
        <p:spPr>
          <a:xfrm>
            <a:off x="3895344" y="1508760"/>
            <a:ext cx="1335024" cy="548640"/>
          </a:xfrm>
          <a:prstGeom prst="rect">
            <a:avLst/>
          </a:prstGeom>
          <a:noFill/>
          <a:ln/>
        </p:spPr>
        <p:txBody>
          <a:bodyPr wrap="square" lIns="0" tIns="0" rIns="0" bIns="0" rtlCol="0" anchor="ctr"/>
          <a:lstStyle/>
          <a:p>
            <a:pPr algn="ctr" indent="0" marL="0">
              <a:buNone/>
            </a:pPr>
            <a:r>
              <a:rPr lang="en-US" sz="1400" b="1" dirty="0">
                <a:solidFill>
                  <a:schemeClr val="bg1"/>
                </a:solidFill>
              </a:rPr>
              <a:t>Correspondent bank</a:t>
            </a:r>
            <a:endParaRPr lang="en-US" sz="1400" dirty="0"/>
          </a:p>
        </p:txBody>
      </p:sp>
      <p:sp>
        <p:nvSpPr>
          <p:cNvPr id="15" name="content-4-text-13"/>
          <p:cNvSpPr txBox="1"/>
          <p:nvPr/>
        </p:nvSpPr>
        <p:spPr>
          <a:xfrm>
            <a:off x="3895344" y="2103120"/>
            <a:ext cx="1335024" cy="685800"/>
          </a:xfrm>
          <a:prstGeom prst="rect">
            <a:avLst/>
          </a:prstGeom>
          <a:noFill/>
          <a:ln/>
        </p:spPr>
        <p:txBody>
          <a:bodyPr wrap="square" lIns="0" tIns="0" rIns="0" bIns="0" rtlCol="0" anchor="t"/>
          <a:lstStyle/>
          <a:p>
            <a:pPr algn="ctr" indent="0" marL="0">
              <a:buNone/>
            </a:pPr>
            <a:r>
              <a:rPr lang="en-US" sz="1200" dirty="0">
                <a:solidFill>
                  <a:schemeClr val="bg2"/>
                </a:solidFill>
              </a:rPr>
              <a:t>may deduct a lifting fee</a:t>
            </a:r>
            <a:endParaRPr lang="en-US" sz="1200" dirty="0"/>
          </a:p>
        </p:txBody>
      </p:sp>
      <p:sp>
        <p:nvSpPr>
          <p:cNvPr id="16" name="content-4-text-14"/>
          <p:cNvSpPr txBox="1"/>
          <p:nvPr/>
        </p:nvSpPr>
        <p:spPr>
          <a:xfrm>
            <a:off x="3822192" y="3200400"/>
            <a:ext cx="1481328" cy="594360"/>
          </a:xfrm>
          <a:prstGeom prst="rect">
            <a:avLst/>
          </a:prstGeom>
          <a:noFill/>
          <a:ln/>
        </p:spPr>
        <p:txBody>
          <a:bodyPr wrap="square" lIns="0" tIns="0" rIns="0" bIns="0" rtlCol="0" anchor="t"/>
          <a:lstStyle/>
          <a:p>
            <a:pPr algn="ctr" indent="0" marL="0">
              <a:buNone/>
            </a:pPr>
            <a:r>
              <a:rPr lang="en-US" sz="1200" b="1" dirty="0">
                <a:solidFill>
                  <a:schemeClr val="accent3"/>
                </a:solidFill>
              </a:rPr>
              <a:t>Fee deducted: tuition short</a:t>
            </a:r>
            <a:endParaRPr lang="en-US" sz="1200" dirty="0"/>
          </a:p>
        </p:txBody>
      </p:sp>
      <p:sp>
        <p:nvSpPr>
          <p:cNvPr id="17" name="content-4-arrow-15"/>
          <p:cNvSpPr/>
          <p:nvPr/>
        </p:nvSpPr>
        <p:spPr>
          <a:xfrm>
            <a:off x="5321808" y="2130552"/>
            <a:ext cx="164592" cy="0"/>
          </a:xfrm>
          <a:prstGeom prst="line">
            <a:avLst/>
          </a:prstGeom>
          <a:noFill/>
          <a:ln w="25400">
            <a:solidFill>
              <a:schemeClr val="tx2"/>
            </a:solidFill>
            <a:prstDash val="solid"/>
            <a:tailEnd type="triangle"/>
          </a:ln>
        </p:spPr>
      </p:sp>
      <p:sp>
        <p:nvSpPr>
          <p:cNvPr id="18" name="content-4-rect-16"/>
          <p:cNvSpPr/>
          <p:nvPr/>
        </p:nvSpPr>
        <p:spPr>
          <a:xfrm>
            <a:off x="5504688" y="1417320"/>
            <a:ext cx="1481328" cy="1417320"/>
          </a:xfrm>
          <a:prstGeom prst="roundRect">
            <a:avLst>
              <a:gd name="adj" fmla="val 5161"/>
            </a:avLst>
          </a:prstGeom>
          <a:solidFill>
            <a:schemeClr val="tx1"/>
          </a:solidFill>
          <a:ln/>
        </p:spPr>
      </p:sp>
      <p:sp>
        <p:nvSpPr>
          <p:cNvPr id="19" name="content-4-text-17"/>
          <p:cNvSpPr txBox="1"/>
          <p:nvPr/>
        </p:nvSpPr>
        <p:spPr>
          <a:xfrm>
            <a:off x="5577840" y="1508760"/>
            <a:ext cx="1335024" cy="548640"/>
          </a:xfrm>
          <a:prstGeom prst="rect">
            <a:avLst/>
          </a:prstGeom>
          <a:noFill/>
          <a:ln/>
        </p:spPr>
        <p:txBody>
          <a:bodyPr wrap="square" lIns="0" tIns="0" rIns="0" bIns="0" rtlCol="0" anchor="ctr"/>
          <a:lstStyle/>
          <a:p>
            <a:pPr algn="ctr" indent="0" marL="0">
              <a:buNone/>
            </a:pPr>
            <a:r>
              <a:rPr lang="en-US" sz="1400" b="1" dirty="0">
                <a:solidFill>
                  <a:schemeClr val="bg1"/>
                </a:solidFill>
              </a:rPr>
              <a:t>Receiving bank</a:t>
            </a:r>
            <a:endParaRPr lang="en-US" sz="1400" dirty="0"/>
          </a:p>
        </p:txBody>
      </p:sp>
      <p:sp>
        <p:nvSpPr>
          <p:cNvPr id="20" name="content-4-text-18"/>
          <p:cNvSpPr txBox="1"/>
          <p:nvPr/>
        </p:nvSpPr>
        <p:spPr>
          <a:xfrm>
            <a:off x="5577840" y="2103120"/>
            <a:ext cx="1335024" cy="685800"/>
          </a:xfrm>
          <a:prstGeom prst="rect">
            <a:avLst/>
          </a:prstGeom>
          <a:noFill/>
          <a:ln/>
        </p:spPr>
        <p:txBody>
          <a:bodyPr wrap="square" lIns="0" tIns="0" rIns="0" bIns="0" rtlCol="0" anchor="t"/>
          <a:lstStyle/>
          <a:p>
            <a:pPr algn="ctr" indent="0" marL="0">
              <a:buNone/>
            </a:pPr>
            <a:r>
              <a:rPr lang="en-US" sz="1200" dirty="0">
                <a:solidFill>
                  <a:schemeClr val="bg2"/>
                </a:solidFill>
              </a:rPr>
              <a:t>credits, may deduct a fee</a:t>
            </a:r>
            <a:endParaRPr lang="en-US" sz="1200" dirty="0"/>
          </a:p>
        </p:txBody>
      </p:sp>
      <p:sp>
        <p:nvSpPr>
          <p:cNvPr id="21" name="content-4-text-19"/>
          <p:cNvSpPr txBox="1"/>
          <p:nvPr/>
        </p:nvSpPr>
        <p:spPr>
          <a:xfrm>
            <a:off x="5504688" y="3200400"/>
            <a:ext cx="1481328" cy="594360"/>
          </a:xfrm>
          <a:prstGeom prst="rect">
            <a:avLst/>
          </a:prstGeom>
          <a:noFill/>
          <a:ln/>
        </p:spPr>
        <p:txBody>
          <a:bodyPr wrap="square" lIns="0" tIns="0" rIns="0" bIns="0" rtlCol="0" anchor="t"/>
          <a:lstStyle/>
          <a:p>
            <a:pPr algn="ctr" indent="0" marL="0">
              <a:buNone/>
            </a:pPr>
            <a:r>
              <a:rPr lang="en-US" sz="1200" b="1" dirty="0">
                <a:solidFill>
                  <a:schemeClr val="accent3"/>
                </a:solidFill>
              </a:rPr>
              <a:t>Hold or receiving fee</a:t>
            </a:r>
            <a:endParaRPr lang="en-US" sz="1200" dirty="0"/>
          </a:p>
        </p:txBody>
      </p:sp>
      <p:sp>
        <p:nvSpPr>
          <p:cNvPr id="22" name="content-4-arrow-20"/>
          <p:cNvSpPr/>
          <p:nvPr/>
        </p:nvSpPr>
        <p:spPr>
          <a:xfrm>
            <a:off x="7004304" y="2130552"/>
            <a:ext cx="164592" cy="0"/>
          </a:xfrm>
          <a:prstGeom prst="line">
            <a:avLst/>
          </a:prstGeom>
          <a:noFill/>
          <a:ln w="25400">
            <a:solidFill>
              <a:schemeClr val="tx2"/>
            </a:solidFill>
            <a:prstDash val="solid"/>
            <a:tailEnd type="triangle"/>
          </a:ln>
        </p:spPr>
      </p:sp>
      <p:sp>
        <p:nvSpPr>
          <p:cNvPr id="23" name="content-4-rect-21"/>
          <p:cNvSpPr/>
          <p:nvPr/>
        </p:nvSpPr>
        <p:spPr>
          <a:xfrm>
            <a:off x="7187184" y="1417320"/>
            <a:ext cx="1481328" cy="1417320"/>
          </a:xfrm>
          <a:prstGeom prst="roundRect">
            <a:avLst>
              <a:gd name="adj" fmla="val 5161"/>
            </a:avLst>
          </a:prstGeom>
          <a:solidFill>
            <a:schemeClr val="accent1"/>
          </a:solidFill>
          <a:ln/>
        </p:spPr>
      </p:sp>
      <p:sp>
        <p:nvSpPr>
          <p:cNvPr id="24" name="content-4-text-22"/>
          <p:cNvSpPr txBox="1"/>
          <p:nvPr/>
        </p:nvSpPr>
        <p:spPr>
          <a:xfrm>
            <a:off x="7260336" y="1508760"/>
            <a:ext cx="1335024" cy="548640"/>
          </a:xfrm>
          <a:prstGeom prst="rect">
            <a:avLst/>
          </a:prstGeom>
          <a:noFill/>
          <a:ln/>
        </p:spPr>
        <p:txBody>
          <a:bodyPr wrap="square" lIns="0" tIns="0" rIns="0" bIns="0" rtlCol="0" anchor="ctr"/>
          <a:lstStyle/>
          <a:p>
            <a:pPr algn="ctr" indent="0" marL="0">
              <a:buNone/>
            </a:pPr>
            <a:r>
              <a:rPr lang="en-US" sz="1400" b="1" dirty="0">
                <a:solidFill>
                  <a:schemeClr val="bg1"/>
                </a:solidFill>
              </a:rPr>
              <a:t>University</a:t>
            </a:r>
            <a:endParaRPr lang="en-US" sz="1400" dirty="0"/>
          </a:p>
        </p:txBody>
      </p:sp>
      <p:sp>
        <p:nvSpPr>
          <p:cNvPr id="25" name="content-4-text-23"/>
          <p:cNvSpPr txBox="1"/>
          <p:nvPr/>
        </p:nvSpPr>
        <p:spPr>
          <a:xfrm>
            <a:off x="7260336" y="2103120"/>
            <a:ext cx="1335024" cy="685800"/>
          </a:xfrm>
          <a:prstGeom prst="rect">
            <a:avLst/>
          </a:prstGeom>
          <a:noFill/>
          <a:ln/>
        </p:spPr>
        <p:txBody>
          <a:bodyPr wrap="square" lIns="0" tIns="0" rIns="0" bIns="0" rtlCol="0" anchor="t"/>
          <a:lstStyle/>
          <a:p>
            <a:pPr algn="ctr" indent="0" marL="0">
              <a:buNone/>
            </a:pPr>
            <a:r>
              <a:rPr lang="en-US" sz="1200" dirty="0">
                <a:solidFill>
                  <a:schemeClr val="bg2"/>
                </a:solidFill>
              </a:rPr>
              <a:t>matches by reference</a:t>
            </a:r>
            <a:endParaRPr lang="en-US" sz="1200" dirty="0"/>
          </a:p>
        </p:txBody>
      </p:sp>
      <p:sp>
        <p:nvSpPr>
          <p:cNvPr id="26" name="content-4-text-24"/>
          <p:cNvSpPr txBox="1"/>
          <p:nvPr/>
        </p:nvSpPr>
        <p:spPr>
          <a:xfrm>
            <a:off x="7187184" y="3200400"/>
            <a:ext cx="1481328" cy="594360"/>
          </a:xfrm>
          <a:prstGeom prst="rect">
            <a:avLst/>
          </a:prstGeom>
          <a:noFill/>
          <a:ln/>
        </p:spPr>
        <p:txBody>
          <a:bodyPr wrap="square" lIns="0" tIns="0" rIns="0" bIns="0" rtlCol="0" anchor="t"/>
          <a:lstStyle/>
          <a:p>
            <a:pPr algn="ctr" indent="0" marL="0">
              <a:buNone/>
            </a:pPr>
            <a:r>
              <a:rPr lang="en-US" sz="1200" b="1" dirty="0">
                <a:solidFill>
                  <a:schemeClr val="accent3"/>
                </a:solidFill>
              </a:rPr>
              <a:t>No reference: unmatched</a:t>
            </a:r>
            <a:endParaRPr lang="en-US" sz="1200" dirty="0"/>
          </a:p>
        </p:txBody>
      </p:sp>
      <p:sp>
        <p:nvSpPr>
          <p:cNvPr id="27" name="content-4-text-25"/>
          <p:cNvSpPr txBox="1"/>
          <p:nvPr/>
        </p:nvSpPr>
        <p:spPr>
          <a:xfrm>
            <a:off x="457200" y="2926080"/>
            <a:ext cx="3657600" cy="256032"/>
          </a:xfrm>
          <a:prstGeom prst="rect">
            <a:avLst/>
          </a:prstGeom>
          <a:noFill/>
          <a:ln/>
        </p:spPr>
        <p:txBody>
          <a:bodyPr wrap="square" lIns="0" tIns="0" rIns="0" bIns="0" rtlCol="0" anchor="t"/>
          <a:lstStyle/>
          <a:p>
            <a:pPr algn="l" indent="0" marL="0">
              <a:buNone/>
            </a:pPr>
            <a:r>
              <a:rPr lang="en-US" sz="1200" b="1" dirty="0">
                <a:solidFill>
                  <a:schemeClr val="tx2"/>
                </a:solidFill>
              </a:rPr>
              <a:t>Where it goes wrong</a:t>
            </a:r>
            <a:endParaRPr lang="en-US" sz="1200" dirty="0"/>
          </a:p>
        </p:txBody>
      </p:sp>
      <p:sp>
        <p:nvSpPr>
          <p:cNvPr id="28" name="content-4-text-26"/>
          <p:cNvSpPr txBox="1"/>
          <p:nvPr/>
        </p:nvSpPr>
        <p:spPr>
          <a:xfrm>
            <a:off x="457200" y="3977640"/>
            <a:ext cx="8229600" cy="365760"/>
          </a:xfrm>
          <a:prstGeom prst="rect">
            <a:avLst/>
          </a:prstGeom>
          <a:noFill/>
          <a:ln/>
        </p:spPr>
        <p:txBody>
          <a:bodyPr wrap="square" lIns="0" tIns="0" rIns="0" bIns="0" rtlCol="0" anchor="ctr"/>
          <a:lstStyle/>
          <a:p>
            <a:pPr algn="l" indent="0" marL="0">
              <a:buNone/>
            </a:pPr>
            <a:r>
              <a:rPr lang="en-US" sz="1600" b="1" dirty="0">
                <a:solidFill>
                  <a:schemeClr val="tx1"/>
                </a:solidFill>
              </a:rPr>
              <a:t>SWIFT carries the instruction. Banks settle between their own accounts.</a:t>
            </a:r>
            <a:endParaRPr lang="en-US" sz="1600" dirty="0"/>
          </a:p>
        </p:txBody>
      </p:sp>
      <p:sp>
        <p:nvSpPr>
          <p:cNvPr id="29" name="content-4-text-27"/>
          <p:cNvSpPr txBox="1"/>
          <p:nvPr/>
        </p:nvSpPr>
        <p:spPr>
          <a:xfrm>
            <a:off x="457200" y="4389120"/>
            <a:ext cx="8229600" cy="365760"/>
          </a:xfrm>
          <a:prstGeom prst="rect">
            <a:avLst/>
          </a:prstGeom>
          <a:noFill/>
          <a:ln/>
        </p:spPr>
        <p:txBody>
          <a:bodyPr wrap="square" lIns="0" tIns="0" rIns="0" bIns="0" rtlCol="0" anchor="ctr"/>
          <a:lstStyle/>
          <a:p>
            <a:pPr algn="l" indent="0" marL="0">
              <a:buNone/>
            </a:pPr>
            <a:r>
              <a:rPr lang="en-US" sz="1400" i="1" dirty="0">
                <a:solidFill>
                  <a:schemeClr val="accent1"/>
                </a:solidFill>
              </a:rPr>
              <a:t>StudyRoute simulates this chain with invented banks. It moves no real money.</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From question to settled payment</a:t>
            </a:r>
            <a:endParaRPr lang="en-US" sz="3600" dirty="0"/>
          </a:p>
        </p:txBody>
      </p:sp>
      <p:sp>
        <p:nvSpPr>
          <p:cNvPr id="3" name="content-5-rect-1"/>
          <p:cNvSpPr/>
          <p:nvPr/>
        </p:nvSpPr>
        <p:spPr>
          <a:xfrm>
            <a:off x="457200" y="1234440"/>
            <a:ext cx="4114800" cy="3246120"/>
          </a:xfrm>
          <a:prstGeom prst="roundRect">
            <a:avLst>
              <a:gd name="adj" fmla="val 1690"/>
            </a:avLst>
          </a:prstGeom>
          <a:solidFill>
            <a:schemeClr val="bg1"/>
          </a:solidFill>
          <a:ln w="9525">
            <a:solidFill>
              <a:schemeClr val="accent5"/>
            </a:solidFill>
            <a:prstDash val="solid"/>
          </a:ln>
          <a:effectLst>
            <a:outerShdw sx="100000" sy="100000" kx="0" ky="0" algn="bl" rotWithShape="0" blurRad="101600" dist="25400" dir="5400000">
              <a:srgbClr val="0B2545">
                <a:alpha val="18000"/>
              </a:srgbClr>
            </a:outerShdw>
          </a:effectLst>
        </p:spPr>
      </p:sp>
      <p:pic>
        <p:nvPicPr>
          <p:cNvPr id="4" name="content-5-image-2" descr="The assistant's payment plan built from one sentence">    </p:cNvPr>
          <p:cNvPicPr>
            <a:picLocks noChangeAspect="1"/>
          </p:cNvPicPr>
          <p:nvPr/>
        </p:nvPicPr>
        <p:blipFill>
          <a:blip r:embed="rId1"/>
          <a:stretch>
            <a:fillRect/>
          </a:stretch>
        </p:blipFill>
        <p:spPr>
          <a:xfrm>
            <a:off x="530352" y="1307592"/>
            <a:ext cx="3968496" cy="3099816"/>
          </a:xfrm>
          <a:prstGeom prst="rect">
            <a:avLst/>
          </a:prstGeom>
        </p:spPr>
      </p:pic>
      <p:sp>
        <p:nvSpPr>
          <p:cNvPr id="5" name="content-5-text-3"/>
          <p:cNvSpPr txBox="1"/>
          <p:nvPr/>
        </p:nvSpPr>
        <p:spPr>
          <a:xfrm>
            <a:off x="457200" y="4526280"/>
            <a:ext cx="4114800" cy="274320"/>
          </a:xfrm>
          <a:prstGeom prst="rect">
            <a:avLst/>
          </a:prstGeom>
          <a:noFill/>
          <a:ln/>
        </p:spPr>
        <p:txBody>
          <a:bodyPr wrap="square" lIns="0" tIns="0" rIns="0" bIns="0" rtlCol="0" anchor="t"/>
          <a:lstStyle/>
          <a:p>
            <a:pPr algn="l" indent="0" marL="0">
              <a:buNone/>
            </a:pPr>
            <a:r>
              <a:rPr lang="en-US" sz="1100" dirty="0">
                <a:solidFill>
                  <a:schemeClr val="tx2"/>
                </a:solidFill>
              </a:rPr>
              <a:t>One sentence in the chat. Synthetic data.</a:t>
            </a:r>
            <a:endParaRPr lang="en-US" sz="1100" dirty="0"/>
          </a:p>
        </p:txBody>
      </p:sp>
      <p:sp>
        <p:nvSpPr>
          <p:cNvPr id="6" name="content-5-rect-4"/>
          <p:cNvSpPr/>
          <p:nvPr/>
        </p:nvSpPr>
        <p:spPr>
          <a:xfrm>
            <a:off x="4892040" y="1380744"/>
            <a:ext cx="713232" cy="292608"/>
          </a:xfrm>
          <a:prstGeom prst="roundRect">
            <a:avLst>
              <a:gd name="adj" fmla="val 25000"/>
            </a:avLst>
          </a:prstGeom>
          <a:solidFill>
            <a:schemeClr val="accent1"/>
          </a:solidFill>
          <a:ln/>
        </p:spPr>
      </p:sp>
      <p:sp>
        <p:nvSpPr>
          <p:cNvPr id="7" name="content-5-text-5"/>
          <p:cNvSpPr txBox="1"/>
          <p:nvPr/>
        </p:nvSpPr>
        <p:spPr>
          <a:xfrm>
            <a:off x="4892040" y="138074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AGENT</a:t>
            </a:r>
            <a:endParaRPr lang="en-US" sz="1100" dirty="0"/>
          </a:p>
        </p:txBody>
      </p:sp>
      <p:sp>
        <p:nvSpPr>
          <p:cNvPr id="8" name="content-5-text-6"/>
          <p:cNvSpPr txBox="1"/>
          <p:nvPr/>
        </p:nvSpPr>
        <p:spPr>
          <a:xfrm>
            <a:off x="5742432" y="132588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Reads one sentence, makes the quote</a:t>
            </a:r>
            <a:endParaRPr lang="en-US" sz="1400" dirty="0"/>
          </a:p>
        </p:txBody>
      </p:sp>
      <p:sp>
        <p:nvSpPr>
          <p:cNvPr id="9" name="content-5-rect-7"/>
          <p:cNvSpPr/>
          <p:nvPr/>
        </p:nvSpPr>
        <p:spPr>
          <a:xfrm>
            <a:off x="4892040" y="1929384"/>
            <a:ext cx="713232" cy="292608"/>
          </a:xfrm>
          <a:prstGeom prst="roundRect">
            <a:avLst>
              <a:gd name="adj" fmla="val 25000"/>
            </a:avLst>
          </a:prstGeom>
          <a:solidFill>
            <a:schemeClr val="accent1"/>
          </a:solidFill>
          <a:ln/>
        </p:spPr>
      </p:sp>
      <p:sp>
        <p:nvSpPr>
          <p:cNvPr id="10" name="content-5-text-8"/>
          <p:cNvSpPr txBox="1"/>
          <p:nvPr/>
        </p:nvSpPr>
        <p:spPr>
          <a:xfrm>
            <a:off x="4892040" y="192938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AGENT</a:t>
            </a:r>
            <a:endParaRPr lang="en-US" sz="1100" dirty="0"/>
          </a:p>
        </p:txBody>
      </p:sp>
      <p:sp>
        <p:nvSpPr>
          <p:cNvPr id="11" name="content-5-text-9"/>
          <p:cNvSpPr txBox="1"/>
          <p:nvPr/>
        </p:nvSpPr>
        <p:spPr>
          <a:xfrm>
            <a:off x="5742432" y="187452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Ranks, plans deadline, checks KYC</a:t>
            </a:r>
            <a:endParaRPr lang="en-US" sz="1400" dirty="0"/>
          </a:p>
        </p:txBody>
      </p:sp>
      <p:sp>
        <p:nvSpPr>
          <p:cNvPr id="12" name="content-5-rect-10"/>
          <p:cNvSpPr/>
          <p:nvPr/>
        </p:nvSpPr>
        <p:spPr>
          <a:xfrm>
            <a:off x="4892040" y="2478024"/>
            <a:ext cx="713232" cy="292608"/>
          </a:xfrm>
          <a:prstGeom prst="roundRect">
            <a:avLst>
              <a:gd name="adj" fmla="val 25000"/>
            </a:avLst>
          </a:prstGeom>
          <a:solidFill>
            <a:schemeClr val="tx1"/>
          </a:solidFill>
          <a:ln/>
        </p:spPr>
      </p:sp>
      <p:sp>
        <p:nvSpPr>
          <p:cNvPr id="13" name="content-5-text-11"/>
          <p:cNvSpPr txBox="1"/>
          <p:nvPr/>
        </p:nvSpPr>
        <p:spPr>
          <a:xfrm>
            <a:off x="4892040" y="247802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YOU</a:t>
            </a:r>
            <a:endParaRPr lang="en-US" sz="1100" dirty="0"/>
          </a:p>
        </p:txBody>
      </p:sp>
      <p:sp>
        <p:nvSpPr>
          <p:cNvPr id="14" name="content-5-text-12"/>
          <p:cNvSpPr txBox="1"/>
          <p:nvPr/>
        </p:nvSpPr>
        <p:spPr>
          <a:xfrm>
            <a:off x="5742432" y="242316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Create a draft, choose recipient</a:t>
            </a:r>
            <a:endParaRPr lang="en-US" sz="1400" dirty="0"/>
          </a:p>
        </p:txBody>
      </p:sp>
      <p:sp>
        <p:nvSpPr>
          <p:cNvPr id="15" name="content-5-rect-13"/>
          <p:cNvSpPr/>
          <p:nvPr/>
        </p:nvSpPr>
        <p:spPr>
          <a:xfrm>
            <a:off x="4892040" y="3026664"/>
            <a:ext cx="713232" cy="292608"/>
          </a:xfrm>
          <a:prstGeom prst="roundRect">
            <a:avLst>
              <a:gd name="adj" fmla="val 25000"/>
            </a:avLst>
          </a:prstGeom>
          <a:solidFill>
            <a:schemeClr val="accent1"/>
          </a:solidFill>
          <a:ln/>
        </p:spPr>
      </p:sp>
      <p:sp>
        <p:nvSpPr>
          <p:cNvPr id="16" name="content-5-text-14"/>
          <p:cNvSpPr txBox="1"/>
          <p:nvPr/>
        </p:nvSpPr>
        <p:spPr>
          <a:xfrm>
            <a:off x="4892040" y="302666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AGENT</a:t>
            </a:r>
            <a:endParaRPr lang="en-US" sz="1100" dirty="0"/>
          </a:p>
        </p:txBody>
      </p:sp>
      <p:sp>
        <p:nvSpPr>
          <p:cNvPr id="17" name="content-5-text-15"/>
          <p:cNvSpPr txBox="1"/>
          <p:nvPr/>
        </p:nvSpPr>
        <p:spPr>
          <a:xfrm>
            <a:off x="5742432" y="297180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Gates: KYC, allowlist, caps</a:t>
            </a:r>
            <a:endParaRPr lang="en-US" sz="1400" dirty="0"/>
          </a:p>
        </p:txBody>
      </p:sp>
      <p:sp>
        <p:nvSpPr>
          <p:cNvPr id="18" name="content-5-rect-16"/>
          <p:cNvSpPr/>
          <p:nvPr/>
        </p:nvSpPr>
        <p:spPr>
          <a:xfrm>
            <a:off x="4892040" y="3575304"/>
            <a:ext cx="713232" cy="292608"/>
          </a:xfrm>
          <a:prstGeom prst="roundRect">
            <a:avLst>
              <a:gd name="adj" fmla="val 25000"/>
            </a:avLst>
          </a:prstGeom>
          <a:solidFill>
            <a:schemeClr val="tx1"/>
          </a:solidFill>
          <a:ln/>
        </p:spPr>
      </p:sp>
      <p:sp>
        <p:nvSpPr>
          <p:cNvPr id="19" name="content-5-text-17"/>
          <p:cNvSpPr txBox="1"/>
          <p:nvPr/>
        </p:nvSpPr>
        <p:spPr>
          <a:xfrm>
            <a:off x="4892040" y="357530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YOU</a:t>
            </a:r>
            <a:endParaRPr lang="en-US" sz="1100" dirty="0"/>
          </a:p>
        </p:txBody>
      </p:sp>
      <p:sp>
        <p:nvSpPr>
          <p:cNvPr id="20" name="content-5-text-18"/>
          <p:cNvSpPr txBox="1"/>
          <p:nvPr/>
        </p:nvSpPr>
        <p:spPr>
          <a:xfrm>
            <a:off x="5742432" y="352044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Approve with a fresh MFA code</a:t>
            </a:r>
            <a:endParaRPr lang="en-US" sz="1400" dirty="0"/>
          </a:p>
        </p:txBody>
      </p:sp>
      <p:sp>
        <p:nvSpPr>
          <p:cNvPr id="21" name="content-5-rect-19"/>
          <p:cNvSpPr/>
          <p:nvPr/>
        </p:nvSpPr>
        <p:spPr>
          <a:xfrm>
            <a:off x="4892040" y="4123944"/>
            <a:ext cx="713232" cy="292608"/>
          </a:xfrm>
          <a:prstGeom prst="roundRect">
            <a:avLst>
              <a:gd name="adj" fmla="val 25000"/>
            </a:avLst>
          </a:prstGeom>
          <a:solidFill>
            <a:schemeClr val="accent1"/>
          </a:solidFill>
          <a:ln/>
        </p:spPr>
      </p:sp>
      <p:sp>
        <p:nvSpPr>
          <p:cNvPr id="22" name="content-5-text-20"/>
          <p:cNvSpPr txBox="1"/>
          <p:nvPr/>
        </p:nvSpPr>
        <p:spPr>
          <a:xfrm>
            <a:off x="4892040" y="412394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AGENT</a:t>
            </a:r>
            <a:endParaRPr lang="en-US" sz="1100" dirty="0"/>
          </a:p>
        </p:txBody>
      </p:sp>
      <p:sp>
        <p:nvSpPr>
          <p:cNvPr id="23" name="content-5-text-21"/>
          <p:cNvSpPr txBox="1"/>
          <p:nvPr/>
        </p:nvSpPr>
        <p:spPr>
          <a:xfrm>
            <a:off x="5742432" y="406908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Tracks to SETTLED, seals a report</a:t>
            </a:r>
            <a:endParaRPr lang="en-US" sz="1400" dirty="0"/>
          </a:p>
        </p:txBody>
      </p:sp>
      <p:sp>
        <p:nvSpPr>
          <p:cNvPr id="24" name="content-5-text-22"/>
          <p:cNvSpPr txBox="1"/>
          <p:nvPr/>
        </p:nvSpPr>
        <p:spPr>
          <a:xfrm>
            <a:off x="4892040" y="4572000"/>
            <a:ext cx="3840480" cy="274320"/>
          </a:xfrm>
          <a:prstGeom prst="rect">
            <a:avLst/>
          </a:prstGeom>
          <a:noFill/>
          <a:ln/>
        </p:spPr>
        <p:txBody>
          <a:bodyPr wrap="square" lIns="0" tIns="0" rIns="0" bIns="0" rtlCol="0" anchor="t"/>
          <a:lstStyle/>
          <a:p>
            <a:pPr algn="l" indent="0" marL="0">
              <a:buNone/>
            </a:pPr>
            <a:r>
              <a:rPr lang="en-US" sz="1100" dirty="0">
                <a:solidFill>
                  <a:schemeClr val="tx2"/>
                </a:solidFill>
              </a:rPr>
              <a:t>AGENT: StudyRoute does it. YOU: a person decides.</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The engine does the maths</a:t>
            </a:r>
            <a:endParaRPr lang="en-US" sz="3600" dirty="0"/>
          </a:p>
        </p:txBody>
      </p:sp>
      <p:graphicFrame>
        <p:nvGraphicFramePr>
          <p:cNvPr id="7" name="content-6-table-1"/>
          <p:cNvGraphicFramePr>
            <a:graphicFrameLocks noGrp="1"/>
          </p:cNvGraphicFramePr>
          <p:nvPr>
            <p:extLst>
              <p:ext uri="{D42A27DB-BD31-4B8C-83A1-F6EECF244321}">
                <p14:modId xmlns:p14="http://schemas.microsoft.com/office/powerpoint/2010/main" val="1579011935"/>
              </p:ext>
            </p:extLst>
          </p:nvPr>
        </p:nvGraphicFramePr>
        <p:xfrm>
          <a:off x="457200" y="1280160"/>
          <a:ext cx="4846320" cy="914400"/>
        </p:xfrm>
        <a:graphic>
          <a:graphicData uri="http://schemas.openxmlformats.org/drawingml/2006/table">
            <a:tbl>
              <a:tblPr/>
              <a:tblGrid>
                <a:gridCol w="868680"/>
                <a:gridCol w="685800"/>
                <a:gridCol w="1005840"/>
                <a:gridCol w="777240"/>
                <a:gridCol w="1508760"/>
              </a:tblGrid>
              <a:tr h="457200">
                <a:tc>
                  <a:txBody>
                    <a:bodyPr/>
                    <a:lstStyle/>
                    <a:p>
                      <a:pPr algn="l" indent="0" marL="0">
                        <a:buNone/>
                      </a:pPr>
                      <a:r>
                        <a:rPr lang="en-US" sz="1400" b="1" dirty="0">
                          <a:solidFill>
                            <a:schemeClr val="bg1"/>
                          </a:solidFill>
                        </a:rPr>
                        <a:t>Provider</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Charge</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Shortfall</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Cost %</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You pay</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r>
              <a:tr h="457200">
                <a:tc>
                  <a:txBody>
                    <a:bodyPr/>
                    <a:lstStyle/>
                    <a:p>
                      <a:pPr algn="l" indent="0" marL="0">
                        <a:buNone/>
                      </a:pPr>
                      <a:r>
                        <a:rPr lang="en-US" sz="1400" b="1" dirty="0">
                          <a:solidFill>
                            <a:schemeClr val="tx1"/>
                          </a:solidFill>
                        </a:rPr>
                        <a:t>B (1st)</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OUR</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none</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b="1" dirty="0">
                          <a:solidFill>
                            <a:schemeClr val="tx1"/>
                          </a:solidFill>
                        </a:rPr>
                        <a:t>1.58%</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BDT 1,625,300</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r>
              <a:tr h="457200">
                <a:tc>
                  <a:txBody>
                    <a:bodyPr/>
                    <a:lstStyle/>
                    <a:p>
                      <a:pPr algn="l" indent="0" marL="0">
                        <a:buNone/>
                      </a:pPr>
                      <a:r>
                        <a:rPr lang="en-US" sz="1400" b="1" dirty="0">
                          <a:solidFill>
                            <a:schemeClr val="tx1"/>
                          </a:solidFill>
                        </a:rPr>
                        <a:t>C (2nd)</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SHA</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b="1" dirty="0">
                          <a:solidFill>
                            <a:schemeClr val="accent3"/>
                          </a:solidFill>
                        </a:rPr>
                        <a:t>GBP 35</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b="1" dirty="0">
                          <a:solidFill>
                            <a:schemeClr val="tx1"/>
                          </a:solidFill>
                        </a:rPr>
                        <a:t>1.63%</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BDT 1,620,500</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r h="457200">
                <a:tc>
                  <a:txBody>
                    <a:bodyPr/>
                    <a:lstStyle/>
                    <a:p>
                      <a:pPr algn="l" indent="0" marL="0">
                        <a:buNone/>
                      </a:pPr>
                      <a:r>
                        <a:rPr lang="en-US" sz="1400" b="1" dirty="0">
                          <a:solidFill>
                            <a:schemeClr val="tx1"/>
                          </a:solidFill>
                        </a:rPr>
                        <a:t>A (3rd)</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OUR</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none</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b="1" dirty="0">
                          <a:solidFill>
                            <a:schemeClr val="tx1"/>
                          </a:solidFill>
                        </a:rPr>
                        <a:t>2.16%</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BDT 1,634,500</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bl>
          </a:graphicData>
        </a:graphic>
      </p:graphicFrame>
      <p:sp>
        <p:nvSpPr>
          <p:cNvPr id="4" name="content-6-text-2"/>
          <p:cNvSpPr txBox="1"/>
          <p:nvPr/>
        </p:nvSpPr>
        <p:spPr>
          <a:xfrm>
            <a:off x="457200" y="3291840"/>
            <a:ext cx="4846320" cy="731520"/>
          </a:xfrm>
          <a:prstGeom prst="rect">
            <a:avLst/>
          </a:prstGeom>
          <a:noFill/>
          <a:ln/>
        </p:spPr>
        <p:txBody>
          <a:bodyPr wrap="square" lIns="0" tIns="0" rIns="0" bIns="0" rtlCol="0" anchor="t"/>
          <a:lstStyle/>
          <a:p>
            <a:pPr algn="l" indent="0" marL="0">
              <a:buNone/>
            </a:pPr>
            <a:r>
              <a:rPr lang="en-US" sz="1200" dirty="0">
                <a:solidFill>
                  <a:schemeClr val="tx2"/>
                </a:solidFill>
              </a:rPr>
              <a:t>Cost % = (FX margin + fixed fee + SWIFT fee + fees you pay + shortfall) / amount at the mid-market rate</a:t>
            </a:r>
            <a:endParaRPr lang="en-US" sz="1200" dirty="0"/>
          </a:p>
        </p:txBody>
      </p:sp>
      <p:sp>
        <p:nvSpPr>
          <p:cNvPr id="5" name="content-6-text-3"/>
          <p:cNvSpPr txBox="1"/>
          <p:nvPr/>
        </p:nvSpPr>
        <p:spPr>
          <a:xfrm>
            <a:off x="457200" y="4069080"/>
            <a:ext cx="4846320" cy="594360"/>
          </a:xfrm>
          <a:prstGeom prst="rect">
            <a:avLst/>
          </a:prstGeom>
          <a:noFill/>
          <a:ln/>
        </p:spPr>
        <p:txBody>
          <a:bodyPr wrap="square" lIns="0" tIns="0" rIns="0" bIns="0" rtlCol="0" anchor="t"/>
          <a:lstStyle/>
          <a:p>
            <a:pPr algn="l" indent="0" marL="0">
              <a:buNone/>
            </a:pPr>
            <a:r>
              <a:rPr lang="en-US" sz="1200" b="1" dirty="0">
                <a:solidFill>
                  <a:schemeClr val="tx1"/>
                </a:solidFill>
              </a:rPr>
              <a:t>Smart send plan: the same GBP 12,000 costs BDT 68,400 sent monthly and BDT 28,500 sent at once. Synthetic rates.</a:t>
            </a:r>
            <a:endParaRPr lang="en-US" sz="1200" dirty="0"/>
          </a:p>
        </p:txBody>
      </p:sp>
      <p:sp>
        <p:nvSpPr>
          <p:cNvPr id="6" name="content-6-text-4"/>
          <p:cNvSpPr txBox="1"/>
          <p:nvPr/>
        </p:nvSpPr>
        <p:spPr>
          <a:xfrm>
            <a:off x="5577840" y="1234440"/>
            <a:ext cx="3108960" cy="457200"/>
          </a:xfrm>
          <a:prstGeom prst="rect">
            <a:avLst/>
          </a:prstGeom>
          <a:noFill/>
          <a:ln/>
        </p:spPr>
        <p:txBody>
          <a:bodyPr wrap="square" lIns="0" tIns="0" rIns="0" bIns="0" rtlCol="0" anchor="t"/>
          <a:lstStyle/>
          <a:p>
            <a:pPr algn="l" indent="0" marL="0">
              <a:buNone/>
            </a:pPr>
            <a:r>
              <a:rPr lang="en-US" sz="1400" b="1" dirty="0">
                <a:solidFill>
                  <a:schemeClr val="tx1"/>
                </a:solidFill>
              </a:rPr>
              <a:t>Where Provider B's BDT 25,300 goes</a:t>
            </a:r>
            <a:endParaRPr lang="en-US" sz="1400" dirty="0"/>
          </a:p>
        </p:txBody>
      </p:sp>
      <p:graphicFrame>
        <p:nvGraphicFramePr>
          <p:cNvPr id="7" name="Chart 0" descr=""/>
          <p:cNvGraphicFramePr/>
          <p:nvPr/>
        </p:nvGraphicFramePr>
        <p:xfrm>
          <a:off x="6035040" y="1737360"/>
          <a:ext cx="1920240" cy="1920240"/>
        </p:xfrm>
        <a:graphic xmlns:a="http://schemas.openxmlformats.org/drawingml/2006/main">
          <a:graphicData uri="http://schemas.openxmlformats.org/drawingml/2006/chart">
            <c:chart xmlns:c="http://schemas.openxmlformats.org/drawingml/2006/chart" r:id="rId1"/>
          </a:graphicData>
        </a:graphic>
      </p:graphicFrame>
      <p:sp>
        <p:nvSpPr>
          <p:cNvPr id="8" name="content-6-text-6"/>
          <p:cNvSpPr txBox="1"/>
          <p:nvPr/>
        </p:nvSpPr>
        <p:spPr>
          <a:xfrm>
            <a:off x="6035040" y="2423160"/>
            <a:ext cx="1920240" cy="548640"/>
          </a:xfrm>
          <a:prstGeom prst="rect">
            <a:avLst/>
          </a:prstGeom>
          <a:noFill/>
          <a:ln/>
        </p:spPr>
        <p:txBody>
          <a:bodyPr wrap="square" lIns="0" tIns="0" rIns="0" bIns="0" rtlCol="0" anchor="ctr"/>
          <a:lstStyle/>
          <a:p>
            <a:pPr algn="ctr" indent="0" marL="0">
              <a:buNone/>
            </a:pPr>
            <a:r>
              <a:rPr lang="en-US" sz="1400" b="1" dirty="0">
                <a:solidFill>
                  <a:schemeClr val="tx1"/>
                </a:solidFill>
              </a:rPr>
              <a:t>BDT 25,300</a:t>
            </a:r>
            <a:endParaRPr lang="en-US" sz="1400" dirty="0"/>
          </a:p>
        </p:txBody>
      </p:sp>
      <p:sp>
        <p:nvSpPr>
          <p:cNvPr id="9" name="content-6-rect-7"/>
          <p:cNvSpPr/>
          <p:nvPr/>
        </p:nvSpPr>
        <p:spPr>
          <a:xfrm>
            <a:off x="5577840" y="3931920"/>
            <a:ext cx="146304" cy="146304"/>
          </a:xfrm>
          <a:prstGeom prst="rect">
            <a:avLst/>
          </a:prstGeom>
          <a:solidFill>
            <a:schemeClr val="accent1"/>
          </a:solidFill>
          <a:ln/>
        </p:spPr>
      </p:sp>
      <p:sp>
        <p:nvSpPr>
          <p:cNvPr id="10" name="content-6-text-8"/>
          <p:cNvSpPr txBox="1"/>
          <p:nvPr/>
        </p:nvSpPr>
        <p:spPr>
          <a:xfrm>
            <a:off x="5797296" y="3840480"/>
            <a:ext cx="1371600" cy="329184"/>
          </a:xfrm>
          <a:prstGeom prst="rect">
            <a:avLst/>
          </a:prstGeom>
          <a:noFill/>
          <a:ln/>
        </p:spPr>
        <p:txBody>
          <a:bodyPr wrap="square" lIns="0" tIns="0" rIns="0" bIns="0" rtlCol="0" anchor="ctr"/>
          <a:lstStyle/>
          <a:p>
            <a:pPr algn="l" indent="0" marL="0">
              <a:buNone/>
            </a:pPr>
            <a:r>
              <a:rPr lang="en-US" sz="1200" dirty="0">
                <a:solidFill>
                  <a:schemeClr val="tx1"/>
                </a:solidFill>
              </a:rPr>
              <a:t>FX margin 63%</a:t>
            </a:r>
            <a:endParaRPr lang="en-US" sz="1200" dirty="0"/>
          </a:p>
        </p:txBody>
      </p:sp>
      <p:sp>
        <p:nvSpPr>
          <p:cNvPr id="11" name="content-6-rect-9"/>
          <p:cNvSpPr/>
          <p:nvPr/>
        </p:nvSpPr>
        <p:spPr>
          <a:xfrm>
            <a:off x="7178040" y="3931920"/>
            <a:ext cx="146304" cy="146304"/>
          </a:xfrm>
          <a:prstGeom prst="rect">
            <a:avLst/>
          </a:prstGeom>
          <a:solidFill>
            <a:schemeClr val="accent4"/>
          </a:solidFill>
          <a:ln/>
        </p:spPr>
      </p:sp>
      <p:sp>
        <p:nvSpPr>
          <p:cNvPr id="12" name="content-6-text-10"/>
          <p:cNvSpPr txBox="1"/>
          <p:nvPr/>
        </p:nvSpPr>
        <p:spPr>
          <a:xfrm>
            <a:off x="7397496" y="3840480"/>
            <a:ext cx="1371600" cy="329184"/>
          </a:xfrm>
          <a:prstGeom prst="rect">
            <a:avLst/>
          </a:prstGeom>
          <a:noFill/>
          <a:ln/>
        </p:spPr>
        <p:txBody>
          <a:bodyPr wrap="square" lIns="0" tIns="0" rIns="0" bIns="0" rtlCol="0" anchor="ctr"/>
          <a:lstStyle/>
          <a:p>
            <a:pPr algn="l" indent="0" marL="0">
              <a:buNone/>
            </a:pPr>
            <a:r>
              <a:rPr lang="en-US" sz="1200" dirty="0">
                <a:solidFill>
                  <a:schemeClr val="tx1"/>
                </a:solidFill>
              </a:rPr>
              <a:t>Fixed fee 12%</a:t>
            </a:r>
            <a:endParaRPr lang="en-US" sz="1200" dirty="0"/>
          </a:p>
        </p:txBody>
      </p:sp>
      <p:sp>
        <p:nvSpPr>
          <p:cNvPr id="13" name="content-6-rect-11"/>
          <p:cNvSpPr/>
          <p:nvPr/>
        </p:nvSpPr>
        <p:spPr>
          <a:xfrm>
            <a:off x="5577840" y="4343400"/>
            <a:ext cx="146304" cy="146304"/>
          </a:xfrm>
          <a:prstGeom prst="rect">
            <a:avLst/>
          </a:prstGeom>
          <a:solidFill>
            <a:schemeClr val="accent2"/>
          </a:solidFill>
          <a:ln/>
        </p:spPr>
      </p:sp>
      <p:sp>
        <p:nvSpPr>
          <p:cNvPr id="14" name="content-6-text-12"/>
          <p:cNvSpPr txBox="1"/>
          <p:nvPr/>
        </p:nvSpPr>
        <p:spPr>
          <a:xfrm>
            <a:off x="5797296" y="4251960"/>
            <a:ext cx="1371600" cy="329184"/>
          </a:xfrm>
          <a:prstGeom prst="rect">
            <a:avLst/>
          </a:prstGeom>
          <a:noFill/>
          <a:ln/>
        </p:spPr>
        <p:txBody>
          <a:bodyPr wrap="square" lIns="0" tIns="0" rIns="0" bIns="0" rtlCol="0" anchor="ctr"/>
          <a:lstStyle/>
          <a:p>
            <a:pPr algn="l" indent="0" marL="0">
              <a:buNone/>
            </a:pPr>
            <a:r>
              <a:rPr lang="en-US" sz="1200" dirty="0">
                <a:solidFill>
                  <a:schemeClr val="tx1"/>
                </a:solidFill>
              </a:rPr>
              <a:t>SWIFT fee 6%</a:t>
            </a:r>
            <a:endParaRPr lang="en-US" sz="1200" dirty="0"/>
          </a:p>
        </p:txBody>
      </p:sp>
      <p:sp>
        <p:nvSpPr>
          <p:cNvPr id="15" name="content-6-rect-13"/>
          <p:cNvSpPr/>
          <p:nvPr/>
        </p:nvSpPr>
        <p:spPr>
          <a:xfrm>
            <a:off x="7178040" y="4343400"/>
            <a:ext cx="146304" cy="146304"/>
          </a:xfrm>
          <a:prstGeom prst="rect">
            <a:avLst/>
          </a:prstGeom>
          <a:solidFill>
            <a:schemeClr val="accent3"/>
          </a:solidFill>
          <a:ln/>
        </p:spPr>
      </p:sp>
      <p:sp>
        <p:nvSpPr>
          <p:cNvPr id="16" name="content-6-text-14"/>
          <p:cNvSpPr txBox="1"/>
          <p:nvPr/>
        </p:nvSpPr>
        <p:spPr>
          <a:xfrm>
            <a:off x="7397496" y="4251960"/>
            <a:ext cx="1371600" cy="329184"/>
          </a:xfrm>
          <a:prstGeom prst="rect">
            <a:avLst/>
          </a:prstGeom>
          <a:noFill/>
          <a:ln/>
        </p:spPr>
        <p:txBody>
          <a:bodyPr wrap="square" lIns="0" tIns="0" rIns="0" bIns="0" rtlCol="0" anchor="ctr"/>
          <a:lstStyle/>
          <a:p>
            <a:pPr algn="l" indent="0" marL="0">
              <a:buNone/>
            </a:pPr>
            <a:r>
              <a:rPr lang="en-US" sz="1200" dirty="0">
                <a:solidFill>
                  <a:schemeClr val="tx1"/>
                </a:solidFill>
              </a:rPr>
              <a:t>OUR fees 19%</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An AI that cannot cheat</a:t>
            </a:r>
            <a:endParaRPr lang="en-US" sz="3600" dirty="0"/>
          </a:p>
        </p:txBody>
      </p:sp>
      <p:sp>
        <p:nvSpPr>
          <p:cNvPr id="3" name="content-7-rect-1"/>
          <p:cNvSpPr/>
          <p:nvPr/>
        </p:nvSpPr>
        <p:spPr>
          <a:xfrm>
            <a:off x="457200" y="1280160"/>
            <a:ext cx="1051560" cy="731520"/>
          </a:xfrm>
          <a:prstGeom prst="roundRect">
            <a:avLst>
              <a:gd name="adj" fmla="val 10000"/>
            </a:avLst>
          </a:prstGeom>
          <a:solidFill>
            <a:schemeClr val="tx1"/>
          </a:solidFill>
          <a:ln/>
        </p:spPr>
      </p:sp>
      <p:sp>
        <p:nvSpPr>
          <p:cNvPr id="4" name="content-7-text-2"/>
          <p:cNvSpPr txBox="1"/>
          <p:nvPr/>
        </p:nvSpPr>
        <p:spPr>
          <a:xfrm>
            <a:off x="502920" y="1280160"/>
            <a:ext cx="960120" cy="731520"/>
          </a:xfrm>
          <a:prstGeom prst="rect">
            <a:avLst/>
          </a:prstGeom>
          <a:noFill/>
          <a:ln/>
        </p:spPr>
        <p:txBody>
          <a:bodyPr wrap="square" lIns="0" tIns="0" rIns="0" bIns="0" rtlCol="0" anchor="ctr"/>
          <a:lstStyle/>
          <a:p>
            <a:pPr algn="ctr" indent="0" marL="0">
              <a:buNone/>
            </a:pPr>
            <a:r>
              <a:rPr lang="en-US" sz="1200" b="1" dirty="0">
                <a:solidFill>
                  <a:schemeClr val="bg1"/>
                </a:solidFill>
              </a:rPr>
              <a:t>1  Policy check</a:t>
            </a:r>
            <a:endParaRPr lang="en-US" sz="1200" dirty="0"/>
          </a:p>
        </p:txBody>
      </p:sp>
      <p:sp>
        <p:nvSpPr>
          <p:cNvPr id="5" name="content-7-rect-3"/>
          <p:cNvSpPr/>
          <p:nvPr/>
        </p:nvSpPr>
        <p:spPr>
          <a:xfrm>
            <a:off x="1645920" y="1280160"/>
            <a:ext cx="1051560" cy="731520"/>
          </a:xfrm>
          <a:prstGeom prst="roundRect">
            <a:avLst>
              <a:gd name="adj" fmla="val 10000"/>
            </a:avLst>
          </a:prstGeom>
          <a:solidFill>
            <a:schemeClr val="tx1"/>
          </a:solidFill>
          <a:ln/>
        </p:spPr>
      </p:sp>
      <p:sp>
        <p:nvSpPr>
          <p:cNvPr id="6" name="content-7-text-4"/>
          <p:cNvSpPr txBox="1"/>
          <p:nvPr/>
        </p:nvSpPr>
        <p:spPr>
          <a:xfrm>
            <a:off x="1691640" y="1280160"/>
            <a:ext cx="960120" cy="731520"/>
          </a:xfrm>
          <a:prstGeom prst="rect">
            <a:avLst/>
          </a:prstGeom>
          <a:noFill/>
          <a:ln/>
        </p:spPr>
        <p:txBody>
          <a:bodyPr wrap="square" lIns="0" tIns="0" rIns="0" bIns="0" rtlCol="0" anchor="ctr"/>
          <a:lstStyle/>
          <a:p>
            <a:pPr algn="ctr" indent="0" marL="0">
              <a:buNone/>
            </a:pPr>
            <a:r>
              <a:rPr lang="en-US" sz="1200" b="1" dirty="0">
                <a:solidFill>
                  <a:schemeClr val="bg1"/>
                </a:solidFill>
              </a:rPr>
              <a:t>2  Engine facts</a:t>
            </a:r>
            <a:endParaRPr lang="en-US" sz="1200" dirty="0"/>
          </a:p>
        </p:txBody>
      </p:sp>
      <p:sp>
        <p:nvSpPr>
          <p:cNvPr id="7" name="content-7-rect-5"/>
          <p:cNvSpPr/>
          <p:nvPr/>
        </p:nvSpPr>
        <p:spPr>
          <a:xfrm>
            <a:off x="2834640" y="1280160"/>
            <a:ext cx="1051560" cy="731520"/>
          </a:xfrm>
          <a:prstGeom prst="roundRect">
            <a:avLst>
              <a:gd name="adj" fmla="val 10000"/>
            </a:avLst>
          </a:prstGeom>
          <a:solidFill>
            <a:schemeClr val="tx1"/>
          </a:solidFill>
          <a:ln/>
        </p:spPr>
      </p:sp>
      <p:sp>
        <p:nvSpPr>
          <p:cNvPr id="8" name="content-7-text-6"/>
          <p:cNvSpPr txBox="1"/>
          <p:nvPr/>
        </p:nvSpPr>
        <p:spPr>
          <a:xfrm>
            <a:off x="2880360" y="1280160"/>
            <a:ext cx="960120" cy="731520"/>
          </a:xfrm>
          <a:prstGeom prst="rect">
            <a:avLst/>
          </a:prstGeom>
          <a:noFill/>
          <a:ln/>
        </p:spPr>
        <p:txBody>
          <a:bodyPr wrap="square" lIns="0" tIns="0" rIns="0" bIns="0" rtlCol="0" anchor="ctr"/>
          <a:lstStyle/>
          <a:p>
            <a:pPr algn="ctr" indent="0" marL="0">
              <a:buNone/>
            </a:pPr>
            <a:r>
              <a:rPr lang="en-US" sz="1200" b="1" dirty="0">
                <a:solidFill>
                  <a:schemeClr val="bg1"/>
                </a:solidFill>
              </a:rPr>
              <a:t>3  Mask personal data</a:t>
            </a:r>
            <a:endParaRPr lang="en-US" sz="1200" dirty="0"/>
          </a:p>
        </p:txBody>
      </p:sp>
      <p:sp>
        <p:nvSpPr>
          <p:cNvPr id="9" name="content-7-rect-7"/>
          <p:cNvSpPr/>
          <p:nvPr/>
        </p:nvSpPr>
        <p:spPr>
          <a:xfrm>
            <a:off x="4023360" y="1280160"/>
            <a:ext cx="1051560" cy="731520"/>
          </a:xfrm>
          <a:prstGeom prst="roundRect">
            <a:avLst>
              <a:gd name="adj" fmla="val 10000"/>
            </a:avLst>
          </a:prstGeom>
          <a:solidFill>
            <a:schemeClr val="accent2"/>
          </a:solidFill>
          <a:ln/>
        </p:spPr>
      </p:sp>
      <p:sp>
        <p:nvSpPr>
          <p:cNvPr id="10" name="content-7-text-8"/>
          <p:cNvSpPr txBox="1"/>
          <p:nvPr/>
        </p:nvSpPr>
        <p:spPr>
          <a:xfrm>
            <a:off x="4069080" y="1280160"/>
            <a:ext cx="960120" cy="731520"/>
          </a:xfrm>
          <a:prstGeom prst="rect">
            <a:avLst/>
          </a:prstGeom>
          <a:noFill/>
          <a:ln/>
        </p:spPr>
        <p:txBody>
          <a:bodyPr wrap="square" lIns="0" tIns="0" rIns="0" bIns="0" rtlCol="0" anchor="ctr"/>
          <a:lstStyle/>
          <a:p>
            <a:pPr algn="ctr" indent="0" marL="0">
              <a:buNone/>
            </a:pPr>
            <a:r>
              <a:rPr lang="en-US" sz="1200" b="1" dirty="0">
                <a:solidFill>
                  <a:schemeClr val="tx1"/>
                </a:solidFill>
              </a:rPr>
              <a:t>4  Model (optional)</a:t>
            </a:r>
            <a:endParaRPr lang="en-US" sz="1200" dirty="0"/>
          </a:p>
        </p:txBody>
      </p:sp>
      <p:sp>
        <p:nvSpPr>
          <p:cNvPr id="11" name="content-7-rect-9"/>
          <p:cNvSpPr/>
          <p:nvPr/>
        </p:nvSpPr>
        <p:spPr>
          <a:xfrm>
            <a:off x="5212080" y="1280160"/>
            <a:ext cx="1051560" cy="731520"/>
          </a:xfrm>
          <a:prstGeom prst="roundRect">
            <a:avLst>
              <a:gd name="adj" fmla="val 10000"/>
            </a:avLst>
          </a:prstGeom>
          <a:solidFill>
            <a:schemeClr val="tx1"/>
          </a:solidFill>
          <a:ln/>
        </p:spPr>
      </p:sp>
      <p:sp>
        <p:nvSpPr>
          <p:cNvPr id="12" name="content-7-text-10"/>
          <p:cNvSpPr txBox="1"/>
          <p:nvPr/>
        </p:nvSpPr>
        <p:spPr>
          <a:xfrm>
            <a:off x="5257800" y="1280160"/>
            <a:ext cx="960120" cy="731520"/>
          </a:xfrm>
          <a:prstGeom prst="rect">
            <a:avLst/>
          </a:prstGeom>
          <a:noFill/>
          <a:ln/>
        </p:spPr>
        <p:txBody>
          <a:bodyPr wrap="square" lIns="0" tIns="0" rIns="0" bIns="0" rtlCol="0" anchor="ctr"/>
          <a:lstStyle/>
          <a:p>
            <a:pPr algn="ctr" indent="0" marL="0">
              <a:buNone/>
            </a:pPr>
            <a:r>
              <a:rPr lang="en-US" sz="1200" b="1" dirty="0">
                <a:solidFill>
                  <a:schemeClr val="bg1"/>
                </a:solidFill>
              </a:rPr>
              <a:t>5  Number guard</a:t>
            </a:r>
            <a:endParaRPr lang="en-US" sz="1200" dirty="0"/>
          </a:p>
        </p:txBody>
      </p:sp>
      <p:sp>
        <p:nvSpPr>
          <p:cNvPr id="13" name="content-7-rect-11"/>
          <p:cNvSpPr/>
          <p:nvPr/>
        </p:nvSpPr>
        <p:spPr>
          <a:xfrm>
            <a:off x="6400800" y="1280160"/>
            <a:ext cx="1051560" cy="731520"/>
          </a:xfrm>
          <a:prstGeom prst="roundRect">
            <a:avLst>
              <a:gd name="adj" fmla="val 10000"/>
            </a:avLst>
          </a:prstGeom>
          <a:solidFill>
            <a:schemeClr val="tx1"/>
          </a:solidFill>
          <a:ln/>
        </p:spPr>
      </p:sp>
      <p:sp>
        <p:nvSpPr>
          <p:cNvPr id="14" name="content-7-text-12"/>
          <p:cNvSpPr txBox="1"/>
          <p:nvPr/>
        </p:nvSpPr>
        <p:spPr>
          <a:xfrm>
            <a:off x="6446520" y="1280160"/>
            <a:ext cx="960120" cy="731520"/>
          </a:xfrm>
          <a:prstGeom prst="rect">
            <a:avLst/>
          </a:prstGeom>
          <a:noFill/>
          <a:ln/>
        </p:spPr>
        <p:txBody>
          <a:bodyPr wrap="square" lIns="0" tIns="0" rIns="0" bIns="0" rtlCol="0" anchor="ctr"/>
          <a:lstStyle/>
          <a:p>
            <a:pPr algn="ctr" indent="0" marL="0">
              <a:buNone/>
            </a:pPr>
            <a:r>
              <a:rPr lang="en-US" sz="1200" b="1" dirty="0">
                <a:solidFill>
                  <a:schemeClr val="bg1"/>
                </a:solidFill>
              </a:rPr>
              <a:t>6  Tool guard</a:t>
            </a:r>
            <a:endParaRPr lang="en-US" sz="1200" dirty="0"/>
          </a:p>
        </p:txBody>
      </p:sp>
      <p:sp>
        <p:nvSpPr>
          <p:cNvPr id="15" name="content-7-rect-13"/>
          <p:cNvSpPr/>
          <p:nvPr/>
        </p:nvSpPr>
        <p:spPr>
          <a:xfrm>
            <a:off x="7589520" y="1280160"/>
            <a:ext cx="1051560" cy="731520"/>
          </a:xfrm>
          <a:prstGeom prst="roundRect">
            <a:avLst>
              <a:gd name="adj" fmla="val 10000"/>
            </a:avLst>
          </a:prstGeom>
          <a:solidFill>
            <a:schemeClr val="tx1"/>
          </a:solidFill>
          <a:ln/>
        </p:spPr>
      </p:sp>
      <p:sp>
        <p:nvSpPr>
          <p:cNvPr id="16" name="content-7-text-14"/>
          <p:cNvSpPr txBox="1"/>
          <p:nvPr/>
        </p:nvSpPr>
        <p:spPr>
          <a:xfrm>
            <a:off x="7635240" y="1280160"/>
            <a:ext cx="960120" cy="731520"/>
          </a:xfrm>
          <a:prstGeom prst="rect">
            <a:avLst/>
          </a:prstGeom>
          <a:noFill/>
          <a:ln/>
        </p:spPr>
        <p:txBody>
          <a:bodyPr wrap="square" lIns="0" tIns="0" rIns="0" bIns="0" rtlCol="0" anchor="ctr"/>
          <a:lstStyle/>
          <a:p>
            <a:pPr algn="ctr" indent="0" marL="0">
              <a:buNone/>
            </a:pPr>
            <a:r>
              <a:rPr lang="en-US" sz="1200" b="1" dirty="0">
                <a:solidFill>
                  <a:schemeClr val="bg1"/>
                </a:solidFill>
              </a:rPr>
              <a:t>7  Audit</a:t>
            </a:r>
            <a:endParaRPr lang="en-US" sz="1200" dirty="0"/>
          </a:p>
        </p:txBody>
      </p:sp>
      <p:sp>
        <p:nvSpPr>
          <p:cNvPr id="17" name="content-7-text-15"/>
          <p:cNvSpPr txBox="1"/>
          <p:nvPr/>
        </p:nvSpPr>
        <p:spPr>
          <a:xfrm>
            <a:off x="457200" y="2084832"/>
            <a:ext cx="8229600" cy="292608"/>
          </a:xfrm>
          <a:prstGeom prst="rect">
            <a:avLst/>
          </a:prstGeom>
          <a:noFill/>
          <a:ln/>
        </p:spPr>
        <p:txBody>
          <a:bodyPr wrap="square" lIns="0" tIns="0" rIns="0" bIns="0" rtlCol="0" anchor="t"/>
          <a:lstStyle/>
          <a:p>
            <a:pPr algn="l" indent="0" marL="0">
              <a:buNone/>
            </a:pPr>
            <a:r>
              <a:rPr lang="en-US" sz="1200" dirty="0">
                <a:solidFill>
                  <a:schemeClr val="tx2"/>
                </a:solidFill>
              </a:rPr>
              <a:t>Only step 4 is not deterministic, and it is optional. A flagged message never reaches it.</a:t>
            </a:r>
            <a:endParaRPr lang="en-US" sz="1200" dirty="0"/>
          </a:p>
        </p:txBody>
      </p:sp>
      <p:sp>
        <p:nvSpPr>
          <p:cNvPr id="18" name="content-7-rect-16"/>
          <p:cNvSpPr/>
          <p:nvPr/>
        </p:nvSpPr>
        <p:spPr>
          <a:xfrm>
            <a:off x="457200" y="2514600"/>
            <a:ext cx="2651760" cy="2194560"/>
          </a:xfrm>
          <a:prstGeom prst="roundRect">
            <a:avLst>
              <a:gd name="adj" fmla="val 3333"/>
            </a:avLst>
          </a:prstGeom>
          <a:solidFill>
            <a:schemeClr val="bg2"/>
          </a:solidFill>
          <a:ln/>
        </p:spPr>
      </p:sp>
      <p:sp>
        <p:nvSpPr>
          <p:cNvPr id="19" name="content-7-text-17"/>
          <p:cNvSpPr txBox="1"/>
          <p:nvPr/>
        </p:nvSpPr>
        <p:spPr>
          <a:xfrm>
            <a:off x="640080" y="2651760"/>
            <a:ext cx="2286000" cy="640080"/>
          </a:xfrm>
          <a:prstGeom prst="rect">
            <a:avLst/>
          </a:prstGeom>
          <a:noFill/>
          <a:ln/>
        </p:spPr>
        <p:txBody>
          <a:bodyPr wrap="square" lIns="0" tIns="0" rIns="0" bIns="0" rtlCol="0" anchor="t"/>
          <a:lstStyle/>
          <a:p>
            <a:pPr algn="l" indent="0" marL="0">
              <a:buNone/>
            </a:pPr>
            <a:r>
              <a:rPr lang="en-US" sz="1600" b="1" dirty="0">
                <a:solidFill>
                  <a:schemeClr val="tx1"/>
                </a:solidFill>
              </a:rPr>
              <a:t>Every number comes from the engine</a:t>
            </a:r>
            <a:endParaRPr lang="en-US" sz="1600" dirty="0"/>
          </a:p>
        </p:txBody>
      </p:sp>
      <p:sp>
        <p:nvSpPr>
          <p:cNvPr id="20" name="content-7-text-18"/>
          <p:cNvSpPr txBox="1"/>
          <p:nvPr/>
        </p:nvSpPr>
        <p:spPr>
          <a:xfrm>
            <a:off x="640080" y="3337560"/>
            <a:ext cx="2286000" cy="1280160"/>
          </a:xfrm>
          <a:prstGeom prst="rect">
            <a:avLst/>
          </a:prstGeom>
          <a:noFill/>
          <a:ln/>
        </p:spPr>
        <p:txBody>
          <a:bodyPr wrap="square" lIns="0" tIns="0" rIns="0" bIns="0" rtlCol="0" anchor="t"/>
          <a:lstStyle/>
          <a:p>
            <a:pPr algn="l" indent="0" marL="0">
              <a:buNone/>
            </a:pPr>
            <a:r>
              <a:rPr lang="en-US" sz="1400" dirty="0">
                <a:solidFill>
                  <a:schemeClr val="tx2"/>
                </a:solidFill>
              </a:rPr>
              <a:t>A number guard rejects any figure the engine did not produce, then a template answer takes over.</a:t>
            </a:r>
            <a:endParaRPr lang="en-US" sz="1400" dirty="0"/>
          </a:p>
        </p:txBody>
      </p:sp>
      <p:sp>
        <p:nvSpPr>
          <p:cNvPr id="21" name="content-7-rect-19"/>
          <p:cNvSpPr/>
          <p:nvPr/>
        </p:nvSpPr>
        <p:spPr>
          <a:xfrm>
            <a:off x="3246120" y="2514600"/>
            <a:ext cx="2651760" cy="2194560"/>
          </a:xfrm>
          <a:prstGeom prst="roundRect">
            <a:avLst>
              <a:gd name="adj" fmla="val 3333"/>
            </a:avLst>
          </a:prstGeom>
          <a:solidFill>
            <a:schemeClr val="bg2"/>
          </a:solidFill>
          <a:ln/>
        </p:spPr>
      </p:sp>
      <p:sp>
        <p:nvSpPr>
          <p:cNvPr id="22" name="content-7-text-20"/>
          <p:cNvSpPr txBox="1"/>
          <p:nvPr/>
        </p:nvSpPr>
        <p:spPr>
          <a:xfrm>
            <a:off x="3429000" y="2651760"/>
            <a:ext cx="2286000" cy="640080"/>
          </a:xfrm>
          <a:prstGeom prst="rect">
            <a:avLst/>
          </a:prstGeom>
          <a:noFill/>
          <a:ln/>
        </p:spPr>
        <p:txBody>
          <a:bodyPr wrap="square" lIns="0" tIns="0" rIns="0" bIns="0" rtlCol="0" anchor="t"/>
          <a:lstStyle/>
          <a:p>
            <a:pPr algn="l" indent="0" marL="0">
              <a:buNone/>
            </a:pPr>
            <a:r>
              <a:rPr lang="en-US" sz="1600" b="1" dirty="0">
                <a:solidFill>
                  <a:schemeClr val="tx1"/>
                </a:solidFill>
              </a:rPr>
              <a:t>It can only propose</a:t>
            </a:r>
            <a:endParaRPr lang="en-US" sz="1600" dirty="0"/>
          </a:p>
        </p:txBody>
      </p:sp>
      <p:sp>
        <p:nvSpPr>
          <p:cNvPr id="23" name="content-7-text-21"/>
          <p:cNvSpPr txBox="1"/>
          <p:nvPr/>
        </p:nvSpPr>
        <p:spPr>
          <a:xfrm>
            <a:off x="3429000" y="3337560"/>
            <a:ext cx="2286000" cy="1280160"/>
          </a:xfrm>
          <a:prstGeom prst="rect">
            <a:avLst/>
          </a:prstGeom>
          <a:noFill/>
          <a:ln/>
        </p:spPr>
        <p:txBody>
          <a:bodyPr wrap="square" lIns="0" tIns="0" rIns="0" bIns="0" rtlCol="0" anchor="t"/>
          <a:lstStyle/>
          <a:p>
            <a:pPr algn="l" indent="0" marL="0">
              <a:buNone/>
            </a:pPr>
            <a:r>
              <a:rPr lang="en-US" sz="1400" dirty="0">
                <a:solidFill>
                  <a:schemeClr val="tx2"/>
                </a:solidFill>
              </a:rPr>
              <a:t>It may make a quote. It cannot create a payment, approve, submit or cancel. A human approves with MFA.</a:t>
            </a:r>
            <a:endParaRPr lang="en-US" sz="1400" dirty="0"/>
          </a:p>
        </p:txBody>
      </p:sp>
      <p:sp>
        <p:nvSpPr>
          <p:cNvPr id="24" name="content-7-rect-22"/>
          <p:cNvSpPr/>
          <p:nvPr/>
        </p:nvSpPr>
        <p:spPr>
          <a:xfrm>
            <a:off x="6035040" y="2514600"/>
            <a:ext cx="2651760" cy="2194560"/>
          </a:xfrm>
          <a:prstGeom prst="roundRect">
            <a:avLst>
              <a:gd name="adj" fmla="val 3333"/>
            </a:avLst>
          </a:prstGeom>
          <a:solidFill>
            <a:schemeClr val="bg2"/>
          </a:solidFill>
          <a:ln/>
        </p:spPr>
      </p:sp>
      <p:sp>
        <p:nvSpPr>
          <p:cNvPr id="25" name="content-7-text-23"/>
          <p:cNvSpPr txBox="1"/>
          <p:nvPr/>
        </p:nvSpPr>
        <p:spPr>
          <a:xfrm>
            <a:off x="6217920" y="2651760"/>
            <a:ext cx="2286000" cy="640080"/>
          </a:xfrm>
          <a:prstGeom prst="rect">
            <a:avLst/>
          </a:prstGeom>
          <a:noFill/>
          <a:ln/>
        </p:spPr>
        <p:txBody>
          <a:bodyPr wrap="square" lIns="0" tIns="0" rIns="0" bIns="0" rtlCol="0" anchor="t"/>
          <a:lstStyle/>
          <a:p>
            <a:pPr algn="l" indent="0" marL="0">
              <a:buNone/>
            </a:pPr>
            <a:r>
              <a:rPr lang="en-US" sz="1600" b="1" dirty="0">
                <a:solidFill>
                  <a:schemeClr val="tx1"/>
                </a:solidFill>
              </a:rPr>
              <a:t>Works with no key</a:t>
            </a:r>
            <a:endParaRPr lang="en-US" sz="1600" dirty="0"/>
          </a:p>
        </p:txBody>
      </p:sp>
      <p:sp>
        <p:nvSpPr>
          <p:cNvPr id="26" name="content-7-text-24"/>
          <p:cNvSpPr txBox="1"/>
          <p:nvPr/>
        </p:nvSpPr>
        <p:spPr>
          <a:xfrm>
            <a:off x="6217920" y="3337560"/>
            <a:ext cx="2286000" cy="1280160"/>
          </a:xfrm>
          <a:prstGeom prst="rect">
            <a:avLst/>
          </a:prstGeom>
          <a:noFill/>
          <a:ln/>
        </p:spPr>
        <p:txBody>
          <a:bodyPr wrap="square" lIns="0" tIns="0" rIns="0" bIns="0" rtlCol="0" anchor="t"/>
          <a:lstStyle/>
          <a:p>
            <a:pPr algn="l" indent="0" marL="0">
              <a:buNone/>
            </a:pPr>
            <a:r>
              <a:rPr lang="en-US" sz="1400" dirty="0">
                <a:solidFill>
                  <a:schemeClr val="tx2"/>
                </a:solidFill>
              </a:rPr>
              <a:t>Template mode runs the same checks. A real model is one command away: check_ai.</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Security you can verify</a:t>
            </a:r>
            <a:endParaRPr lang="en-US" sz="3600" dirty="0"/>
          </a:p>
        </p:txBody>
      </p:sp>
      <p:sp>
        <p:nvSpPr>
          <p:cNvPr id="3" name="content-8-rect-1"/>
          <p:cNvSpPr/>
          <p:nvPr/>
        </p:nvSpPr>
        <p:spPr>
          <a:xfrm>
            <a:off x="457200" y="1280160"/>
            <a:ext cx="4023360" cy="402336"/>
          </a:xfrm>
          <a:prstGeom prst="roundRect">
            <a:avLst>
              <a:gd name="adj" fmla="val 13636"/>
            </a:avLst>
          </a:prstGeom>
          <a:solidFill>
            <a:schemeClr val="bg2"/>
          </a:solidFill>
          <a:ln/>
        </p:spPr>
      </p:sp>
      <p:sp>
        <p:nvSpPr>
          <p:cNvPr id="4" name="content-8-text-2"/>
          <p:cNvSpPr txBox="1"/>
          <p:nvPr/>
        </p:nvSpPr>
        <p:spPr>
          <a:xfrm>
            <a:off x="594360" y="1280160"/>
            <a:ext cx="3794760" cy="402336"/>
          </a:xfrm>
          <a:prstGeom prst="rect">
            <a:avLst/>
          </a:prstGeom>
          <a:noFill/>
          <a:ln/>
        </p:spPr>
        <p:txBody>
          <a:bodyPr wrap="square" lIns="0" tIns="0" rIns="0" bIns="0" rtlCol="0" anchor="ctr"/>
          <a:lstStyle/>
          <a:p>
            <a:pPr algn="l" indent="0" marL="0">
              <a:buNone/>
            </a:pPr>
            <a:r>
              <a:rPr lang="en-US" sz="1400" b="1" dirty="0">
                <a:solidFill>
                  <a:schemeClr val="tx1"/>
                </a:solidFill>
              </a:rPr>
              <a:t>Public:</a:t>
            </a:r>
            <a:pPr algn="l" indent="0" marL="0">
              <a:buNone/>
            </a:pPr>
            <a:r>
              <a:rPr lang="en-US" sz="1400" dirty="0">
                <a:solidFill>
                  <a:schemeClr val="tx1"/>
                </a:solidFill>
              </a:rPr>
              <a:t> sign in, health</a:t>
            </a:r>
            <a:endParaRPr lang="en-US" sz="1400" dirty="0"/>
          </a:p>
        </p:txBody>
      </p:sp>
      <p:sp>
        <p:nvSpPr>
          <p:cNvPr id="5" name="content-8-rect-3"/>
          <p:cNvSpPr/>
          <p:nvPr/>
        </p:nvSpPr>
        <p:spPr>
          <a:xfrm>
            <a:off x="457200" y="1755648"/>
            <a:ext cx="4023360" cy="402336"/>
          </a:xfrm>
          <a:prstGeom prst="roundRect">
            <a:avLst>
              <a:gd name="adj" fmla="val 13636"/>
            </a:avLst>
          </a:prstGeom>
          <a:solidFill>
            <a:schemeClr val="bg2"/>
          </a:solidFill>
          <a:ln/>
        </p:spPr>
      </p:sp>
      <p:sp>
        <p:nvSpPr>
          <p:cNvPr id="6" name="content-8-text-4"/>
          <p:cNvSpPr txBox="1"/>
          <p:nvPr/>
        </p:nvSpPr>
        <p:spPr>
          <a:xfrm>
            <a:off x="594360" y="1755648"/>
            <a:ext cx="3794760" cy="402336"/>
          </a:xfrm>
          <a:prstGeom prst="rect">
            <a:avLst/>
          </a:prstGeom>
          <a:noFill/>
          <a:ln/>
        </p:spPr>
        <p:txBody>
          <a:bodyPr wrap="square" lIns="0" tIns="0" rIns="0" bIns="0" rtlCol="0" anchor="ctr"/>
          <a:lstStyle/>
          <a:p>
            <a:pPr algn="l" indent="0" marL="0">
              <a:buNone/>
            </a:pPr>
            <a:r>
              <a:rPr lang="en-US" sz="1400" b="1" dirty="0">
                <a:solidFill>
                  <a:schemeClr val="tx1"/>
                </a:solidFill>
              </a:rPr>
              <a:t>Read:</a:t>
            </a:r>
            <a:pPr algn="l" indent="0" marL="0">
              <a:buNone/>
            </a:pPr>
            <a:r>
              <a:rPr lang="en-US" sz="1400" dirty="0">
                <a:solidFill>
                  <a:schemeClr val="tx1"/>
                </a:solidFill>
              </a:rPr>
              <a:t> own household only</a:t>
            </a:r>
            <a:endParaRPr lang="en-US" sz="1400" dirty="0"/>
          </a:p>
        </p:txBody>
      </p:sp>
      <p:sp>
        <p:nvSpPr>
          <p:cNvPr id="7" name="content-8-rect-5"/>
          <p:cNvSpPr/>
          <p:nvPr/>
        </p:nvSpPr>
        <p:spPr>
          <a:xfrm>
            <a:off x="457200" y="2231136"/>
            <a:ext cx="4023360" cy="402336"/>
          </a:xfrm>
          <a:prstGeom prst="roundRect">
            <a:avLst>
              <a:gd name="adj" fmla="val 13636"/>
            </a:avLst>
          </a:prstGeom>
          <a:solidFill>
            <a:schemeClr val="bg2"/>
          </a:solidFill>
          <a:ln/>
        </p:spPr>
      </p:sp>
      <p:sp>
        <p:nvSpPr>
          <p:cNvPr id="8" name="content-8-text-6"/>
          <p:cNvSpPr txBox="1"/>
          <p:nvPr/>
        </p:nvSpPr>
        <p:spPr>
          <a:xfrm>
            <a:off x="594360" y="2231136"/>
            <a:ext cx="3794760" cy="402336"/>
          </a:xfrm>
          <a:prstGeom prst="rect">
            <a:avLst/>
          </a:prstGeom>
          <a:noFill/>
          <a:ln/>
        </p:spPr>
        <p:txBody>
          <a:bodyPr wrap="square" lIns="0" tIns="0" rIns="0" bIns="0" rtlCol="0" anchor="ctr"/>
          <a:lstStyle/>
          <a:p>
            <a:pPr algn="l" indent="0" marL="0">
              <a:buNone/>
            </a:pPr>
            <a:r>
              <a:rPr lang="en-US" sz="1400" b="1" dirty="0">
                <a:solidFill>
                  <a:schemeClr val="tx1"/>
                </a:solidFill>
              </a:rPr>
              <a:t>Prepare:</a:t>
            </a:r>
            <a:pPr algn="l" indent="0" marL="0">
              <a:buNone/>
            </a:pPr>
            <a:r>
              <a:rPr lang="en-US" sz="1400" dirty="0">
                <a:solidFill>
                  <a:schemeClr val="tx1"/>
                </a:solidFill>
              </a:rPr>
              <a:t> drafts, recipients, documents</a:t>
            </a:r>
            <a:endParaRPr lang="en-US" sz="1400" dirty="0"/>
          </a:p>
        </p:txBody>
      </p:sp>
      <p:sp>
        <p:nvSpPr>
          <p:cNvPr id="9" name="content-8-rect-7"/>
          <p:cNvSpPr/>
          <p:nvPr/>
        </p:nvSpPr>
        <p:spPr>
          <a:xfrm>
            <a:off x="457200" y="2706624"/>
            <a:ext cx="4023360" cy="402336"/>
          </a:xfrm>
          <a:prstGeom prst="roundRect">
            <a:avLst>
              <a:gd name="adj" fmla="val 13636"/>
            </a:avLst>
          </a:prstGeom>
          <a:solidFill>
            <a:schemeClr val="accent1"/>
          </a:solidFill>
          <a:ln/>
        </p:spPr>
      </p:sp>
      <p:sp>
        <p:nvSpPr>
          <p:cNvPr id="10" name="content-8-text-8"/>
          <p:cNvSpPr txBox="1"/>
          <p:nvPr/>
        </p:nvSpPr>
        <p:spPr>
          <a:xfrm>
            <a:off x="594360" y="2706624"/>
            <a:ext cx="3794760" cy="402336"/>
          </a:xfrm>
          <a:prstGeom prst="rect">
            <a:avLst/>
          </a:prstGeom>
          <a:noFill/>
          <a:ln/>
        </p:spPr>
        <p:txBody>
          <a:bodyPr wrap="square" lIns="0" tIns="0" rIns="0" bIns="0" rtlCol="0" anchor="ctr"/>
          <a:lstStyle/>
          <a:p>
            <a:pPr algn="l" indent="0" marL="0">
              <a:buNone/>
            </a:pPr>
            <a:r>
              <a:rPr lang="en-US" sz="1400" b="1" dirty="0">
                <a:solidFill>
                  <a:schemeClr val="bg1"/>
                </a:solidFill>
              </a:rPr>
              <a:t>Decide:</a:t>
            </a:r>
            <a:pPr algn="l" indent="0" marL="0">
              <a:buNone/>
            </a:pPr>
            <a:r>
              <a:rPr lang="en-US" sz="1400" dirty="0">
                <a:solidFill>
                  <a:schemeClr val="bg1"/>
                </a:solidFill>
              </a:rPr>
              <a:t> human parent with fresh MFA</a:t>
            </a:r>
            <a:endParaRPr lang="en-US" sz="1400" dirty="0"/>
          </a:p>
        </p:txBody>
      </p:sp>
      <p:sp>
        <p:nvSpPr>
          <p:cNvPr id="11" name="content-8-rect-9"/>
          <p:cNvSpPr/>
          <p:nvPr/>
        </p:nvSpPr>
        <p:spPr>
          <a:xfrm>
            <a:off x="457200" y="3182112"/>
            <a:ext cx="4023360" cy="402336"/>
          </a:xfrm>
          <a:prstGeom prst="roundRect">
            <a:avLst>
              <a:gd name="adj" fmla="val 13636"/>
            </a:avLst>
          </a:prstGeom>
          <a:solidFill>
            <a:schemeClr val="bg2"/>
          </a:solidFill>
          <a:ln/>
        </p:spPr>
      </p:sp>
      <p:sp>
        <p:nvSpPr>
          <p:cNvPr id="12" name="content-8-text-10"/>
          <p:cNvSpPr txBox="1"/>
          <p:nvPr/>
        </p:nvSpPr>
        <p:spPr>
          <a:xfrm>
            <a:off x="594360" y="3182112"/>
            <a:ext cx="3794760" cy="402336"/>
          </a:xfrm>
          <a:prstGeom prst="rect">
            <a:avLst/>
          </a:prstGeom>
          <a:noFill/>
          <a:ln/>
        </p:spPr>
        <p:txBody>
          <a:bodyPr wrap="square" lIns="0" tIns="0" rIns="0" bIns="0" rtlCol="0" anchor="ctr"/>
          <a:lstStyle/>
          <a:p>
            <a:pPr algn="l" indent="0" marL="0">
              <a:buNone/>
            </a:pPr>
            <a:r>
              <a:rPr lang="en-US" sz="1400" b="1" dirty="0">
                <a:solidFill>
                  <a:schemeClr val="tx1"/>
                </a:solidFill>
              </a:rPr>
              <a:t>Administer:</a:t>
            </a:r>
            <a:pPr algn="l" indent="0" marL="0">
              <a:buNone/>
            </a:pPr>
            <a:r>
              <a:rPr lang="en-US" sz="1400" dirty="0">
                <a:solidFill>
                  <a:schemeClr val="tx1"/>
                </a:solidFill>
              </a:rPr>
              <a:t> reviewer rules and Verify</a:t>
            </a:r>
            <a:endParaRPr lang="en-US" sz="1400" dirty="0"/>
          </a:p>
        </p:txBody>
      </p:sp>
      <p:sp>
        <p:nvSpPr>
          <p:cNvPr id="13" name="content-8-rect-11"/>
          <p:cNvSpPr/>
          <p:nvPr/>
        </p:nvSpPr>
        <p:spPr>
          <a:xfrm>
            <a:off x="457200" y="3657600"/>
            <a:ext cx="4023360" cy="402336"/>
          </a:xfrm>
          <a:prstGeom prst="roundRect">
            <a:avLst>
              <a:gd name="adj" fmla="val 13636"/>
            </a:avLst>
          </a:prstGeom>
          <a:solidFill>
            <a:schemeClr val="accent3"/>
          </a:solidFill>
          <a:ln/>
        </p:spPr>
      </p:sp>
      <p:sp>
        <p:nvSpPr>
          <p:cNvPr id="14" name="content-8-text-12"/>
          <p:cNvSpPr txBox="1"/>
          <p:nvPr/>
        </p:nvSpPr>
        <p:spPr>
          <a:xfrm>
            <a:off x="594360" y="3657600"/>
            <a:ext cx="3794760" cy="402336"/>
          </a:xfrm>
          <a:prstGeom prst="rect">
            <a:avLst/>
          </a:prstGeom>
          <a:noFill/>
          <a:ln/>
        </p:spPr>
        <p:txBody>
          <a:bodyPr wrap="square" lIns="0" tIns="0" rIns="0" bIns="0" rtlCol="0" anchor="ctr"/>
          <a:lstStyle/>
          <a:p>
            <a:pPr algn="l" indent="0" marL="0">
              <a:buNone/>
            </a:pPr>
            <a:r>
              <a:rPr lang="en-US" sz="1400" b="1" dirty="0">
                <a:solidFill>
                  <a:schemeClr val="bg1"/>
                </a:solidFill>
              </a:rPr>
              <a:t>Never for the AI:</a:t>
            </a:r>
            <a:pPr algn="l" indent="0" marL="0">
              <a:buNone/>
            </a:pPr>
            <a:r>
              <a:rPr lang="en-US" sz="1400" dirty="0">
                <a:solidFill>
                  <a:schemeClr val="bg1"/>
                </a:solidFill>
              </a:rPr>
              <a:t> approve, cancel, limits</a:t>
            </a:r>
            <a:endParaRPr lang="en-US" sz="1400" dirty="0"/>
          </a:p>
        </p:txBody>
      </p:sp>
      <p:sp>
        <p:nvSpPr>
          <p:cNvPr id="15" name="content-8-rect-13"/>
          <p:cNvSpPr/>
          <p:nvPr/>
        </p:nvSpPr>
        <p:spPr>
          <a:xfrm>
            <a:off x="4663440" y="1280160"/>
            <a:ext cx="1920240" cy="1188720"/>
          </a:xfrm>
          <a:prstGeom prst="roundRect">
            <a:avLst>
              <a:gd name="adj" fmla="val 6154"/>
            </a:avLst>
          </a:prstGeom>
          <a:solidFill>
            <a:schemeClr val="bg2"/>
          </a:solidFill>
          <a:ln/>
        </p:spPr>
      </p:sp>
      <p:sp>
        <p:nvSpPr>
          <p:cNvPr id="16" name="content-8-text-14"/>
          <p:cNvSpPr txBox="1"/>
          <p:nvPr/>
        </p:nvSpPr>
        <p:spPr>
          <a:xfrm>
            <a:off x="4800600" y="1371600"/>
            <a:ext cx="1645920" cy="594360"/>
          </a:xfrm>
          <a:prstGeom prst="rect">
            <a:avLst/>
          </a:prstGeom>
          <a:noFill/>
          <a:ln/>
        </p:spPr>
        <p:txBody>
          <a:bodyPr wrap="square" lIns="0" tIns="0" rIns="0" bIns="0" rtlCol="0" anchor="ctr"/>
          <a:lstStyle/>
          <a:p>
            <a:pPr algn="l" indent="0" marL="0">
              <a:buNone/>
            </a:pPr>
            <a:r>
              <a:rPr lang="en-US" sz="3200" b="1" dirty="0">
                <a:solidFill>
                  <a:schemeClr val="accent1"/>
                </a:solidFill>
                <a:latin typeface="+mj-lt" pitchFamily="34" charset="0"/>
                <a:ea typeface="+mj-lt" pitchFamily="34" charset="-122"/>
                <a:cs typeface="+mj-lt" pitchFamily="34" charset="-120"/>
              </a:rPr>
              <a:t>760</a:t>
            </a:r>
            <a:endParaRPr lang="en-US" sz="3200" dirty="0"/>
          </a:p>
        </p:txBody>
      </p:sp>
      <p:sp>
        <p:nvSpPr>
          <p:cNvPr id="17" name="content-8-text-15"/>
          <p:cNvSpPr txBox="1"/>
          <p:nvPr/>
        </p:nvSpPr>
        <p:spPr>
          <a:xfrm>
            <a:off x="4800600" y="1965960"/>
            <a:ext cx="1645920" cy="457200"/>
          </a:xfrm>
          <a:prstGeom prst="rect">
            <a:avLst/>
          </a:prstGeom>
          <a:noFill/>
          <a:ln/>
        </p:spPr>
        <p:txBody>
          <a:bodyPr wrap="square" lIns="0" tIns="0" rIns="0" bIns="0" rtlCol="0" anchor="t"/>
          <a:lstStyle/>
          <a:p>
            <a:pPr algn="l" indent="0" marL="0">
              <a:buNone/>
            </a:pPr>
            <a:r>
              <a:rPr lang="en-US" sz="1200" dirty="0">
                <a:solidFill>
                  <a:schemeClr val="tx2"/>
                </a:solidFill>
              </a:rPr>
              <a:t>backend tests, all passing</a:t>
            </a:r>
            <a:endParaRPr lang="en-US" sz="1200" dirty="0"/>
          </a:p>
        </p:txBody>
      </p:sp>
      <p:sp>
        <p:nvSpPr>
          <p:cNvPr id="18" name="content-8-rect-16"/>
          <p:cNvSpPr/>
          <p:nvPr/>
        </p:nvSpPr>
        <p:spPr>
          <a:xfrm>
            <a:off x="6766560" y="1280160"/>
            <a:ext cx="1920240" cy="1188720"/>
          </a:xfrm>
          <a:prstGeom prst="roundRect">
            <a:avLst>
              <a:gd name="adj" fmla="val 6154"/>
            </a:avLst>
          </a:prstGeom>
          <a:solidFill>
            <a:schemeClr val="bg2"/>
          </a:solidFill>
          <a:ln/>
        </p:spPr>
      </p:sp>
      <p:sp>
        <p:nvSpPr>
          <p:cNvPr id="19" name="content-8-text-17"/>
          <p:cNvSpPr txBox="1"/>
          <p:nvPr/>
        </p:nvSpPr>
        <p:spPr>
          <a:xfrm>
            <a:off x="6903720" y="1371600"/>
            <a:ext cx="1645920" cy="594360"/>
          </a:xfrm>
          <a:prstGeom prst="rect">
            <a:avLst/>
          </a:prstGeom>
          <a:noFill/>
          <a:ln/>
        </p:spPr>
        <p:txBody>
          <a:bodyPr wrap="square" lIns="0" tIns="0" rIns="0" bIns="0" rtlCol="0" anchor="ctr"/>
          <a:lstStyle/>
          <a:p>
            <a:pPr algn="l" indent="0" marL="0">
              <a:buNone/>
            </a:pPr>
            <a:r>
              <a:rPr lang="en-US" sz="3200" b="1" dirty="0">
                <a:solidFill>
                  <a:schemeClr val="accent1"/>
                </a:solidFill>
                <a:latin typeface="+mj-lt" pitchFamily="34" charset="0"/>
                <a:ea typeface="+mj-lt" pitchFamily="34" charset="-122"/>
                <a:cs typeface="+mj-lt" pitchFamily="34" charset="-120"/>
              </a:rPr>
              <a:t>93</a:t>
            </a:r>
            <a:endParaRPr lang="en-US" sz="3200" dirty="0"/>
          </a:p>
        </p:txBody>
      </p:sp>
      <p:sp>
        <p:nvSpPr>
          <p:cNvPr id="20" name="content-8-text-18"/>
          <p:cNvSpPr txBox="1"/>
          <p:nvPr/>
        </p:nvSpPr>
        <p:spPr>
          <a:xfrm>
            <a:off x="6903720" y="1965960"/>
            <a:ext cx="1645920" cy="457200"/>
          </a:xfrm>
          <a:prstGeom prst="rect">
            <a:avLst/>
          </a:prstGeom>
          <a:noFill/>
          <a:ln/>
        </p:spPr>
        <p:txBody>
          <a:bodyPr wrap="square" lIns="0" tIns="0" rIns="0" bIns="0" rtlCol="0" anchor="t"/>
          <a:lstStyle/>
          <a:p>
            <a:pPr algn="l" indent="0" marL="0">
              <a:buNone/>
            </a:pPr>
            <a:r>
              <a:rPr lang="en-US" sz="1200" dirty="0">
                <a:solidFill>
                  <a:schemeClr val="tx2"/>
                </a:solidFill>
              </a:rPr>
              <a:t>frontend tests</a:t>
            </a:r>
            <a:endParaRPr lang="en-US" sz="1200" dirty="0"/>
          </a:p>
        </p:txBody>
      </p:sp>
      <p:sp>
        <p:nvSpPr>
          <p:cNvPr id="21" name="content-8-rect-19"/>
          <p:cNvSpPr/>
          <p:nvPr/>
        </p:nvSpPr>
        <p:spPr>
          <a:xfrm>
            <a:off x="4663440" y="2651760"/>
            <a:ext cx="1920240" cy="1188720"/>
          </a:xfrm>
          <a:prstGeom prst="roundRect">
            <a:avLst>
              <a:gd name="adj" fmla="val 6154"/>
            </a:avLst>
          </a:prstGeom>
          <a:solidFill>
            <a:schemeClr val="bg2"/>
          </a:solidFill>
          <a:ln/>
        </p:spPr>
      </p:sp>
      <p:sp>
        <p:nvSpPr>
          <p:cNvPr id="22" name="content-8-text-20"/>
          <p:cNvSpPr txBox="1"/>
          <p:nvPr/>
        </p:nvSpPr>
        <p:spPr>
          <a:xfrm>
            <a:off x="4800600" y="2743200"/>
            <a:ext cx="1645920" cy="594360"/>
          </a:xfrm>
          <a:prstGeom prst="rect">
            <a:avLst/>
          </a:prstGeom>
          <a:noFill/>
          <a:ln/>
        </p:spPr>
        <p:txBody>
          <a:bodyPr wrap="square" lIns="0" tIns="0" rIns="0" bIns="0" rtlCol="0" anchor="ctr"/>
          <a:lstStyle/>
          <a:p>
            <a:pPr algn="l" indent="0" marL="0">
              <a:buNone/>
            </a:pPr>
            <a:r>
              <a:rPr lang="en-US" sz="3200" b="1" dirty="0">
                <a:solidFill>
                  <a:schemeClr val="accent1"/>
                </a:solidFill>
                <a:latin typeface="+mj-lt" pitchFamily="34" charset="0"/>
                <a:ea typeface="+mj-lt" pitchFamily="34" charset="-122"/>
                <a:cs typeface="+mj-lt" pitchFamily="34" charset="-120"/>
              </a:rPr>
              <a:t>24 of 24</a:t>
            </a:r>
            <a:endParaRPr lang="en-US" sz="3200" dirty="0"/>
          </a:p>
        </p:txBody>
      </p:sp>
      <p:sp>
        <p:nvSpPr>
          <p:cNvPr id="23" name="content-8-text-21"/>
          <p:cNvSpPr txBox="1"/>
          <p:nvPr/>
        </p:nvSpPr>
        <p:spPr>
          <a:xfrm>
            <a:off x="4800600" y="3337560"/>
            <a:ext cx="1645920" cy="457200"/>
          </a:xfrm>
          <a:prstGeom prst="rect">
            <a:avLst/>
          </a:prstGeom>
          <a:noFill/>
          <a:ln/>
        </p:spPr>
        <p:txBody>
          <a:bodyPr wrap="square" lIns="0" tIns="0" rIns="0" bIns="0" rtlCol="0" anchor="t"/>
          <a:lstStyle/>
          <a:p>
            <a:pPr algn="l" indent="0" marL="0">
              <a:buNone/>
            </a:pPr>
            <a:r>
              <a:rPr lang="en-US" sz="1200" dirty="0">
                <a:solidFill>
                  <a:schemeClr val="tx2"/>
                </a:solidFill>
              </a:rPr>
              <a:t>blueprint scenarios mapped to tests</a:t>
            </a:r>
            <a:endParaRPr lang="en-US" sz="1200" dirty="0"/>
          </a:p>
        </p:txBody>
      </p:sp>
      <p:sp>
        <p:nvSpPr>
          <p:cNvPr id="24" name="content-8-rect-22"/>
          <p:cNvSpPr/>
          <p:nvPr/>
        </p:nvSpPr>
        <p:spPr>
          <a:xfrm>
            <a:off x="6766560" y="2651760"/>
            <a:ext cx="1920240" cy="1188720"/>
          </a:xfrm>
          <a:prstGeom prst="roundRect">
            <a:avLst>
              <a:gd name="adj" fmla="val 6154"/>
            </a:avLst>
          </a:prstGeom>
          <a:solidFill>
            <a:schemeClr val="bg2"/>
          </a:solidFill>
          <a:ln/>
        </p:spPr>
      </p:sp>
      <p:sp>
        <p:nvSpPr>
          <p:cNvPr id="25" name="content-8-text-23"/>
          <p:cNvSpPr txBox="1"/>
          <p:nvPr/>
        </p:nvSpPr>
        <p:spPr>
          <a:xfrm>
            <a:off x="6903720" y="2743200"/>
            <a:ext cx="1645920" cy="594360"/>
          </a:xfrm>
          <a:prstGeom prst="rect">
            <a:avLst/>
          </a:prstGeom>
          <a:noFill/>
          <a:ln/>
        </p:spPr>
        <p:txBody>
          <a:bodyPr wrap="square" lIns="0" tIns="0" rIns="0" bIns="0" rtlCol="0" anchor="ctr"/>
          <a:lstStyle/>
          <a:p>
            <a:pPr algn="l" indent="0" marL="0">
              <a:buNone/>
            </a:pPr>
            <a:r>
              <a:rPr lang="en-US" sz="3200" b="1" dirty="0">
                <a:solidFill>
                  <a:schemeClr val="accent1"/>
                </a:solidFill>
                <a:latin typeface="+mj-lt" pitchFamily="34" charset="0"/>
                <a:ea typeface="+mj-lt" pitchFamily="34" charset="-122"/>
                <a:cs typeface="+mj-lt" pitchFamily="34" charset="-120"/>
              </a:rPr>
              <a:t>21</a:t>
            </a:r>
            <a:endParaRPr lang="en-US" sz="3200" dirty="0"/>
          </a:p>
        </p:txBody>
      </p:sp>
      <p:sp>
        <p:nvSpPr>
          <p:cNvPr id="26" name="content-8-text-24"/>
          <p:cNvSpPr txBox="1"/>
          <p:nvPr/>
        </p:nvSpPr>
        <p:spPr>
          <a:xfrm>
            <a:off x="6903720" y="3337560"/>
            <a:ext cx="1645920" cy="457200"/>
          </a:xfrm>
          <a:prstGeom prst="rect">
            <a:avLst/>
          </a:prstGeom>
          <a:noFill/>
          <a:ln/>
        </p:spPr>
        <p:txBody>
          <a:bodyPr wrap="square" lIns="0" tIns="0" rIns="0" bIns="0" rtlCol="0" anchor="t"/>
          <a:lstStyle/>
          <a:p>
            <a:pPr algn="l" indent="0" marL="0">
              <a:buNone/>
            </a:pPr>
            <a:r>
              <a:rPr lang="en-US" sz="1200" dirty="0">
                <a:solidFill>
                  <a:schemeClr val="tx2"/>
                </a:solidFill>
              </a:rPr>
              <a:t>known risks listed openly</a:t>
            </a:r>
            <a:endParaRPr lang="en-US" sz="1200" dirty="0"/>
          </a:p>
        </p:txBody>
      </p:sp>
      <p:sp>
        <p:nvSpPr>
          <p:cNvPr id="27" name="content-8-text-25"/>
          <p:cNvSpPr txBox="1"/>
          <p:nvPr/>
        </p:nvSpPr>
        <p:spPr>
          <a:xfrm>
            <a:off x="4663440" y="4069080"/>
            <a:ext cx="4023360" cy="685800"/>
          </a:xfrm>
          <a:prstGeom prst="rect">
            <a:avLst/>
          </a:prstGeom>
          <a:noFill/>
          <a:ln/>
        </p:spPr>
        <p:txBody>
          <a:bodyPr wrap="square" lIns="0" tIns="0" rIns="0" bIns="0" rtlCol="0" anchor="t"/>
          <a:lstStyle/>
          <a:p>
            <a:pPr algn="l" indent="0" marL="0">
              <a:buNone/>
            </a:pPr>
            <a:r>
              <a:rPr lang="en-US" sz="1200" dirty="0">
                <a:solidFill>
                  <a:schemeClr val="tx2"/>
                </a:solidFill>
              </a:rPr>
              <a:t>Each payment has a compliance report with a hash your browser can check. Every threat has a test: docs/SECURITY.md</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Honest by design</a:t>
            </a:r>
            <a:endParaRPr lang="en-US" sz="3600" dirty="0"/>
          </a:p>
        </p:txBody>
      </p:sp>
      <p:sp>
        <p:nvSpPr>
          <p:cNvPr id="3" name="content-9-text-1"/>
          <p:cNvSpPr txBox="1"/>
          <p:nvPr/>
        </p:nvSpPr>
        <p:spPr>
          <a:xfrm>
            <a:off x="457200" y="1097280"/>
            <a:ext cx="8229600" cy="365760"/>
          </a:xfrm>
          <a:prstGeom prst="rect">
            <a:avLst/>
          </a:prstGeom>
          <a:noFill/>
          <a:ln/>
        </p:spPr>
        <p:txBody>
          <a:bodyPr wrap="square" lIns="0" tIns="0" rIns="0" bIns="0" rtlCol="0" anchor="ctr"/>
          <a:lstStyle/>
          <a:p>
            <a:pPr algn="l" indent="0" marL="0">
              <a:buNone/>
            </a:pPr>
            <a:r>
              <a:rPr lang="en-US" sz="1600" b="1" dirty="0">
                <a:solidFill>
                  <a:schemeClr val="tx1"/>
                </a:solidFill>
              </a:rPr>
              <a:t>Every simulated part is labelled. Every unverified rule carries a badge.</a:t>
            </a:r>
            <a:endParaRPr lang="en-US" sz="1600" dirty="0"/>
          </a:p>
        </p:txBody>
      </p:sp>
      <p:sp>
        <p:nvSpPr>
          <p:cNvPr id="4" name="content-9-rect-2"/>
          <p:cNvSpPr/>
          <p:nvPr/>
        </p:nvSpPr>
        <p:spPr>
          <a:xfrm>
            <a:off x="457200" y="1554480"/>
            <a:ext cx="3803904" cy="2999232"/>
          </a:xfrm>
          <a:prstGeom prst="roundRect">
            <a:avLst>
              <a:gd name="adj" fmla="val 1829"/>
            </a:avLst>
          </a:prstGeom>
          <a:solidFill>
            <a:schemeClr val="bg1"/>
          </a:solidFill>
          <a:ln w="9525">
            <a:solidFill>
              <a:schemeClr val="accent5"/>
            </a:solidFill>
            <a:prstDash val="solid"/>
          </a:ln>
          <a:effectLst>
            <a:outerShdw sx="100000" sy="100000" kx="0" ky="0" algn="bl" rotWithShape="0" blurRad="101600" dist="25400" dir="5400000">
              <a:srgbClr val="0B2545">
                <a:alpha val="18000"/>
              </a:srgbClr>
            </a:outerShdw>
          </a:effectLst>
        </p:spPr>
      </p:sp>
      <p:pic>
        <p:nvPicPr>
          <p:cNvPr id="5" name="content-9-image-3" descr="Sandbox screen listing what is simulated">    </p:cNvPr>
          <p:cNvPicPr>
            <a:picLocks noChangeAspect="1"/>
          </p:cNvPicPr>
          <p:nvPr/>
        </p:nvPicPr>
        <p:blipFill>
          <a:blip r:embed="rId1"/>
          <a:stretch>
            <a:fillRect/>
          </a:stretch>
        </p:blipFill>
        <p:spPr>
          <a:xfrm>
            <a:off x="530352" y="1627632"/>
            <a:ext cx="3657600" cy="2852928"/>
          </a:xfrm>
          <a:prstGeom prst="rect">
            <a:avLst/>
          </a:prstGeom>
        </p:spPr>
      </p:pic>
      <p:sp>
        <p:nvSpPr>
          <p:cNvPr id="6" name="content-9-rect-4"/>
          <p:cNvSpPr/>
          <p:nvPr/>
        </p:nvSpPr>
        <p:spPr>
          <a:xfrm>
            <a:off x="4882896" y="1554480"/>
            <a:ext cx="3803904" cy="2999232"/>
          </a:xfrm>
          <a:prstGeom prst="roundRect">
            <a:avLst>
              <a:gd name="adj" fmla="val 1829"/>
            </a:avLst>
          </a:prstGeom>
          <a:solidFill>
            <a:schemeClr val="bg1"/>
          </a:solidFill>
          <a:ln w="9525">
            <a:solidFill>
              <a:schemeClr val="accent5"/>
            </a:solidFill>
            <a:prstDash val="solid"/>
          </a:ln>
          <a:effectLst>
            <a:outerShdw sx="100000" sy="100000" kx="0" ky="0" algn="bl" rotWithShape="0" blurRad="101600" dist="25400" dir="5400000">
              <a:srgbClr val="0B2545">
                <a:alpha val="18000"/>
              </a:srgbClr>
            </a:outerShdw>
          </a:effectLst>
        </p:spPr>
      </p:sp>
      <p:pic>
        <p:nvPicPr>
          <p:cNvPr id="7" name="content-9-image-5" descr="Compliance report whose hash verifies in the browser">    </p:cNvPr>
          <p:cNvPicPr>
            <a:picLocks noChangeAspect="1"/>
          </p:cNvPicPr>
          <p:nvPr/>
        </p:nvPicPr>
        <p:blipFill>
          <a:blip r:embed="rId2"/>
          <a:stretch>
            <a:fillRect/>
          </a:stretch>
        </p:blipFill>
        <p:spPr>
          <a:xfrm>
            <a:off x="4956048" y="1627632"/>
            <a:ext cx="3657600" cy="2852928"/>
          </a:xfrm>
          <a:prstGeom prst="rect">
            <a:avLst/>
          </a:prstGeom>
        </p:spPr>
      </p:pic>
      <p:sp>
        <p:nvSpPr>
          <p:cNvPr id="8" name="content-9-text-6"/>
          <p:cNvSpPr txBox="1"/>
          <p:nvPr/>
        </p:nvSpPr>
        <p:spPr>
          <a:xfrm>
            <a:off x="457200" y="4590288"/>
            <a:ext cx="3803904" cy="274320"/>
          </a:xfrm>
          <a:prstGeom prst="rect">
            <a:avLst/>
          </a:prstGeom>
          <a:noFill/>
          <a:ln/>
        </p:spPr>
        <p:txBody>
          <a:bodyPr wrap="square" lIns="0" tIns="0" rIns="0" bIns="0" rtlCol="0" anchor="t"/>
          <a:lstStyle/>
          <a:p>
            <a:pPr algn="l" indent="0" marL="0">
              <a:buNone/>
            </a:pPr>
            <a:r>
              <a:rPr lang="en-US" sz="1100" dirty="0">
                <a:solidFill>
                  <a:schemeClr val="tx2"/>
                </a:solidFill>
              </a:rPr>
              <a:t>Sandbox screen: what is simulated, how to test it</a:t>
            </a:r>
            <a:endParaRPr lang="en-US" sz="1100" dirty="0"/>
          </a:p>
        </p:txBody>
      </p:sp>
      <p:sp>
        <p:nvSpPr>
          <p:cNvPr id="9" name="content-9-text-7"/>
          <p:cNvSpPr txBox="1"/>
          <p:nvPr/>
        </p:nvSpPr>
        <p:spPr>
          <a:xfrm>
            <a:off x="4882896" y="4590288"/>
            <a:ext cx="3803904" cy="274320"/>
          </a:xfrm>
          <a:prstGeom prst="rect">
            <a:avLst/>
          </a:prstGeom>
          <a:noFill/>
          <a:ln/>
        </p:spPr>
        <p:txBody>
          <a:bodyPr wrap="square" lIns="0" tIns="0" rIns="0" bIns="0" rtlCol="0" anchor="t"/>
          <a:lstStyle/>
          <a:p>
            <a:pPr algn="l" indent="0" marL="0">
              <a:buNone/>
            </a:pPr>
            <a:r>
              <a:rPr lang="en-US" sz="1100" dirty="0">
                <a:solidFill>
                  <a:schemeClr val="tx2"/>
                </a:solidFill>
              </a:rPr>
              <a:t>Compliance report: the hash verifies in the browser</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bg1"/>
                </a:solidFill>
                <a:latin typeface="+mj-lt" pitchFamily="34" charset="0"/>
                <a:ea typeface="+mj-lt" pitchFamily="34" charset="-122"/>
                <a:cs typeface="+mj-lt" pitchFamily="34" charset="-120"/>
              </a:rPr>
              <a:t>What comes next</a:t>
            </a:r>
            <a:endParaRPr lang="en-US" sz="3600" dirty="0"/>
          </a:p>
        </p:txBody>
      </p:sp>
      <p:sp>
        <p:nvSpPr>
          <p:cNvPr id="3" name="closing-10-rect-1"/>
          <p:cNvSpPr/>
          <p:nvPr/>
        </p:nvSpPr>
        <p:spPr>
          <a:xfrm>
            <a:off x="457200" y="1234440"/>
            <a:ext cx="4023360" cy="1143000"/>
          </a:xfrm>
          <a:prstGeom prst="roundRect">
            <a:avLst>
              <a:gd name="adj" fmla="val 6400"/>
            </a:avLst>
          </a:prstGeom>
          <a:solidFill>
            <a:schemeClr val="tx2"/>
          </a:solidFill>
          <a:ln/>
        </p:spPr>
      </p:sp>
      <p:sp>
        <p:nvSpPr>
          <p:cNvPr id="4" name="closing-10-text-2"/>
          <p:cNvSpPr txBox="1"/>
          <p:nvPr/>
        </p:nvSpPr>
        <p:spPr>
          <a:xfrm>
            <a:off x="640080" y="1325880"/>
            <a:ext cx="3657600" cy="365760"/>
          </a:xfrm>
          <a:prstGeom prst="rect">
            <a:avLst/>
          </a:prstGeom>
          <a:noFill/>
          <a:ln/>
        </p:spPr>
        <p:txBody>
          <a:bodyPr wrap="square" lIns="0" tIns="0" rIns="0" bIns="0" rtlCol="0" anchor="ctr"/>
          <a:lstStyle/>
          <a:p>
            <a:pPr algn="l" indent="0" marL="0">
              <a:buNone/>
            </a:pPr>
            <a:r>
              <a:rPr lang="en-US" sz="1800" b="1" dirty="0">
                <a:solidFill>
                  <a:schemeClr val="bg1"/>
                </a:solidFill>
              </a:rPr>
              <a:t>Verified rules</a:t>
            </a:r>
            <a:endParaRPr lang="en-US" sz="1800" dirty="0"/>
          </a:p>
        </p:txBody>
      </p:sp>
      <p:sp>
        <p:nvSpPr>
          <p:cNvPr id="5" name="closing-10-text-3"/>
          <p:cNvSpPr txBox="1"/>
          <p:nvPr/>
        </p:nvSpPr>
        <p:spPr>
          <a:xfrm>
            <a:off x="640080" y="1691640"/>
            <a:ext cx="3657600" cy="640080"/>
          </a:xfrm>
          <a:prstGeom prst="rect">
            <a:avLst/>
          </a:prstGeom>
          <a:noFill/>
          <a:ln/>
        </p:spPr>
        <p:txBody>
          <a:bodyPr wrap="square" lIns="0" tIns="0" rIns="0" bIns="0" rtlCol="0" anchor="t"/>
          <a:lstStyle/>
          <a:p>
            <a:pPr algn="l" indent="0" marL="0">
              <a:buNone/>
            </a:pPr>
            <a:r>
              <a:rPr lang="en-US" sz="1400" dirty="0">
                <a:solidFill>
                  <a:schemeClr val="bg2"/>
                </a:solidFill>
              </a:rPr>
              <a:t>Replace each placeholder rule with an official Bangladesh Bank source.</a:t>
            </a:r>
            <a:endParaRPr lang="en-US" sz="1400" dirty="0"/>
          </a:p>
        </p:txBody>
      </p:sp>
      <p:sp>
        <p:nvSpPr>
          <p:cNvPr id="6" name="closing-10-rect-4"/>
          <p:cNvSpPr/>
          <p:nvPr/>
        </p:nvSpPr>
        <p:spPr>
          <a:xfrm>
            <a:off x="4663440" y="1234440"/>
            <a:ext cx="4023360" cy="1143000"/>
          </a:xfrm>
          <a:prstGeom prst="roundRect">
            <a:avLst>
              <a:gd name="adj" fmla="val 6400"/>
            </a:avLst>
          </a:prstGeom>
          <a:solidFill>
            <a:schemeClr val="tx2"/>
          </a:solidFill>
          <a:ln/>
        </p:spPr>
      </p:sp>
      <p:sp>
        <p:nvSpPr>
          <p:cNvPr id="7" name="closing-10-text-5"/>
          <p:cNvSpPr txBox="1"/>
          <p:nvPr/>
        </p:nvSpPr>
        <p:spPr>
          <a:xfrm>
            <a:off x="4846320" y="1325880"/>
            <a:ext cx="3657600" cy="365760"/>
          </a:xfrm>
          <a:prstGeom prst="rect">
            <a:avLst/>
          </a:prstGeom>
          <a:noFill/>
          <a:ln/>
        </p:spPr>
        <p:txBody>
          <a:bodyPr wrap="square" lIns="0" tIns="0" rIns="0" bIns="0" rtlCol="0" anchor="ctr"/>
          <a:lstStyle/>
          <a:p>
            <a:pPr algn="l" indent="0" marL="0">
              <a:buNone/>
            </a:pPr>
            <a:r>
              <a:rPr lang="en-US" sz="1800" b="1" dirty="0">
                <a:solidFill>
                  <a:schemeClr val="bg1"/>
                </a:solidFill>
              </a:rPr>
              <a:t>A real AD bank partner</a:t>
            </a:r>
            <a:endParaRPr lang="en-US" sz="1800" dirty="0"/>
          </a:p>
        </p:txBody>
      </p:sp>
      <p:sp>
        <p:nvSpPr>
          <p:cNvPr id="8" name="closing-10-text-6"/>
          <p:cNvSpPr txBox="1"/>
          <p:nvPr/>
        </p:nvSpPr>
        <p:spPr>
          <a:xfrm>
            <a:off x="4846320" y="1691640"/>
            <a:ext cx="3657600" cy="640080"/>
          </a:xfrm>
          <a:prstGeom prst="rect">
            <a:avLst/>
          </a:prstGeom>
          <a:noFill/>
          <a:ln/>
        </p:spPr>
        <p:txBody>
          <a:bodyPr wrap="square" lIns="0" tIns="0" rIns="0" bIns="0" rtlCol="0" anchor="t"/>
          <a:lstStyle/>
          <a:p>
            <a:pPr algn="l" indent="0" marL="0">
              <a:buNone/>
            </a:pPr>
            <a:r>
              <a:rPr lang="en-US" sz="1400" dirty="0">
                <a:solidFill>
                  <a:schemeClr val="bg2"/>
                </a:solidFill>
              </a:rPr>
              <a:t>Real quotes, real KYC, and regulator-ready reports from the audit log.</a:t>
            </a:r>
            <a:endParaRPr lang="en-US" sz="1400" dirty="0"/>
          </a:p>
        </p:txBody>
      </p:sp>
      <p:sp>
        <p:nvSpPr>
          <p:cNvPr id="9" name="closing-10-rect-7"/>
          <p:cNvSpPr/>
          <p:nvPr/>
        </p:nvSpPr>
        <p:spPr>
          <a:xfrm>
            <a:off x="457200" y="2514600"/>
            <a:ext cx="4023360" cy="1143000"/>
          </a:xfrm>
          <a:prstGeom prst="roundRect">
            <a:avLst>
              <a:gd name="adj" fmla="val 6400"/>
            </a:avLst>
          </a:prstGeom>
          <a:solidFill>
            <a:schemeClr val="tx2"/>
          </a:solidFill>
          <a:ln/>
        </p:spPr>
      </p:sp>
      <p:sp>
        <p:nvSpPr>
          <p:cNvPr id="10" name="closing-10-text-8"/>
          <p:cNvSpPr txBox="1"/>
          <p:nvPr/>
        </p:nvSpPr>
        <p:spPr>
          <a:xfrm>
            <a:off x="640080" y="2606040"/>
            <a:ext cx="3657600" cy="365760"/>
          </a:xfrm>
          <a:prstGeom prst="rect">
            <a:avLst/>
          </a:prstGeom>
          <a:noFill/>
          <a:ln/>
        </p:spPr>
        <p:txBody>
          <a:bodyPr wrap="square" lIns="0" tIns="0" rIns="0" bIns="0" rtlCol="0" anchor="ctr"/>
          <a:lstStyle/>
          <a:p>
            <a:pPr algn="l" indent="0" marL="0">
              <a:buNone/>
            </a:pPr>
            <a:r>
              <a:rPr lang="en-US" sz="1800" b="1" dirty="0">
                <a:solidFill>
                  <a:schemeClr val="bg1"/>
                </a:solidFill>
              </a:rPr>
              <a:t>Credit building</a:t>
            </a:r>
            <a:endParaRPr lang="en-US" sz="1800" dirty="0"/>
          </a:p>
        </p:txBody>
      </p:sp>
      <p:sp>
        <p:nvSpPr>
          <p:cNvPr id="11" name="closing-10-text-9"/>
          <p:cNvSpPr txBox="1"/>
          <p:nvPr/>
        </p:nvSpPr>
        <p:spPr>
          <a:xfrm>
            <a:off x="640080" y="2971800"/>
            <a:ext cx="3657600" cy="640080"/>
          </a:xfrm>
          <a:prstGeom prst="rect">
            <a:avLst/>
          </a:prstGeom>
          <a:noFill/>
          <a:ln/>
        </p:spPr>
        <p:txBody>
          <a:bodyPr wrap="square" lIns="0" tIns="0" rIns="0" bIns="0" rtlCol="0" anchor="t"/>
          <a:lstStyle/>
          <a:p>
            <a:pPr algn="l" indent="0" marL="0">
              <a:buNone/>
            </a:pPr>
            <a:r>
              <a:rPr lang="en-US" sz="1400" dirty="0">
                <a:solidFill>
                  <a:schemeClr val="bg2"/>
                </a:solidFill>
              </a:rPr>
              <a:t>Topic C scope we have not built: help a student build a credit history abroad.</a:t>
            </a:r>
            <a:endParaRPr lang="en-US" sz="1400" dirty="0"/>
          </a:p>
        </p:txBody>
      </p:sp>
      <p:sp>
        <p:nvSpPr>
          <p:cNvPr id="12" name="closing-10-rect-10"/>
          <p:cNvSpPr/>
          <p:nvPr/>
        </p:nvSpPr>
        <p:spPr>
          <a:xfrm>
            <a:off x="4663440" y="2514600"/>
            <a:ext cx="4023360" cy="1143000"/>
          </a:xfrm>
          <a:prstGeom prst="roundRect">
            <a:avLst>
              <a:gd name="adj" fmla="val 6400"/>
            </a:avLst>
          </a:prstGeom>
          <a:solidFill>
            <a:schemeClr val="tx2"/>
          </a:solidFill>
          <a:ln/>
        </p:spPr>
      </p:sp>
      <p:sp>
        <p:nvSpPr>
          <p:cNvPr id="13" name="closing-10-text-11"/>
          <p:cNvSpPr txBox="1"/>
          <p:nvPr/>
        </p:nvSpPr>
        <p:spPr>
          <a:xfrm>
            <a:off x="4846320" y="2606040"/>
            <a:ext cx="3657600" cy="365760"/>
          </a:xfrm>
          <a:prstGeom prst="rect">
            <a:avLst/>
          </a:prstGeom>
          <a:noFill/>
          <a:ln/>
        </p:spPr>
        <p:txBody>
          <a:bodyPr wrap="square" lIns="0" tIns="0" rIns="0" bIns="0" rtlCol="0" anchor="ctr"/>
          <a:lstStyle/>
          <a:p>
            <a:pPr algn="l" indent="0" marL="0">
              <a:buNone/>
            </a:pPr>
            <a:r>
              <a:rPr lang="en-US" sz="1800" b="1" dirty="0">
                <a:solidFill>
                  <a:schemeClr val="bg1"/>
                </a:solidFill>
              </a:rPr>
              <a:t>Multi-currency management</a:t>
            </a:r>
            <a:endParaRPr lang="en-US" sz="1800" dirty="0"/>
          </a:p>
        </p:txBody>
      </p:sp>
      <p:sp>
        <p:nvSpPr>
          <p:cNvPr id="14" name="closing-10-text-12"/>
          <p:cNvSpPr txBox="1"/>
          <p:nvPr/>
        </p:nvSpPr>
        <p:spPr>
          <a:xfrm>
            <a:off x="4846320" y="2971800"/>
            <a:ext cx="3657600" cy="640080"/>
          </a:xfrm>
          <a:prstGeom prst="rect">
            <a:avLst/>
          </a:prstGeom>
          <a:noFill/>
          <a:ln/>
        </p:spPr>
        <p:txBody>
          <a:bodyPr wrap="square" lIns="0" tIns="0" rIns="0" bIns="0" rtlCol="0" anchor="t"/>
          <a:lstStyle/>
          <a:p>
            <a:pPr algn="l" indent="0" marL="0">
              <a:buNone/>
            </a:pPr>
            <a:r>
              <a:rPr lang="en-US" sz="1400" dirty="0">
                <a:solidFill>
                  <a:schemeClr val="bg2"/>
                </a:solidFill>
              </a:rPr>
              <a:t>One view of balances and costs across the six corridors.</a:t>
            </a:r>
            <a:endParaRPr lang="en-US" sz="1400" dirty="0"/>
          </a:p>
        </p:txBody>
      </p:sp>
      <p:sp>
        <p:nvSpPr>
          <p:cNvPr id="15" name="closing-10-text-13"/>
          <p:cNvSpPr txBox="1"/>
          <p:nvPr/>
        </p:nvSpPr>
        <p:spPr>
          <a:xfrm>
            <a:off x="457200" y="3886200"/>
            <a:ext cx="8229600" cy="502920"/>
          </a:xfrm>
          <a:prstGeom prst="rect">
            <a:avLst/>
          </a:prstGeom>
          <a:noFill/>
          <a:ln/>
        </p:spPr>
        <p:txBody>
          <a:bodyPr wrap="square" lIns="0" tIns="0" rIns="0" bIns="0" rtlCol="0" anchor="ctr"/>
          <a:lstStyle/>
          <a:p>
            <a:pPr algn="l" indent="0" marL="0">
              <a:buNone/>
            </a:pPr>
            <a:r>
              <a:rPr lang="en-US" sz="2400" b="1" dirty="0">
                <a:solidFill>
                  <a:schemeClr val="accent2"/>
                </a:solidFill>
                <a:latin typeface="+mj-lt" pitchFamily="34" charset="0"/>
                <a:ea typeface="+mj-lt" pitchFamily="34" charset="-122"/>
                <a:cs typeface="+mj-lt" pitchFamily="34" charset="-120"/>
              </a:rPr>
              <a:t>Clear, cheap and safe.</a:t>
            </a:r>
            <a:endParaRPr lang="en-US" sz="2400" dirty="0"/>
          </a:p>
        </p:txBody>
      </p:sp>
      <p:sp>
        <p:nvSpPr>
          <p:cNvPr id="16" name="closing-10-text-14"/>
          <p:cNvSpPr txBox="1"/>
          <p:nvPr/>
        </p:nvSpPr>
        <p:spPr>
          <a:xfrm>
            <a:off x="457200" y="4434840"/>
            <a:ext cx="8229600" cy="320040"/>
          </a:xfrm>
          <a:prstGeom prst="rect">
            <a:avLst/>
          </a:prstGeom>
          <a:noFill/>
          <a:ln/>
        </p:spPr>
        <p:txBody>
          <a:bodyPr wrap="square" lIns="0" tIns="0" rIns="0" bIns="0" rtlCol="0" anchor="t"/>
          <a:lstStyle/>
          <a:p>
            <a:pPr algn="l" indent="0" marL="0">
              <a:buNone/>
            </a:pPr>
            <a:r>
              <a:rPr lang="en-US" sz="1200" dirty="0">
                <a:solidFill>
                  <a:schemeClr val="accent5"/>
                </a:solidFill>
              </a:rPr>
              <a:t>[Team name]  ·  [repository link]  ·  Sandbox: no real money moves</a:t>
            </a:r>
            <a:endParaRPr lang="en-US" sz="1200" dirty="0"/>
          </a:p>
        </p:txBody>
      </p:sp>
    </p:spTree>
  </p:cSld>
  <p:clrMapOvr>
    <a:masterClrMapping/>
  </p:clrMapOvr>
</p:sld>
</file>

<file path=ppt/theme/theme1.xml><?xml version="1.0" encoding="utf-8"?>
<a:theme xmlns:a="http://schemas.openxmlformats.org/drawingml/2006/main" name="StudyRoute">
  <a:themeElements>
    <a:clrScheme name="StudyRoute">
      <a:dk1>
        <a:srgbClr val="0B2545"/>
      </a:dk1>
      <a:lt1>
        <a:srgbClr val="FFFFFF"/>
      </a:lt1>
      <a:dk2>
        <a:srgbClr val="4A5C70"/>
      </a:dk2>
      <a:lt2>
        <a:srgbClr val="EEF3F8"/>
      </a:lt2>
      <a:accent1>
        <a:srgbClr val="0B7A70"/>
      </a:accent1>
      <a:accent2>
        <a:srgbClr val="F4B942"/>
      </a:accent2>
      <a:accent3>
        <a:srgbClr val="C8344A"/>
      </a:accent3>
      <a:accent4>
        <a:srgbClr val="2F6DA3"/>
      </a:accent4>
      <a:accent5>
        <a:srgbClr val="C9D6E3"/>
      </a:accent5>
      <a:accent6>
        <a:srgbClr val="2E7D32"/>
      </a:accent6>
      <a:hlink>
        <a:srgbClr val="0B7A70"/>
      </a:hlink>
      <a:folHlink>
        <a:srgbClr val="4A5C70"/>
      </a:folHlink>
    </a:clrScheme>
    <a:fontScheme name="StudyRout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StudyRoute: sandbox AI agent for tuition payments from Bangladesh</dc:title>
  <dc:subject>FinTechathon 2026, International Track, Topic C</dc:subject>
  <dc:creator>[Team name]</dc:creator>
  <cp:lastModifiedBy>[Team name]</cp:lastModifiedBy>
  <cp:revision>1</cp:revision>
  <dcterms:created xsi:type="dcterms:W3CDTF">2026-10-14T11:13:15Z</dcterms:created>
  <dcterms:modified xsi:type="dcterms:W3CDTF">2026-10-14T11:13:15Z</dcterms:modified>
</cp:coreProperties>
</file>