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3c41b52-66d4-40b4-1653-8b3425c442c0}">
          <p14:sldIdLst>
            <p14:sldId id="256"/>
            <p14:sldId id="257"/>
          </p14:sldIdLst>
        </p14:section>
        <p14:section name="The problem" id="{4f461096-a365-ec45-8259-18ee9ba9d5a6}">
          <p14:sldIdLst>
            <p14:sldId id="258"/>
            <p14:sldId id="259"/>
          </p14:sldIdLst>
        </p14:section>
        <p14:section name="The solution" id="{40f2088c-d6a8-2c90-d49d-aacfa1e55274}">
          <p14:sldIdLst>
            <p14:sldId id="260"/>
            <p14:sldId id="261"/>
            <p14:sldId id="262"/>
          </p14:sldIdLst>
        </p14:section>
        <p14:section name="Trust" id="{a75fb253-75d9-c23c-f526-ebd13a53b2a9}">
          <p14:sldIdLst>
            <p14:sldId id="263"/>
            <p14:sldId id="264"/>
            <p14:sldId id="265"/>
            <p14:sldId id="266"/>
          </p14:sldIdLst>
        </p14:section>
        <p14:section name="Close" id="{aa809496-c44f-efbb-eac1-740b6c01d5d5}">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costs are different from tuition: they are a payment every month. Smart escrow lets the parent lock the money in a smart contract that pays on the dates they choose. Planning locks nothing, the schedule is shown first. Locking needs a fresh MFA proof from the parent, and then each payment is released on its date. A bank reviewer can freeze an escrow with a written reason but can never move the funds. Only amounts, dates and hashes go on the chain, never a name or an account number, and the AI has no permission here at all. The chain is simulated: an in-memory EVM running real Solidity contracts, and the tokens are not money. We also anchor the head of the audit log on it, so rewriting history leaves a trace that someone editing the database cannot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Plain code limits its legal moves, and the parents are 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1129 backend and 139 frontend tests, all 24 blueprint scenarios mapped to tests, and 41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Smart escrow for living costs</a:t>
            </a:r>
            <a:endParaRPr lang="en-US" sz="3600" dirty="0"/>
          </a:p>
        </p:txBody>
      </p:sp>
      <p:sp>
        <p:nvSpPr>
          <p:cNvPr id="3" name="content-7-rect-1"/>
          <p:cNvSpPr/>
          <p:nvPr/>
        </p:nvSpPr>
        <p:spPr>
          <a:xfrm>
            <a:off x="457200" y="1234440"/>
            <a:ext cx="4718304" cy="3218688"/>
          </a:xfrm>
          <a:prstGeom prst="roundRect">
            <a:avLst>
              <a:gd name="adj" fmla="val 1705"/>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7-image-2" descr="An escrow with three monthly payments and its on-chain proof">    </p:cNvPr>
          <p:cNvPicPr>
            <a:picLocks noChangeAspect="1"/>
          </p:cNvPicPr>
          <p:nvPr/>
        </p:nvPicPr>
        <p:blipFill>
          <a:blip r:embed="rId1"/>
          <a:stretch>
            <a:fillRect/>
          </a:stretch>
        </p:blipFill>
        <p:spPr>
          <a:xfrm>
            <a:off x="530352" y="1307592"/>
            <a:ext cx="4572000" cy="3072384"/>
          </a:xfrm>
          <a:prstGeom prst="rect">
            <a:avLst/>
          </a:prstGeom>
        </p:spPr>
      </p:pic>
      <p:sp>
        <p:nvSpPr>
          <p:cNvPr id="5" name="content-7-text-3"/>
          <p:cNvSpPr txBox="1"/>
          <p:nvPr/>
        </p:nvSpPr>
        <p:spPr>
          <a:xfrm>
            <a:off x="457200" y="4526280"/>
            <a:ext cx="4754880" cy="274320"/>
          </a:xfrm>
          <a:prstGeom prst="rect">
            <a:avLst/>
          </a:prstGeom>
          <a:noFill/>
          <a:ln/>
        </p:spPr>
        <p:txBody>
          <a:bodyPr wrap="square" lIns="0" tIns="0" rIns="0" bIns="0" rtlCol="0" anchor="t"/>
          <a:lstStyle/>
          <a:p>
            <a:pPr algn="l" indent="0" marL="0">
              <a:buNone/>
            </a:pPr>
            <a:r>
              <a:rPr lang="en-US" sz="1100" dirty="0">
                <a:solidFill>
                  <a:schemeClr val="tx2"/>
                </a:solidFill>
              </a:rPr>
              <a:t>Simulated chain: the tokens are not money. Synthetic data.</a:t>
            </a:r>
            <a:endParaRPr lang="en-US" sz="1100" dirty="0"/>
          </a:p>
        </p:txBody>
      </p:sp>
      <p:sp>
        <p:nvSpPr>
          <p:cNvPr id="6" name="content-7-rect-4"/>
          <p:cNvSpPr/>
          <p:nvPr/>
        </p:nvSpPr>
        <p:spPr>
          <a:xfrm>
            <a:off x="5486400" y="1280160"/>
            <a:ext cx="3200400" cy="731520"/>
          </a:xfrm>
          <a:prstGeom prst="roundRect">
            <a:avLst>
              <a:gd name="adj" fmla="val 10000"/>
            </a:avLst>
          </a:prstGeom>
          <a:solidFill>
            <a:schemeClr val="bg2"/>
          </a:solidFill>
          <a:ln/>
        </p:spPr>
      </p:sp>
      <p:sp>
        <p:nvSpPr>
          <p:cNvPr id="7" name="content-7-text-5"/>
          <p:cNvSpPr txBox="1"/>
          <p:nvPr/>
        </p:nvSpPr>
        <p:spPr>
          <a:xfrm>
            <a:off x="5623560" y="131673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Plan</a:t>
            </a:r>
            <a:endParaRPr lang="en-US" sz="1400" dirty="0"/>
          </a:p>
        </p:txBody>
      </p:sp>
      <p:sp>
        <p:nvSpPr>
          <p:cNvPr id="8" name="content-7-text-6"/>
          <p:cNvSpPr txBox="1"/>
          <p:nvPr/>
        </p:nvSpPr>
        <p:spPr>
          <a:xfrm>
            <a:off x="5623560" y="157276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The schedule is shown first. Nothing is locked.</a:t>
            </a:r>
            <a:endParaRPr lang="en-US" sz="1100" dirty="0"/>
          </a:p>
        </p:txBody>
      </p:sp>
      <p:sp>
        <p:nvSpPr>
          <p:cNvPr id="9" name="content-7-rect-7"/>
          <p:cNvSpPr/>
          <p:nvPr/>
        </p:nvSpPr>
        <p:spPr>
          <a:xfrm>
            <a:off x="5486400" y="2103120"/>
            <a:ext cx="3200400" cy="731520"/>
          </a:xfrm>
          <a:prstGeom prst="roundRect">
            <a:avLst>
              <a:gd name="adj" fmla="val 10000"/>
            </a:avLst>
          </a:prstGeom>
          <a:solidFill>
            <a:schemeClr val="bg2"/>
          </a:solidFill>
          <a:ln/>
        </p:spPr>
      </p:sp>
      <p:sp>
        <p:nvSpPr>
          <p:cNvPr id="10" name="content-7-text-8"/>
          <p:cNvSpPr txBox="1"/>
          <p:nvPr/>
        </p:nvSpPr>
        <p:spPr>
          <a:xfrm>
            <a:off x="5623560" y="213969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Lock</a:t>
            </a:r>
            <a:endParaRPr lang="en-US" sz="1400" dirty="0"/>
          </a:p>
        </p:txBody>
      </p:sp>
      <p:sp>
        <p:nvSpPr>
          <p:cNvPr id="11" name="content-7-text-9"/>
          <p:cNvSpPr txBox="1"/>
          <p:nvPr/>
        </p:nvSpPr>
        <p:spPr>
          <a:xfrm>
            <a:off x="5623560" y="239572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A fresh MFA proof from the parent. The funds wait in the contract.</a:t>
            </a:r>
            <a:endParaRPr lang="en-US" sz="1100" dirty="0"/>
          </a:p>
        </p:txBody>
      </p:sp>
      <p:sp>
        <p:nvSpPr>
          <p:cNvPr id="12" name="content-7-rect-10"/>
          <p:cNvSpPr/>
          <p:nvPr/>
        </p:nvSpPr>
        <p:spPr>
          <a:xfrm>
            <a:off x="5486400" y="2926080"/>
            <a:ext cx="3200400" cy="731520"/>
          </a:xfrm>
          <a:prstGeom prst="roundRect">
            <a:avLst>
              <a:gd name="adj" fmla="val 10000"/>
            </a:avLst>
          </a:prstGeom>
          <a:solidFill>
            <a:schemeClr val="bg2"/>
          </a:solidFill>
          <a:ln/>
        </p:spPr>
      </p:sp>
      <p:sp>
        <p:nvSpPr>
          <p:cNvPr id="13" name="content-7-text-11"/>
          <p:cNvSpPr txBox="1"/>
          <p:nvPr/>
        </p:nvSpPr>
        <p:spPr>
          <a:xfrm>
            <a:off x="5623560" y="296265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Release</a:t>
            </a:r>
            <a:endParaRPr lang="en-US" sz="1400" dirty="0"/>
          </a:p>
        </p:txBody>
      </p:sp>
      <p:sp>
        <p:nvSpPr>
          <p:cNvPr id="14" name="content-7-text-12"/>
          <p:cNvSpPr txBox="1"/>
          <p:nvPr/>
        </p:nvSpPr>
        <p:spPr>
          <a:xfrm>
            <a:off x="5623560" y="321868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 the dates chosen. A reviewer can freeze it with a reason, never move the funds.</a:t>
            </a:r>
            <a:endParaRPr lang="en-US" sz="1100" dirty="0"/>
          </a:p>
        </p:txBody>
      </p:sp>
      <p:sp>
        <p:nvSpPr>
          <p:cNvPr id="15" name="content-7-rect-13"/>
          <p:cNvSpPr/>
          <p:nvPr/>
        </p:nvSpPr>
        <p:spPr>
          <a:xfrm>
            <a:off x="5486400" y="3749040"/>
            <a:ext cx="3200400" cy="731520"/>
          </a:xfrm>
          <a:prstGeom prst="roundRect">
            <a:avLst>
              <a:gd name="adj" fmla="val 10000"/>
            </a:avLst>
          </a:prstGeom>
          <a:solidFill>
            <a:schemeClr val="bg2"/>
          </a:solidFill>
          <a:ln/>
        </p:spPr>
      </p:sp>
      <p:sp>
        <p:nvSpPr>
          <p:cNvPr id="16" name="content-7-text-14"/>
          <p:cNvSpPr txBox="1"/>
          <p:nvPr/>
        </p:nvSpPr>
        <p:spPr>
          <a:xfrm>
            <a:off x="5623560" y="378561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Privacy</a:t>
            </a:r>
            <a:endParaRPr lang="en-US" sz="1400" dirty="0"/>
          </a:p>
        </p:txBody>
      </p:sp>
      <p:sp>
        <p:nvSpPr>
          <p:cNvPr id="17" name="content-7-text-15"/>
          <p:cNvSpPr txBox="1"/>
          <p:nvPr/>
        </p:nvSpPr>
        <p:spPr>
          <a:xfrm>
            <a:off x="5623560" y="404164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Only amounts, dates and hashes go on the chain. The AI has no access.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trained agent,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new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scored once.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7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Code limits its legal moves.</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Honest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Synthetic data, English, no real users yet. The simulated parents and rewards are our assumptions. About 1 attack in 14 still slips past; permissions and MFA remain the real defence.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1129</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139</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41</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Run the escrow contracts on a permissioned chain with a bank-issued deposit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2026-10-15T11:08:03Z</dcterms:created>
  <dcterms:modified xsi:type="dcterms:W3CDTF">2026-10-15T11:08:03Z</dcterms:modified>
</cp:coreProperties>
</file>