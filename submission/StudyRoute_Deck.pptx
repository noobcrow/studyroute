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500082e-aa91-477a-1105-2faebb79e682}">
          <p14:sldIdLst>
            <p14:sldId id="256"/>
            <p14:sldId id="257"/>
          </p14:sldIdLst>
        </p14:section>
        <p14:section name="The problem" id="{3e353e3a-efd3-941e-d542-86a6d28bbbe1}">
          <p14:sldIdLst>
            <p14:sldId id="258"/>
            <p14:sldId id="259"/>
          </p14:sldIdLst>
        </p14:section>
        <p14:section name="The solution" id="{adef3268-bf21-da0a-7a43-54b44675b2e4}">
          <p14:sldIdLst>
            <p14:sldId id="260"/>
            <p14:sldId id="261"/>
            <p14:sldId id="262"/>
            <p14:sldId id="263"/>
          </p14:sldIdLst>
        </p14:section>
        <p14:section name="Trust" id="{e8d10c3c-43f0-c76b-6cfa-08e0f6505429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Close" id="{255e8ab2-79e4-b54e-a733-355c2b457e2a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7A7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F6DA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4B94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C8344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FX margin</c:v>
                </c:pt>
                <c:pt idx="1">
                  <c:v>Fixed fee</c:v>
                </c:pt>
                <c:pt idx="2">
                  <c:v>SWIFT fee</c:v>
                </c:pt>
                <c:pt idx="3">
                  <c:v>OUR fees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16000</c:v>
                </c:pt>
                <c:pt idx="1">
                  <c:v>3000</c:v>
                </c:pt>
                <c:pt idx="2">
                  <c:v>1500</c:v>
                </c:pt>
                <c:pt idx="3">
                  <c:v>4800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We are team TeamEkxin, and this is StudyRoute, our Topic C entry: a sandbox AI agent that helps a parent in Bangladesh pay tuition abroad. Everything is synthetic, no real money moves, and it runs live at studyroute dot bot-keep dot xyz. Our rule: the engine calculates, the AI explains, the human approves, every step is 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Parents compare banks by the fee they are shown. In our synthetic example, for ten thousand pounds with Provider B, 63 percent of the real cost is the hidden exchange-rate margin. Correspondent banks can deduct fees on the way, so the university may be paid short; the deadline spans two calendars; and the paperwork is unclear. Those five problems shape StudyRoute.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people feel this. The parent pays in taka, compares by the posted fee, and approves a large transfer with little to check it against. The student needs the university paid on time: a short or unmatched payment means late fees and weeks of waiting. StudyRoute gives both one plan; the parent decides, and the student can see but cannot approve.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chain: taka to an authorised dealer bank, a SWIFT instruction, a correspondent bank that may take a fee, a receiving bank that may take another, and the university matching by reference. Each step fails in a typical way, shown in red. We simulate the chain with invented banks and a double-entry ledger; no real money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task completion. The parent types one sentence; the agent makes the quote, ranks providers, plans the deadline, checks KYC, and builds this plan card from engine output. A person creates the draft and approves with a fresh MFA code. The agent blocks the payment until KYC, allowlist and caps pass, then tracks it to settled. It never creates a payment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public site, studyroute dot bot-keep dot xyz, opened on the 19th: ten thousand pounds of UK tuition. The ranking is the one our test T01 asserts: Provider B at 1.58 percent, Provider C at 1.63 with a warning that the university would be 35 pounds short, Provider A at 2.16. The engine calculates; the screen only shows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comes from a deterministic engine: integer money, no floats. In our synthetic example Provider B is first at 1.58 percent. Provider C looks cheap but is quoted as SHA, so the university would receive 35 pounds less. Provider A is third at 2.16. The same engine drives the send plan and the currency stress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live site the parent types one sentence. The trained reader only proposes; plain code turns the words into values; and the assistant must read them back before it plans. Only after a yes does it plan. Beside it, the deadline planner works backwards: send by 22 October. The assistant cannot approve; only the parent can, with a fresh MFA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assistant follows a fixed pipeline: policy check, engine facts, masking of personal data, an optional model, a number guard, a tool guard and the audit log. Any figure the model invents is rejected, then a template answers. So the AI can only propose: it cannot approve, submit or cancel, and it works with no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assistant has a trained part, and we measured it, but the envelope matters more than the benchmark. A small model reads the intent and marks amounts, currencies and dates. A reinforcement-learning policy decides when to ask, read back or plan. A third rewords the engine's answer, every rewrite checked in code; a fourth scores each payment for a person to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numbers as a graph. Left: the trained reader against our old rules on 113 messages written after it was frozen. Top right: the risk router's top one percent holds 63.2% of flagged payments; random order finds 1.2%. Bottom right: the dialogue policy cut wrong plans from 2.8% to 0.8% on simulated parents. Small samples, and as a plain yes or no the router is modest.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payment gets an AI risk score out of 100 from four factors: amount, frequency, timeline and person. Low means no warning and nobody waits. Medium or high shows a warning and sends the payment to a person at the bank, who answers yes, ask for more, or no, with MFA. The score never approves; the parent still authorizes.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have shown: one engine for every number, a human-only approval, an audit log that fails Verify when one row is edited, a Docker run, and attack probes defended. What we have not shown: rates and costs are invented, no real parent has used it, there was no outside penetration test, and most Bangladesh Bank figures are placeholders. Both lists are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we ran: 1,679 backend tests, one skipped on Windows; 463 web tests; 24 browser tests; all 24 scenarios mapped; 314 security probe records. On the right is GitHub's own page for our latest commit: all six CI jobs green. These are our own tests; a fresh clone runs 1,672 of 1,673, and no outside party has tested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and compliance is thirty percent of the score, so we made it checkable. Permission tiers are enforced in the domain layer, not just the screens. Only a human parent with a fresh MFA proof, bound to that payment, can approve; the AI has no approve, cancel or limit permission. On the right, the live audit log says PASS, and one edited row makes it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attacked our own application with six tools: access control, browser and XSS, planted secrets, hostile prompts, man-in-the-middle and replay, and login guessing. 314 records, all pass or informational. The man-in-the-middle test is the honest one: altered approvals, swapped MFA proofs, a stolen token and replayed webhooks were refused. But on plain HTTP a listener reads the password and token, and a stolen token can cancel a draft. We do not call that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list our security problems because hiding them would cost more. On plain HTTP a listener reads the password and token; the public site uses HTTPS with HSTS, but nobody else has tested that. A stolen token can read payments and cancel a draft, not approve. We fixed account guessing and a telemetry leak. Old document rows stay readable, development tools carry advisories, and no outside penetration test has been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is a feature. A banner on every screen and a sandbox header on every response say this is a sandbox. Any rule not checked against an official source carries a Not verified badge and the line: indicative, confirm with your AD bank. A payment's compliance report is sealed with a hash that the browser recomputes.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Bangladesh Bank data show 881.7 million dollars sent through banks for overseas education last year, a record, up 32 percent. If a comparison took one percentage point off that volume, families would keep about 8.8 million dollars: our arithmetic, not a forecast. We have no partner, pilot or real users yet; these are numbers to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Next: replace placeholder rules with official Bangladesh Bank sources, partner with an authorised dealer bank for real quotes and KYC, and move the escrow from our simulated chain to a permissioned one. Credit building is in the brief and not built, and we would rather say so. To close: the engine calculates, the AI explains, the human approves, and every step is logged.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60120"/>
            <a:ext cx="53035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6012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StudyRoute</a:t>
            </a:r>
            <a:endParaRPr lang="en-US" sz="6000" dirty="0"/>
          </a:p>
        </p:txBody>
      </p:sp>
      <p:sp>
        <p:nvSpPr>
          <p:cNvPr id="3" name="title-1-text-1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TOPIC C  ·  CROSS-BORDER AND STUDENT FINANCE ASSISTANT</a:t>
            </a:r>
            <a:endParaRPr lang="en-US" sz="1200" dirty="0"/>
          </a:p>
        </p:txBody>
      </p:sp>
      <p:sp>
        <p:nvSpPr>
          <p:cNvPr id="4" name="title-1-text-2"/>
          <p:cNvSpPr txBox="1"/>
          <p:nvPr/>
        </p:nvSpPr>
        <p:spPr>
          <a:xfrm>
            <a:off x="548640" y="21488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An AI agent that helps a parent in Bangladesh pay tuition abroad: clear costs, safe approval, full audit.</a:t>
            </a:r>
            <a:endParaRPr lang="en-US" sz="2000" dirty="0"/>
          </a:p>
        </p:txBody>
      </p:sp>
      <p:sp>
        <p:nvSpPr>
          <p:cNvPr id="5" name="title-1-text-3"/>
          <p:cNvSpPr txBox="1"/>
          <p:nvPr/>
        </p:nvSpPr>
        <p:spPr>
          <a:xfrm>
            <a:off x="548640" y="35204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The engine calculates. The AI explains. The human approves. Every step is logged.</a:t>
            </a:r>
            <a:endParaRPr lang="en-US" sz="1600" dirty="0"/>
          </a:p>
        </p:txBody>
      </p:sp>
      <p:sp>
        <p:nvSpPr>
          <p:cNvPr id="6" name="title-1-text-4"/>
          <p:cNvSpPr txBox="1"/>
          <p:nvPr/>
        </p:nvSpPr>
        <p:spPr>
          <a:xfrm>
            <a:off x="548640" y="4572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TeamEkxin  ·  Sandbox: synthetic data, no real money moves</a:t>
            </a:r>
            <a:endParaRPr lang="en-US" sz="1200" dirty="0"/>
          </a:p>
        </p:txBody>
      </p:sp>
      <p:sp>
        <p:nvSpPr>
          <p:cNvPr id="7" name="title-1-rect-5"/>
          <p:cNvSpPr/>
          <p:nvPr/>
        </p:nvSpPr>
        <p:spPr>
          <a:xfrm>
            <a:off x="6236208" y="384048"/>
            <a:ext cx="2523744" cy="1483614"/>
          </a:xfrm>
          <a:prstGeom prst="roundRect">
            <a:avLst>
              <a:gd name="adj" fmla="val 369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8" name="title-1-image-6" descr="The live student guide finding cities that fit a bud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457200"/>
            <a:ext cx="2377440" cy="1337310"/>
          </a:xfrm>
          <a:prstGeom prst="rect">
            <a:avLst/>
          </a:prstGeom>
        </p:spPr>
      </p:pic>
      <p:sp>
        <p:nvSpPr>
          <p:cNvPr id="9" name="title-1-rect-7"/>
          <p:cNvSpPr/>
          <p:nvPr/>
        </p:nvSpPr>
        <p:spPr>
          <a:xfrm>
            <a:off x="6236208" y="1938528"/>
            <a:ext cx="2523744" cy="1483614"/>
          </a:xfrm>
          <a:prstGeom prst="roundRect">
            <a:avLst>
              <a:gd name="adj" fmla="val 369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10" name="title-1-image-8" descr="The live bank network screen with invented ban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2377440" cy="1337310"/>
          </a:xfrm>
          <a:prstGeom prst="rect">
            <a:avLst/>
          </a:prstGeom>
        </p:spPr>
      </p:pic>
      <p:sp>
        <p:nvSpPr>
          <p:cNvPr id="11" name="title-1-rect-9"/>
          <p:cNvSpPr/>
          <p:nvPr/>
        </p:nvSpPr>
        <p:spPr>
          <a:xfrm>
            <a:off x="6236208" y="3493008"/>
            <a:ext cx="2523744" cy="1483614"/>
          </a:xfrm>
          <a:prstGeom prst="roundRect">
            <a:avLst>
              <a:gd name="adj" fmla="val 369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12" name="title-1-image-10" descr="The live smart escrow screen on a simulated ch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566160"/>
            <a:ext cx="2377440" cy="1337310"/>
          </a:xfrm>
          <a:prstGeom prst="rect">
            <a:avLst/>
          </a:prstGeom>
        </p:spPr>
      </p:pic>
      <p:sp>
        <p:nvSpPr>
          <p:cNvPr id="13" name="title-1-text-11"/>
          <p:cNvSpPr txBox="1"/>
          <p:nvPr/>
        </p:nvSpPr>
        <p:spPr>
          <a:xfrm>
            <a:off x="548640" y="48280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Live: studyroute.bot-keep.xyz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posted fee is not the price</a:t>
            </a:r>
            <a:endParaRPr lang="en-US" sz="3600" dirty="0"/>
          </a:p>
        </p:txBody>
      </p:sp>
      <p:sp>
        <p:nvSpPr>
          <p:cNvPr id="3" name="content-2-rect-1"/>
          <p:cNvSpPr/>
          <p:nvPr/>
        </p:nvSpPr>
        <p:spPr>
          <a:xfrm>
            <a:off x="457200" y="1234440"/>
            <a:ext cx="3017520" cy="342900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4" name="content-2-text-2"/>
          <p:cNvSpPr txBox="1"/>
          <p:nvPr/>
        </p:nvSpPr>
        <p:spPr>
          <a:xfrm>
            <a:off x="640080" y="13716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63%</a:t>
            </a:r>
            <a:endParaRPr lang="en-US" sz="6600" dirty="0"/>
          </a:p>
        </p:txBody>
      </p:sp>
      <p:sp>
        <p:nvSpPr>
          <p:cNvPr id="5" name="content-2-text-3"/>
          <p:cNvSpPr txBox="1"/>
          <p:nvPr/>
        </p:nvSpPr>
        <p:spPr>
          <a:xfrm>
            <a:off x="640080" y="25603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of the real cost is the hidden exchange-rate margin</a:t>
            </a:r>
            <a:endParaRPr lang="en-US" sz="1600" dirty="0"/>
          </a:p>
        </p:txBody>
      </p:sp>
      <p:sp>
        <p:nvSpPr>
          <p:cNvPr id="6" name="content-2-text-4"/>
          <p:cNvSpPr txBox="1"/>
          <p:nvPr/>
        </p:nvSpPr>
        <p:spPr>
          <a:xfrm>
            <a:off x="640080" y="4023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Provider B, GBP 10,000. Synthetic rates and fees.</a:t>
            </a:r>
            <a:endParaRPr lang="en-US" sz="1100" dirty="0"/>
          </a:p>
        </p:txBody>
      </p:sp>
      <p:sp>
        <p:nvSpPr>
          <p:cNvPr id="7" name="content-2-oval-5"/>
          <p:cNvSpPr/>
          <p:nvPr/>
        </p:nvSpPr>
        <p:spPr>
          <a:xfrm>
            <a:off x="3749040" y="128016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content-2-text-6"/>
          <p:cNvSpPr txBox="1"/>
          <p:nvPr/>
        </p:nvSpPr>
        <p:spPr>
          <a:xfrm>
            <a:off x="374904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content-2-text-7"/>
          <p:cNvSpPr txBox="1"/>
          <p:nvPr/>
        </p:nvSpPr>
        <p:spPr>
          <a:xfrm>
            <a:off x="4251960" y="123444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Hidden margin.</a:t>
            </a:r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The rate sits above mid-market, and banks show a fee, not the margin.</a:t>
            </a:r>
            <a:endParaRPr lang="en-US" sz="1400" dirty="0"/>
          </a:p>
        </p:txBody>
      </p:sp>
      <p:sp>
        <p:nvSpPr>
          <p:cNvPr id="10" name="content-2-oval-8"/>
          <p:cNvSpPr/>
          <p:nvPr/>
        </p:nvSpPr>
        <p:spPr>
          <a:xfrm>
            <a:off x="3749040" y="197510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content-2-text-9"/>
          <p:cNvSpPr txBox="1"/>
          <p:nvPr/>
        </p:nvSpPr>
        <p:spPr>
          <a:xfrm>
            <a:off x="374904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content-2-text-10"/>
          <p:cNvSpPr txBox="1"/>
          <p:nvPr/>
        </p:nvSpPr>
        <p:spPr>
          <a:xfrm>
            <a:off x="4251960" y="192938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Fees on the way.</a:t>
            </a:r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Correspondent and receiving banks deduct from the amount.</a:t>
            </a:r>
            <a:endParaRPr lang="en-US" sz="1400" dirty="0"/>
          </a:p>
        </p:txBody>
      </p:sp>
      <p:sp>
        <p:nvSpPr>
          <p:cNvPr id="13" name="content-2-oval-11"/>
          <p:cNvSpPr/>
          <p:nvPr/>
        </p:nvSpPr>
        <p:spPr>
          <a:xfrm>
            <a:off x="3749040" y="267004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content-2-text-12"/>
          <p:cNvSpPr txBox="1"/>
          <p:nvPr/>
        </p:nvSpPr>
        <p:spPr>
          <a:xfrm>
            <a:off x="374904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content-2-text-13"/>
          <p:cNvSpPr txBox="1"/>
          <p:nvPr/>
        </p:nvSpPr>
        <p:spPr>
          <a:xfrm>
            <a:off x="4251960" y="2624328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Short payment.</a:t>
            </a:r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The university gets less than invoiced and may add a late fee.</a:t>
            </a:r>
            <a:endParaRPr lang="en-US" sz="1400" dirty="0"/>
          </a:p>
        </p:txBody>
      </p:sp>
      <p:sp>
        <p:nvSpPr>
          <p:cNvPr id="16" name="content-2-oval-14"/>
          <p:cNvSpPr/>
          <p:nvPr/>
        </p:nvSpPr>
        <p:spPr>
          <a:xfrm>
            <a:off x="3749040" y="336499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content-2-text-15"/>
          <p:cNvSpPr txBox="1"/>
          <p:nvPr/>
        </p:nvSpPr>
        <p:spPr>
          <a:xfrm>
            <a:off x="374904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content-2-text-16"/>
          <p:cNvSpPr txBox="1"/>
          <p:nvPr/>
        </p:nvSpPr>
        <p:spPr>
          <a:xfrm>
            <a:off x="4251960" y="331927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Missed deadlines.</a:t>
            </a:r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Two calendars: Friday and Saturday off in Bangladesh, plus the host country.</a:t>
            </a:r>
            <a:endParaRPr lang="en-US" sz="1400" dirty="0"/>
          </a:p>
        </p:txBody>
      </p:sp>
      <p:sp>
        <p:nvSpPr>
          <p:cNvPr id="19" name="content-2-oval-17"/>
          <p:cNvSpPr/>
          <p:nvPr/>
        </p:nvSpPr>
        <p:spPr>
          <a:xfrm>
            <a:off x="3749040" y="40599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content-2-text-18"/>
          <p:cNvSpPr txBox="1"/>
          <p:nvPr/>
        </p:nvSpPr>
        <p:spPr>
          <a:xfrm>
            <a:off x="3749040" y="4059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content-2-text-19"/>
          <p:cNvSpPr txBox="1"/>
          <p:nvPr/>
        </p:nvSpPr>
        <p:spPr>
          <a:xfrm>
            <a:off x="4251960" y="4014216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Paperwork.</a:t>
            </a:r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An unclear document list and weeks of back and forth.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family carries the risk</a:t>
            </a:r>
            <a:endParaRPr lang="en-US" sz="3600" dirty="0"/>
          </a:p>
        </p:txBody>
      </p:sp>
      <p:sp>
        <p:nvSpPr>
          <p:cNvPr id="3" name="content-3-rect-1"/>
          <p:cNvSpPr/>
          <p:nvPr/>
        </p:nvSpPr>
        <p:spPr>
          <a:xfrm>
            <a:off x="457200" y="1234440"/>
            <a:ext cx="402336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4" name="content-3-oval-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content-3-text-3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</a:t>
            </a:r>
            <a:endParaRPr lang="en-US" sz="1800" dirty="0"/>
          </a:p>
        </p:txBody>
      </p:sp>
      <p:sp>
        <p:nvSpPr>
          <p:cNvPr id="6" name="content-3-text-4"/>
          <p:cNvSpPr txBox="1"/>
          <p:nvPr/>
        </p:nvSpPr>
        <p:spPr>
          <a:xfrm>
            <a:off x="1234440" y="1371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parent in Bangladesh</a:t>
            </a:r>
            <a:endParaRPr lang="en-US" sz="1800" dirty="0"/>
          </a:p>
        </p:txBody>
      </p:sp>
      <p:sp>
        <p:nvSpPr>
          <p:cNvPr id="7" name="content-3-text-5"/>
          <p:cNvSpPr txBox="1"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Pays in BDT and carries the risk</a:t>
            </a:r>
            <a:endParaRPr lang="en-US" sz="1400" dirty="0"/>
          </a:p>
        </p:txBody>
      </p:sp>
      <p:sp>
        <p:nvSpPr>
          <p:cNvPr id="8" name="content-3-text-6"/>
          <p:cNvSpPr txBox="1"/>
          <p:nvPr/>
        </p:nvSpPr>
        <p:spPr>
          <a:xfrm>
            <a:off x="640080" y="246888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Compares banks by the posted fee only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Approves a large transfer with little to check it against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Must prove source of funds and gather documents</a:t>
            </a:r>
            <a:endParaRPr lang="en-US" sz="1400" dirty="0"/>
          </a:p>
        </p:txBody>
      </p:sp>
      <p:sp>
        <p:nvSpPr>
          <p:cNvPr id="9" name="content-3-rect-7"/>
          <p:cNvSpPr/>
          <p:nvPr/>
        </p:nvSpPr>
        <p:spPr>
          <a:xfrm>
            <a:off x="4663440" y="1234440"/>
            <a:ext cx="402336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10" name="content-3-oval-8"/>
          <p:cNvSpPr/>
          <p:nvPr/>
        </p:nvSpPr>
        <p:spPr>
          <a:xfrm>
            <a:off x="484632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content-3-text-9"/>
          <p:cNvSpPr txBox="1"/>
          <p:nvPr/>
        </p:nvSpPr>
        <p:spPr>
          <a:xfrm>
            <a:off x="48463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</a:t>
            </a:r>
            <a:endParaRPr lang="en-US" sz="1800" dirty="0"/>
          </a:p>
        </p:txBody>
      </p:sp>
      <p:sp>
        <p:nvSpPr>
          <p:cNvPr id="12" name="content-3-text-10"/>
          <p:cNvSpPr txBox="1"/>
          <p:nvPr/>
        </p:nvSpPr>
        <p:spPr>
          <a:xfrm>
            <a:off x="5440680" y="1371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student abroad</a:t>
            </a:r>
            <a:endParaRPr lang="en-US" sz="1800" dirty="0"/>
          </a:p>
        </p:txBody>
      </p:sp>
      <p:sp>
        <p:nvSpPr>
          <p:cNvPr id="13" name="content-3-text-11"/>
          <p:cNvSpPr txBox="1"/>
          <p:nvPr/>
        </p:nvSpPr>
        <p:spPr>
          <a:xfrm>
            <a:off x="484632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Needs the university paid on time</a:t>
            </a:r>
            <a:endParaRPr lang="en-US" sz="1400" dirty="0"/>
          </a:p>
        </p:txBody>
      </p:sp>
      <p:sp>
        <p:nvSpPr>
          <p:cNvPr id="14" name="content-3-text-12"/>
          <p:cNvSpPr txBox="1"/>
          <p:nvPr/>
        </p:nvSpPr>
        <p:spPr>
          <a:xfrm>
            <a:off x="4846320" y="246888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Tuition arrives short or cannot be matched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Late fees, or a payment the university cannot match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Weeks of waiting with no status</a:t>
            </a:r>
            <a:endParaRPr lang="en-US" sz="1400" dirty="0"/>
          </a:p>
        </p:txBody>
      </p:sp>
      <p:sp>
        <p:nvSpPr>
          <p:cNvPr id="15" name="content-3-text-13"/>
          <p:cNvSpPr txBox="1"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StudyRoute gives both one plan: the parent decides, the student can see.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money really moves</a:t>
            </a:r>
            <a:endParaRPr lang="en-US" sz="3600" dirty="0"/>
          </a:p>
        </p:txBody>
      </p:sp>
      <p:sp>
        <p:nvSpPr>
          <p:cNvPr id="3" name="content-4-rect-1"/>
          <p:cNvSpPr/>
          <p:nvPr/>
        </p:nvSpPr>
        <p:spPr>
          <a:xfrm>
            <a:off x="457200" y="1417320"/>
            <a:ext cx="1481328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/>
        </p:spPr>
      </p:sp>
      <p:sp>
        <p:nvSpPr>
          <p:cNvPr id="4" name="content-4-text-2"/>
          <p:cNvSpPr txBox="1"/>
          <p:nvPr/>
        </p:nvSpPr>
        <p:spPr>
          <a:xfrm>
            <a:off x="530352" y="15087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Parent</a:t>
            </a:r>
            <a:endParaRPr lang="en-US" sz="1400" dirty="0"/>
          </a:p>
        </p:txBody>
      </p:sp>
      <p:sp>
        <p:nvSpPr>
          <p:cNvPr id="5" name="content-4-text-3"/>
          <p:cNvSpPr txBox="1"/>
          <p:nvPr/>
        </p:nvSpPr>
        <p:spPr>
          <a:xfrm>
            <a:off x="530352" y="210312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pays BDT</a:t>
            </a:r>
            <a:endParaRPr lang="en-US" sz="1200" dirty="0"/>
          </a:p>
        </p:txBody>
      </p:sp>
      <p:sp>
        <p:nvSpPr>
          <p:cNvPr id="6" name="content-4-text-4"/>
          <p:cNvSpPr txBox="1"/>
          <p:nvPr/>
        </p:nvSpPr>
        <p:spPr>
          <a:xfrm>
            <a:off x="457200" y="320040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Missing document</a:t>
            </a:r>
            <a:endParaRPr lang="en-US" sz="1200" dirty="0"/>
          </a:p>
        </p:txBody>
      </p:sp>
      <p:sp>
        <p:nvSpPr>
          <p:cNvPr id="7" name="content-4-arrow-5"/>
          <p:cNvSpPr/>
          <p:nvPr/>
        </p:nvSpPr>
        <p:spPr>
          <a:xfrm>
            <a:off x="1956816" y="2130552"/>
            <a:ext cx="16459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content-4-rect-6"/>
          <p:cNvSpPr/>
          <p:nvPr/>
        </p:nvSpPr>
        <p:spPr>
          <a:xfrm>
            <a:off x="2139696" y="1417320"/>
            <a:ext cx="1481328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/>
        </p:spPr>
      </p:sp>
      <p:sp>
        <p:nvSpPr>
          <p:cNvPr id="9" name="content-4-text-7"/>
          <p:cNvSpPr txBox="1"/>
          <p:nvPr/>
        </p:nvSpPr>
        <p:spPr>
          <a:xfrm>
            <a:off x="2212848" y="15087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 bank</a:t>
            </a:r>
            <a:endParaRPr lang="en-US" sz="1400" dirty="0"/>
          </a:p>
        </p:txBody>
      </p:sp>
      <p:sp>
        <p:nvSpPr>
          <p:cNvPr id="10" name="content-4-text-8"/>
          <p:cNvSpPr txBox="1"/>
          <p:nvPr/>
        </p:nvSpPr>
        <p:spPr>
          <a:xfrm>
            <a:off x="2212848" y="210312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sells FX, sends SWIFT message</a:t>
            </a:r>
            <a:endParaRPr lang="en-US" sz="1200" dirty="0"/>
          </a:p>
        </p:txBody>
      </p:sp>
      <p:sp>
        <p:nvSpPr>
          <p:cNvPr id="11" name="content-4-text-9"/>
          <p:cNvSpPr txBox="1"/>
          <p:nvPr/>
        </p:nvSpPr>
        <p:spPr>
          <a:xfrm>
            <a:off x="2139696" y="320040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Wrong BIC: payment bounces</a:t>
            </a:r>
            <a:endParaRPr lang="en-US" sz="1200" dirty="0"/>
          </a:p>
        </p:txBody>
      </p:sp>
      <p:sp>
        <p:nvSpPr>
          <p:cNvPr id="12" name="content-4-arrow-10"/>
          <p:cNvSpPr/>
          <p:nvPr/>
        </p:nvSpPr>
        <p:spPr>
          <a:xfrm>
            <a:off x="3639312" y="2130552"/>
            <a:ext cx="16459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content-4-rect-11"/>
          <p:cNvSpPr/>
          <p:nvPr/>
        </p:nvSpPr>
        <p:spPr>
          <a:xfrm>
            <a:off x="3822192" y="1417320"/>
            <a:ext cx="1481328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/>
        </p:spPr>
      </p:sp>
      <p:sp>
        <p:nvSpPr>
          <p:cNvPr id="14" name="content-4-text-12"/>
          <p:cNvSpPr txBox="1"/>
          <p:nvPr/>
        </p:nvSpPr>
        <p:spPr>
          <a:xfrm>
            <a:off x="3895344" y="15087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Correspondent bank</a:t>
            </a:r>
            <a:endParaRPr lang="en-US" sz="1400" dirty="0"/>
          </a:p>
        </p:txBody>
      </p:sp>
      <p:sp>
        <p:nvSpPr>
          <p:cNvPr id="15" name="content-4-text-13"/>
          <p:cNvSpPr txBox="1"/>
          <p:nvPr/>
        </p:nvSpPr>
        <p:spPr>
          <a:xfrm>
            <a:off x="3895344" y="210312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may deduct a lifting fee</a:t>
            </a:r>
            <a:endParaRPr lang="en-US" sz="1200" dirty="0"/>
          </a:p>
        </p:txBody>
      </p:sp>
      <p:sp>
        <p:nvSpPr>
          <p:cNvPr id="16" name="content-4-text-14"/>
          <p:cNvSpPr txBox="1"/>
          <p:nvPr/>
        </p:nvSpPr>
        <p:spPr>
          <a:xfrm>
            <a:off x="3822192" y="320040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Fee deducted: tuition short</a:t>
            </a:r>
            <a:endParaRPr lang="en-US" sz="1200" dirty="0"/>
          </a:p>
        </p:txBody>
      </p:sp>
      <p:sp>
        <p:nvSpPr>
          <p:cNvPr id="17" name="content-4-arrow-15"/>
          <p:cNvSpPr/>
          <p:nvPr/>
        </p:nvSpPr>
        <p:spPr>
          <a:xfrm>
            <a:off x="5321808" y="2130552"/>
            <a:ext cx="16459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content-4-rect-16"/>
          <p:cNvSpPr/>
          <p:nvPr/>
        </p:nvSpPr>
        <p:spPr>
          <a:xfrm>
            <a:off x="5504688" y="1417320"/>
            <a:ext cx="1481328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/>
        </p:spPr>
      </p:sp>
      <p:sp>
        <p:nvSpPr>
          <p:cNvPr id="19" name="content-4-text-17"/>
          <p:cNvSpPr txBox="1"/>
          <p:nvPr/>
        </p:nvSpPr>
        <p:spPr>
          <a:xfrm>
            <a:off x="5577840" y="15087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Receiving bank</a:t>
            </a:r>
            <a:endParaRPr lang="en-US" sz="1400" dirty="0"/>
          </a:p>
        </p:txBody>
      </p:sp>
      <p:sp>
        <p:nvSpPr>
          <p:cNvPr id="20" name="content-4-text-18"/>
          <p:cNvSpPr txBox="1"/>
          <p:nvPr/>
        </p:nvSpPr>
        <p:spPr>
          <a:xfrm>
            <a:off x="5577840" y="210312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credits, may deduct a fee</a:t>
            </a:r>
            <a:endParaRPr lang="en-US" sz="1200" dirty="0"/>
          </a:p>
        </p:txBody>
      </p:sp>
      <p:sp>
        <p:nvSpPr>
          <p:cNvPr id="21" name="content-4-text-19"/>
          <p:cNvSpPr txBox="1"/>
          <p:nvPr/>
        </p:nvSpPr>
        <p:spPr>
          <a:xfrm>
            <a:off x="5504688" y="320040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Hold or receiving fee</a:t>
            </a:r>
            <a:endParaRPr lang="en-US" sz="1200" dirty="0"/>
          </a:p>
        </p:txBody>
      </p:sp>
      <p:sp>
        <p:nvSpPr>
          <p:cNvPr id="22" name="content-4-arrow-20"/>
          <p:cNvSpPr/>
          <p:nvPr/>
        </p:nvSpPr>
        <p:spPr>
          <a:xfrm>
            <a:off x="7004304" y="2130552"/>
            <a:ext cx="16459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content-4-rect-21"/>
          <p:cNvSpPr/>
          <p:nvPr/>
        </p:nvSpPr>
        <p:spPr>
          <a:xfrm>
            <a:off x="7187184" y="1417320"/>
            <a:ext cx="1481328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/>
        </p:spPr>
      </p:sp>
      <p:sp>
        <p:nvSpPr>
          <p:cNvPr id="24" name="content-4-text-22"/>
          <p:cNvSpPr txBox="1"/>
          <p:nvPr/>
        </p:nvSpPr>
        <p:spPr>
          <a:xfrm>
            <a:off x="7260336" y="150876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University</a:t>
            </a:r>
            <a:endParaRPr lang="en-US" sz="1400" dirty="0"/>
          </a:p>
        </p:txBody>
      </p:sp>
      <p:sp>
        <p:nvSpPr>
          <p:cNvPr id="25" name="content-4-text-23"/>
          <p:cNvSpPr txBox="1"/>
          <p:nvPr/>
        </p:nvSpPr>
        <p:spPr>
          <a:xfrm>
            <a:off x="7260336" y="210312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matches by reference</a:t>
            </a:r>
            <a:endParaRPr lang="en-US" sz="1200" dirty="0"/>
          </a:p>
        </p:txBody>
      </p:sp>
      <p:sp>
        <p:nvSpPr>
          <p:cNvPr id="26" name="content-4-text-24"/>
          <p:cNvSpPr txBox="1"/>
          <p:nvPr/>
        </p:nvSpPr>
        <p:spPr>
          <a:xfrm>
            <a:off x="7187184" y="320040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No reference: unmatched</a:t>
            </a:r>
            <a:endParaRPr lang="en-US" sz="1200" dirty="0"/>
          </a:p>
        </p:txBody>
      </p:sp>
      <p:sp>
        <p:nvSpPr>
          <p:cNvPr id="27" name="content-4-text-25"/>
          <p:cNvSpPr txBox="1"/>
          <p:nvPr/>
        </p:nvSpPr>
        <p:spPr>
          <a:xfrm>
            <a:off x="45720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Where it goes wrong</a:t>
            </a:r>
            <a:endParaRPr lang="en-US" sz="1200" dirty="0"/>
          </a:p>
        </p:txBody>
      </p:sp>
      <p:sp>
        <p:nvSpPr>
          <p:cNvPr id="28" name="content-4-text-26"/>
          <p:cNvSpPr txBox="1"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SWIFT carries the instruction. Banks settle between their own accounts.</a:t>
            </a:r>
            <a:endParaRPr lang="en-US" sz="1600" dirty="0"/>
          </a:p>
        </p:txBody>
      </p:sp>
      <p:sp>
        <p:nvSpPr>
          <p:cNvPr id="29" name="content-4-text-27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StudyRoute simulates this chain with invented banks. It moves no real money.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From question to settled payment</a:t>
            </a:r>
            <a:endParaRPr lang="en-US" sz="3600" dirty="0"/>
          </a:p>
        </p:txBody>
      </p:sp>
      <p:sp>
        <p:nvSpPr>
          <p:cNvPr id="3" name="content-5-rect-1"/>
          <p:cNvSpPr/>
          <p:nvPr/>
        </p:nvSpPr>
        <p:spPr>
          <a:xfrm>
            <a:off x="457200" y="1234440"/>
            <a:ext cx="4114800" cy="3246120"/>
          </a:xfrm>
          <a:prstGeom prst="roundRect">
            <a:avLst>
              <a:gd name="adj" fmla="val 169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4" name="content-5-image-2" descr="The assistant's payment plan built from one sent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07592"/>
            <a:ext cx="3968496" cy="3099816"/>
          </a:xfrm>
          <a:prstGeom prst="rect">
            <a:avLst/>
          </a:prstGeom>
        </p:spPr>
      </p:pic>
      <p:sp>
        <p:nvSpPr>
          <p:cNvPr id="5" name="content-5-text-3"/>
          <p:cNvSpPr txBox="1"/>
          <p:nvPr/>
        </p:nvSpPr>
        <p:spPr>
          <a:xfrm>
            <a:off x="45720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One sentence in the chat. Synthetic data.</a:t>
            </a:r>
            <a:endParaRPr lang="en-US" sz="1100" dirty="0"/>
          </a:p>
        </p:txBody>
      </p:sp>
      <p:sp>
        <p:nvSpPr>
          <p:cNvPr id="6" name="content-5-rect-4"/>
          <p:cNvSpPr/>
          <p:nvPr/>
        </p:nvSpPr>
        <p:spPr>
          <a:xfrm>
            <a:off x="4892040" y="1380744"/>
            <a:ext cx="713232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7" name="content-5-text-5"/>
          <p:cNvSpPr txBox="1"/>
          <p:nvPr/>
        </p:nvSpPr>
        <p:spPr>
          <a:xfrm>
            <a:off x="4892040" y="138074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AGENT</a:t>
            </a:r>
            <a:endParaRPr lang="en-US" sz="1100" dirty="0"/>
          </a:p>
        </p:txBody>
      </p:sp>
      <p:sp>
        <p:nvSpPr>
          <p:cNvPr id="8" name="content-5-text-6"/>
          <p:cNvSpPr txBox="1"/>
          <p:nvPr/>
        </p:nvSpPr>
        <p:spPr>
          <a:xfrm>
            <a:off x="5742432" y="132588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Reads one sentence, makes the quote</a:t>
            </a:r>
            <a:endParaRPr lang="en-US" sz="1400" dirty="0"/>
          </a:p>
        </p:txBody>
      </p:sp>
      <p:sp>
        <p:nvSpPr>
          <p:cNvPr id="9" name="content-5-rect-7"/>
          <p:cNvSpPr/>
          <p:nvPr/>
        </p:nvSpPr>
        <p:spPr>
          <a:xfrm>
            <a:off x="4892040" y="1929384"/>
            <a:ext cx="713232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10" name="content-5-text-8"/>
          <p:cNvSpPr txBox="1"/>
          <p:nvPr/>
        </p:nvSpPr>
        <p:spPr>
          <a:xfrm>
            <a:off x="4892040" y="192938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AGENT</a:t>
            </a:r>
            <a:endParaRPr lang="en-US" sz="1100" dirty="0"/>
          </a:p>
        </p:txBody>
      </p:sp>
      <p:sp>
        <p:nvSpPr>
          <p:cNvPr id="11" name="content-5-text-9"/>
          <p:cNvSpPr txBox="1"/>
          <p:nvPr/>
        </p:nvSpPr>
        <p:spPr>
          <a:xfrm>
            <a:off x="5742432" y="187452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Ranks, plans deadline, checks KYC</a:t>
            </a:r>
            <a:endParaRPr lang="en-US" sz="1400" dirty="0"/>
          </a:p>
        </p:txBody>
      </p:sp>
      <p:sp>
        <p:nvSpPr>
          <p:cNvPr id="12" name="content-5-rect-10"/>
          <p:cNvSpPr/>
          <p:nvPr/>
        </p:nvSpPr>
        <p:spPr>
          <a:xfrm>
            <a:off x="4892040" y="2478024"/>
            <a:ext cx="713232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/>
        </p:spPr>
      </p:sp>
      <p:sp>
        <p:nvSpPr>
          <p:cNvPr id="13" name="content-5-text-11"/>
          <p:cNvSpPr txBox="1"/>
          <p:nvPr/>
        </p:nvSpPr>
        <p:spPr>
          <a:xfrm>
            <a:off x="4892040" y="247802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YOU</a:t>
            </a:r>
            <a:endParaRPr lang="en-US" sz="1100" dirty="0"/>
          </a:p>
        </p:txBody>
      </p:sp>
      <p:sp>
        <p:nvSpPr>
          <p:cNvPr id="14" name="content-5-text-12"/>
          <p:cNvSpPr txBox="1"/>
          <p:nvPr/>
        </p:nvSpPr>
        <p:spPr>
          <a:xfrm>
            <a:off x="5742432" y="242316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 a draft, choose recipient</a:t>
            </a:r>
            <a:endParaRPr lang="en-US" sz="1400" dirty="0"/>
          </a:p>
        </p:txBody>
      </p:sp>
      <p:sp>
        <p:nvSpPr>
          <p:cNvPr id="15" name="content-5-rect-13"/>
          <p:cNvSpPr/>
          <p:nvPr/>
        </p:nvSpPr>
        <p:spPr>
          <a:xfrm>
            <a:off x="4892040" y="3026664"/>
            <a:ext cx="713232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16" name="content-5-text-14"/>
          <p:cNvSpPr txBox="1"/>
          <p:nvPr/>
        </p:nvSpPr>
        <p:spPr>
          <a:xfrm>
            <a:off x="4892040" y="302666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AGENT</a:t>
            </a:r>
            <a:endParaRPr lang="en-US" sz="1100" dirty="0"/>
          </a:p>
        </p:txBody>
      </p:sp>
      <p:sp>
        <p:nvSpPr>
          <p:cNvPr id="17" name="content-5-text-15"/>
          <p:cNvSpPr txBox="1"/>
          <p:nvPr/>
        </p:nvSpPr>
        <p:spPr>
          <a:xfrm>
            <a:off x="5742432" y="297180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Gates: KYC, allowlist, caps</a:t>
            </a:r>
            <a:endParaRPr lang="en-US" sz="1400" dirty="0"/>
          </a:p>
        </p:txBody>
      </p:sp>
      <p:sp>
        <p:nvSpPr>
          <p:cNvPr id="18" name="content-5-rect-16"/>
          <p:cNvSpPr/>
          <p:nvPr/>
        </p:nvSpPr>
        <p:spPr>
          <a:xfrm>
            <a:off x="4892040" y="3575304"/>
            <a:ext cx="713232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/>
        </p:spPr>
      </p:sp>
      <p:sp>
        <p:nvSpPr>
          <p:cNvPr id="19" name="content-5-text-17"/>
          <p:cNvSpPr txBox="1"/>
          <p:nvPr/>
        </p:nvSpPr>
        <p:spPr>
          <a:xfrm>
            <a:off x="4892040" y="357530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YOU</a:t>
            </a:r>
            <a:endParaRPr lang="en-US" sz="1100" dirty="0"/>
          </a:p>
        </p:txBody>
      </p:sp>
      <p:sp>
        <p:nvSpPr>
          <p:cNvPr id="20" name="content-5-text-18"/>
          <p:cNvSpPr txBox="1"/>
          <p:nvPr/>
        </p:nvSpPr>
        <p:spPr>
          <a:xfrm>
            <a:off x="5742432" y="352044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 with a fresh MFA code</a:t>
            </a:r>
            <a:endParaRPr lang="en-US" sz="1400" dirty="0"/>
          </a:p>
        </p:txBody>
      </p:sp>
      <p:sp>
        <p:nvSpPr>
          <p:cNvPr id="21" name="content-5-rect-19"/>
          <p:cNvSpPr/>
          <p:nvPr/>
        </p:nvSpPr>
        <p:spPr>
          <a:xfrm>
            <a:off x="4892040" y="4123944"/>
            <a:ext cx="713232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22" name="content-5-text-20"/>
          <p:cNvSpPr txBox="1"/>
          <p:nvPr/>
        </p:nvSpPr>
        <p:spPr>
          <a:xfrm>
            <a:off x="4892040" y="412394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AGENT</a:t>
            </a:r>
            <a:endParaRPr lang="en-US" sz="1100" dirty="0"/>
          </a:p>
        </p:txBody>
      </p:sp>
      <p:sp>
        <p:nvSpPr>
          <p:cNvPr id="23" name="content-5-text-21"/>
          <p:cNvSpPr txBox="1"/>
          <p:nvPr/>
        </p:nvSpPr>
        <p:spPr>
          <a:xfrm>
            <a:off x="5742432" y="406908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Tracks to SETTLED, seals a report</a:t>
            </a:r>
            <a:endParaRPr lang="en-US" sz="1400" dirty="0"/>
          </a:p>
        </p:txBody>
      </p:sp>
      <p:sp>
        <p:nvSpPr>
          <p:cNvPr id="24" name="content-5-text-22"/>
          <p:cNvSpPr txBox="1"/>
          <p:nvPr/>
        </p:nvSpPr>
        <p:spPr>
          <a:xfrm>
            <a:off x="4892040" y="4572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AGENT: StudyRoute does it. YOU: a person decides.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Live: comparing providers</a:t>
            </a:r>
            <a:endParaRPr lang="en-US" sz="3600" dirty="0"/>
          </a:p>
        </p:txBody>
      </p:sp>
      <p:sp>
        <p:nvSpPr>
          <p:cNvPr id="3" name="content-6-rect-1"/>
          <p:cNvSpPr/>
          <p:nvPr/>
        </p:nvSpPr>
        <p:spPr>
          <a:xfrm>
            <a:off x="384048" y="1161288"/>
            <a:ext cx="5358384" cy="3221234"/>
          </a:xfrm>
          <a:prstGeom prst="roundRect">
            <a:avLst>
              <a:gd name="adj" fmla="val 170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4" name="content-6-image-2" descr="The live site ranking three providers for GBP 10,000 by true total co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212080" cy="3074930"/>
          </a:xfrm>
          <a:prstGeom prst="rect">
            <a:avLst/>
          </a:prstGeom>
        </p:spPr>
      </p:pic>
      <p:sp>
        <p:nvSpPr>
          <p:cNvPr id="5" name="content-6-text-3"/>
          <p:cNvSpPr txBox="1"/>
          <p:nvPr/>
        </p:nvSpPr>
        <p:spPr>
          <a:xfrm>
            <a:off x="457200" y="443738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studyroute.bot-keep.xyz, GBP 10,000 UK tuition, run on 19 Oct 2026. Synthetic rates and fees.</a:t>
            </a:r>
            <a:endParaRPr lang="en-US" sz="1000" dirty="0"/>
          </a:p>
        </p:txBody>
      </p:sp>
      <p:sp>
        <p:nvSpPr>
          <p:cNvPr id="6" name="content-6-text-4"/>
          <p:cNvSpPr txBox="1"/>
          <p:nvPr/>
        </p:nvSpPr>
        <p:spPr>
          <a:xfrm>
            <a:off x="594360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True total cost, as a share of the amount</a:t>
            </a:r>
            <a:endParaRPr lang="en-US" sz="1300" dirty="0"/>
          </a:p>
        </p:txBody>
      </p:sp>
      <p:sp>
        <p:nvSpPr>
          <p:cNvPr id="7" name="content-6-text-5"/>
          <p:cNvSpPr txBox="1"/>
          <p:nvPr/>
        </p:nvSpPr>
        <p:spPr>
          <a:xfrm>
            <a:off x="5943600" y="178308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</a:t>
            </a:r>
            <a:endParaRPr lang="en-US" sz="1300" dirty="0"/>
          </a:p>
        </p:txBody>
      </p:sp>
      <p:sp>
        <p:nvSpPr>
          <p:cNvPr id="8" name="content-6-rect-6"/>
          <p:cNvSpPr/>
          <p:nvPr/>
        </p:nvSpPr>
        <p:spPr>
          <a:xfrm>
            <a:off x="6309360" y="1929384"/>
            <a:ext cx="963168" cy="2743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9" name="content-6-text-7"/>
          <p:cNvSpPr txBox="1"/>
          <p:nvPr/>
        </p:nvSpPr>
        <p:spPr>
          <a:xfrm>
            <a:off x="7345680" y="19293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1.58%</a:t>
            </a:r>
            <a:endParaRPr lang="en-US" sz="1200" dirty="0"/>
          </a:p>
        </p:txBody>
      </p:sp>
      <p:sp>
        <p:nvSpPr>
          <p:cNvPr id="10" name="content-6-text-8"/>
          <p:cNvSpPr txBox="1"/>
          <p:nvPr/>
        </p:nvSpPr>
        <p:spPr>
          <a:xfrm>
            <a:off x="5943600" y="235000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</a:t>
            </a:r>
            <a:endParaRPr lang="en-US" sz="1300" dirty="0"/>
          </a:p>
        </p:txBody>
      </p:sp>
      <p:sp>
        <p:nvSpPr>
          <p:cNvPr id="11" name="content-6-rect-9"/>
          <p:cNvSpPr/>
          <p:nvPr/>
        </p:nvSpPr>
        <p:spPr>
          <a:xfrm>
            <a:off x="6309360" y="2496312"/>
            <a:ext cx="993648" cy="2743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12" name="content-6-text-10"/>
          <p:cNvSpPr txBox="1"/>
          <p:nvPr/>
        </p:nvSpPr>
        <p:spPr>
          <a:xfrm>
            <a:off x="7376160" y="24963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1.63%</a:t>
            </a:r>
            <a:endParaRPr lang="en-US" sz="1200" dirty="0"/>
          </a:p>
        </p:txBody>
      </p:sp>
      <p:sp>
        <p:nvSpPr>
          <p:cNvPr id="13" name="content-6-text-11"/>
          <p:cNvSpPr txBox="1"/>
          <p:nvPr/>
        </p:nvSpPr>
        <p:spPr>
          <a:xfrm>
            <a:off x="5943600" y="291693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</a:t>
            </a:r>
            <a:endParaRPr lang="en-US" sz="1300" dirty="0"/>
          </a:p>
        </p:txBody>
      </p:sp>
      <p:sp>
        <p:nvSpPr>
          <p:cNvPr id="14" name="content-6-rect-12"/>
          <p:cNvSpPr/>
          <p:nvPr/>
        </p:nvSpPr>
        <p:spPr>
          <a:xfrm>
            <a:off x="6309360" y="3063240"/>
            <a:ext cx="1316736" cy="2743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</p:sp>
      <p:sp>
        <p:nvSpPr>
          <p:cNvPr id="15" name="content-6-text-13"/>
          <p:cNvSpPr txBox="1"/>
          <p:nvPr/>
        </p:nvSpPr>
        <p:spPr>
          <a:xfrm>
            <a:off x="7699248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2.16%</a:t>
            </a:r>
            <a:endParaRPr lang="en-US" sz="1200" dirty="0"/>
          </a:p>
        </p:txBody>
      </p:sp>
      <p:sp>
        <p:nvSpPr>
          <p:cNvPr id="16" name="content-6-text-14"/>
          <p:cNvSpPr txBox="1"/>
          <p:nvPr/>
        </p:nvSpPr>
        <p:spPr>
          <a:xfrm>
            <a:off x="594360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 looks nearly as cheap,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but it is quoted as SHA: the university would receive GBP 35 less than the invoice.</a:t>
            </a:r>
            <a:endParaRPr lang="en-US" sz="1200" dirty="0"/>
          </a:p>
        </p:txBody>
      </p:sp>
      <p:sp>
        <p:nvSpPr>
          <p:cNvPr id="17" name="content-6-text-15"/>
          <p:cNvSpPr txBox="1"/>
          <p:nvPr/>
        </p:nvSpPr>
        <p:spPr>
          <a:xfrm>
            <a:off x="594360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Same figures as test T01.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engine does the maths</a:t>
            </a:r>
            <a:endParaRPr lang="en-US" sz="3600" dirty="0"/>
          </a:p>
        </p:txBody>
      </p:sp>
      <p:graphicFrame>
        <p:nvGraphicFramePr>
          <p:cNvPr id="8" name="content-7-table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8463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685800"/>
                <a:gridCol w="1005840"/>
                <a:gridCol w="777240"/>
                <a:gridCol w="15087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Provider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Charge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Shortfall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Cost 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You pay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 (1st)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1.58%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BDT 1,625,300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 (2nd)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GBP 35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1.63%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BDT 1,620,500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 (3rd)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2.16%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BDT 1,634,500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ontent-7-text-2"/>
          <p:cNvSpPr txBox="1"/>
          <p:nvPr/>
        </p:nvSpPr>
        <p:spPr>
          <a:xfrm>
            <a:off x="45720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Cost % = (FX margin + fixed fee + SWIFT fee + fees you pay + shortfall) / amount at the mid-market rate</a:t>
            </a:r>
            <a:endParaRPr lang="en-US" sz="1200" dirty="0"/>
          </a:p>
        </p:txBody>
      </p:sp>
      <p:sp>
        <p:nvSpPr>
          <p:cNvPr id="5" name="content-7-text-3"/>
          <p:cNvSpPr txBox="1"/>
          <p:nvPr/>
        </p:nvSpPr>
        <p:spPr>
          <a:xfrm>
            <a:off x="457200" y="3977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Smart send plan: the same GBP 12,000 costs BDT 68,400 sent monthly and BDT 28,500 sent at once. A saving of BDT 39,900 against sending monthly (synthetic). Also: the cheapest that arrives before the due date, and a currency-drop stress test. Synthetic rates.</a:t>
            </a:r>
            <a:endParaRPr lang="en-US" sz="1200" dirty="0"/>
          </a:p>
        </p:txBody>
      </p:sp>
      <p:sp>
        <p:nvSpPr>
          <p:cNvPr id="6" name="content-7-text-4"/>
          <p:cNvSpPr txBox="1"/>
          <p:nvPr/>
        </p:nvSpPr>
        <p:spPr>
          <a:xfrm>
            <a:off x="5577840" y="1234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Where Provider B's BDT 25,300 goes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035040" y="17373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ontent-7-text-6"/>
          <p:cNvSpPr txBox="1"/>
          <p:nvPr/>
        </p:nvSpPr>
        <p:spPr>
          <a:xfrm>
            <a:off x="6035040" y="2423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BDT 25,300</a:t>
            </a:r>
            <a:endParaRPr lang="en-US" sz="1400" dirty="0"/>
          </a:p>
        </p:txBody>
      </p:sp>
      <p:sp>
        <p:nvSpPr>
          <p:cNvPr id="9" name="content-7-rect-7"/>
          <p:cNvSpPr/>
          <p:nvPr/>
        </p:nvSpPr>
        <p:spPr>
          <a:xfrm>
            <a:off x="5577840" y="3931920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content-7-text-8"/>
          <p:cNvSpPr txBox="1"/>
          <p:nvPr/>
        </p:nvSpPr>
        <p:spPr>
          <a:xfrm>
            <a:off x="5797296" y="38404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FX margin 63%</a:t>
            </a:r>
            <a:endParaRPr lang="en-US" sz="1200" dirty="0"/>
          </a:p>
        </p:txBody>
      </p:sp>
      <p:sp>
        <p:nvSpPr>
          <p:cNvPr id="11" name="content-7-rect-9"/>
          <p:cNvSpPr/>
          <p:nvPr/>
        </p:nvSpPr>
        <p:spPr>
          <a:xfrm>
            <a:off x="7178040" y="3931920"/>
            <a:ext cx="146304" cy="1463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2" name="content-7-text-10"/>
          <p:cNvSpPr txBox="1"/>
          <p:nvPr/>
        </p:nvSpPr>
        <p:spPr>
          <a:xfrm>
            <a:off x="7397496" y="38404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 fee 12%</a:t>
            </a:r>
            <a:endParaRPr lang="en-US" sz="1200" dirty="0"/>
          </a:p>
        </p:txBody>
      </p:sp>
      <p:sp>
        <p:nvSpPr>
          <p:cNvPr id="13" name="content-7-rect-11"/>
          <p:cNvSpPr/>
          <p:nvPr/>
        </p:nvSpPr>
        <p:spPr>
          <a:xfrm>
            <a:off x="5577840" y="4343400"/>
            <a:ext cx="146304" cy="1463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content-7-text-12"/>
          <p:cNvSpPr txBox="1"/>
          <p:nvPr/>
        </p:nvSpPr>
        <p:spPr>
          <a:xfrm>
            <a:off x="5797296" y="42519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SWIFT fee 6%</a:t>
            </a:r>
            <a:endParaRPr lang="en-US" sz="1200" dirty="0"/>
          </a:p>
        </p:txBody>
      </p:sp>
      <p:sp>
        <p:nvSpPr>
          <p:cNvPr id="15" name="content-7-rect-13"/>
          <p:cNvSpPr/>
          <p:nvPr/>
        </p:nvSpPr>
        <p:spPr>
          <a:xfrm>
            <a:off x="7178040" y="4343400"/>
            <a:ext cx="146304" cy="1463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" name="content-7-text-14"/>
          <p:cNvSpPr txBox="1"/>
          <p:nvPr/>
        </p:nvSpPr>
        <p:spPr>
          <a:xfrm>
            <a:off x="7397496" y="42519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OUR fees 19%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Live: one sentence, read back</a:t>
            </a:r>
            <a:endParaRPr lang="en-US" sz="3600" dirty="0"/>
          </a:p>
        </p:txBody>
      </p:sp>
      <p:sp>
        <p:nvSpPr>
          <p:cNvPr id="3" name="content-8-rect-1"/>
          <p:cNvSpPr/>
          <p:nvPr/>
        </p:nvSpPr>
        <p:spPr>
          <a:xfrm>
            <a:off x="384048" y="1161288"/>
            <a:ext cx="3072384" cy="3412018"/>
          </a:xfrm>
          <a:prstGeom prst="roundRect">
            <a:avLst>
              <a:gd name="adj" fmla="val 1786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4" name="content-8-image-2" descr="The live assistant reading a request back before it pla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2926080" cy="3265714"/>
          </a:xfrm>
          <a:prstGeom prst="rect">
            <a:avLst/>
          </a:prstGeom>
        </p:spPr>
      </p:pic>
      <p:sp>
        <p:nvSpPr>
          <p:cNvPr id="5" name="content-8-text-3"/>
          <p:cNvSpPr txBox="1"/>
          <p:nvPr/>
        </p:nvSpPr>
        <p:spPr>
          <a:xfrm>
            <a:off x="457200" y="462817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Live, 19 Oct 2026: the assistant panel</a:t>
            </a:r>
            <a:endParaRPr lang="en-US" sz="1000" dirty="0"/>
          </a:p>
        </p:txBody>
      </p:sp>
      <p:sp>
        <p:nvSpPr>
          <p:cNvPr id="6" name="content-8-rect-4"/>
          <p:cNvSpPr/>
          <p:nvPr/>
        </p:nvSpPr>
        <p:spPr>
          <a:xfrm>
            <a:off x="3538728" y="1161288"/>
            <a:ext cx="2752344" cy="3353349"/>
          </a:xfrm>
          <a:prstGeom prst="roundRect">
            <a:avLst>
              <a:gd name="adj" fmla="val 199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7" name="content-8-image-5" descr="The live deadline planner working back from the due d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234440"/>
            <a:ext cx="2606040" cy="3207045"/>
          </a:xfrm>
          <a:prstGeom prst="rect">
            <a:avLst/>
          </a:prstGeom>
        </p:spPr>
      </p:pic>
      <p:sp>
        <p:nvSpPr>
          <p:cNvPr id="8" name="content-8-text-6"/>
          <p:cNvSpPr txBox="1"/>
          <p:nvPr/>
        </p:nvSpPr>
        <p:spPr>
          <a:xfrm>
            <a:off x="3611880" y="4569501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Live deadline planner: due 1 Nov, send by 22 Oct, two calendars.</a:t>
            </a:r>
            <a:endParaRPr lang="en-US" sz="1000" dirty="0"/>
          </a:p>
        </p:txBody>
      </p:sp>
      <p:sp>
        <p:nvSpPr>
          <p:cNvPr id="9" name="content-8-rect-7"/>
          <p:cNvSpPr/>
          <p:nvPr/>
        </p:nvSpPr>
        <p:spPr>
          <a:xfrm>
            <a:off x="6492240" y="123444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content-8-rect-8"/>
          <p:cNvSpPr/>
          <p:nvPr/>
        </p:nvSpPr>
        <p:spPr>
          <a:xfrm>
            <a:off x="6492240" y="1234440"/>
            <a:ext cx="64008" cy="10058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content-8-text-9"/>
          <p:cNvSpPr txBox="1"/>
          <p:nvPr/>
        </p:nvSpPr>
        <p:spPr>
          <a:xfrm>
            <a:off x="6656832" y="128930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  The reader proposes</a:t>
            </a:r>
            <a:endParaRPr lang="en-US" sz="1200" dirty="0"/>
          </a:p>
        </p:txBody>
      </p:sp>
      <p:sp>
        <p:nvSpPr>
          <p:cNvPr id="12" name="content-8-text-10"/>
          <p:cNvSpPr txBox="1"/>
          <p:nvPr/>
        </p:nvSpPr>
        <p:spPr>
          <a:xfrm>
            <a:off x="6656832" y="1581912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It marks the amount, currency and date. Plain code turns them into values.</a:t>
            </a:r>
            <a:endParaRPr lang="en-US" sz="1000" dirty="0"/>
          </a:p>
        </p:txBody>
      </p:sp>
      <p:sp>
        <p:nvSpPr>
          <p:cNvPr id="13" name="content-8-rect-11"/>
          <p:cNvSpPr/>
          <p:nvPr/>
        </p:nvSpPr>
        <p:spPr>
          <a:xfrm>
            <a:off x="6492240" y="233172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4" name="content-8-rect-12"/>
          <p:cNvSpPr/>
          <p:nvPr/>
        </p:nvSpPr>
        <p:spPr>
          <a:xfrm>
            <a:off x="6492240" y="2331720"/>
            <a:ext cx="64008" cy="10058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content-8-text-13"/>
          <p:cNvSpPr txBox="1"/>
          <p:nvPr/>
        </p:nvSpPr>
        <p:spPr>
          <a:xfrm>
            <a:off x="6656832" y="238658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  You read it back</a:t>
            </a:r>
            <a:endParaRPr lang="en-US" sz="1200" dirty="0"/>
          </a:p>
        </p:txBody>
      </p:sp>
      <p:sp>
        <p:nvSpPr>
          <p:cNvPr id="16" name="content-8-text-14"/>
          <p:cNvSpPr txBox="1"/>
          <p:nvPr/>
        </p:nvSpPr>
        <p:spPr>
          <a:xfrm>
            <a:off x="6656832" y="2679192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Mandatory: say yes, or tell it what to change.</a:t>
            </a:r>
            <a:endParaRPr lang="en-US" sz="1000" dirty="0"/>
          </a:p>
        </p:txBody>
      </p:sp>
      <p:sp>
        <p:nvSpPr>
          <p:cNvPr id="17" name="content-8-rect-15"/>
          <p:cNvSpPr/>
          <p:nvPr/>
        </p:nvSpPr>
        <p:spPr>
          <a:xfrm>
            <a:off x="6492240" y="342900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8" name="content-8-rect-16"/>
          <p:cNvSpPr/>
          <p:nvPr/>
        </p:nvSpPr>
        <p:spPr>
          <a:xfrm>
            <a:off x="6492240" y="3429000"/>
            <a:ext cx="64008" cy="10058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content-8-text-17"/>
          <p:cNvSpPr txBox="1"/>
          <p:nvPr/>
        </p:nvSpPr>
        <p:spPr>
          <a:xfrm>
            <a:off x="6656832" y="348386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  Only then, a plan</a:t>
            </a:r>
            <a:endParaRPr lang="en-US" sz="1200" dirty="0"/>
          </a:p>
        </p:txBody>
      </p:sp>
      <p:sp>
        <p:nvSpPr>
          <p:cNvPr id="20" name="content-8-text-18"/>
          <p:cNvSpPr txBox="1"/>
          <p:nvPr/>
        </p:nvSpPr>
        <p:spPr>
          <a:xfrm>
            <a:off x="6656832" y="3776472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From engine facts. Only you can approve, with a fresh MFA code.</a:t>
            </a:r>
            <a:endParaRPr lang="en-US" sz="1000" dirty="0"/>
          </a:p>
        </p:txBody>
      </p:sp>
      <p:sp>
        <p:nvSpPr>
          <p:cNvPr id="21" name="content-8-text-19"/>
          <p:cNvSpPr txBox="1"/>
          <p:nvPr/>
        </p:nvSpPr>
        <p:spPr>
          <a:xfrm>
            <a:off x="6492240" y="45537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The assistant cannot approve, submit or cancel.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 AI that cannot cheat</a:t>
            </a:r>
            <a:endParaRPr lang="en-US" sz="3600" dirty="0"/>
          </a:p>
        </p:txBody>
      </p:sp>
      <p:sp>
        <p:nvSpPr>
          <p:cNvPr id="3" name="content-9-text-1"/>
          <p:cNvSpPr txBox="1"/>
          <p:nvPr/>
        </p:nvSpPr>
        <p:spPr>
          <a:xfrm>
            <a:off x="457200" y="10607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Our thesis: AI can participate only if it cannot be the financial authority.</a:t>
            </a:r>
            <a:endParaRPr lang="en-US" sz="1300" dirty="0"/>
          </a:p>
        </p:txBody>
      </p:sp>
      <p:sp>
        <p:nvSpPr>
          <p:cNvPr id="4" name="content-9-rect-2"/>
          <p:cNvSpPr/>
          <p:nvPr/>
        </p:nvSpPr>
        <p:spPr>
          <a:xfrm>
            <a:off x="457200" y="1435608"/>
            <a:ext cx="1051560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/>
        </p:spPr>
      </p:sp>
      <p:sp>
        <p:nvSpPr>
          <p:cNvPr id="5" name="content-9-text-3"/>
          <p:cNvSpPr txBox="1"/>
          <p:nvPr/>
        </p:nvSpPr>
        <p:spPr>
          <a:xfrm>
            <a:off x="502920" y="1435608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  Policy check</a:t>
            </a:r>
            <a:endParaRPr lang="en-US" sz="1200" dirty="0"/>
          </a:p>
        </p:txBody>
      </p:sp>
      <p:sp>
        <p:nvSpPr>
          <p:cNvPr id="6" name="content-9-rect-4"/>
          <p:cNvSpPr/>
          <p:nvPr/>
        </p:nvSpPr>
        <p:spPr>
          <a:xfrm>
            <a:off x="1645920" y="1435608"/>
            <a:ext cx="1051560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/>
        </p:spPr>
      </p:sp>
      <p:sp>
        <p:nvSpPr>
          <p:cNvPr id="7" name="content-9-text-5"/>
          <p:cNvSpPr txBox="1"/>
          <p:nvPr/>
        </p:nvSpPr>
        <p:spPr>
          <a:xfrm>
            <a:off x="1691640" y="1435608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 Engine facts</a:t>
            </a:r>
            <a:endParaRPr lang="en-US" sz="1200" dirty="0"/>
          </a:p>
        </p:txBody>
      </p:sp>
      <p:sp>
        <p:nvSpPr>
          <p:cNvPr id="8" name="content-9-rect-6"/>
          <p:cNvSpPr/>
          <p:nvPr/>
        </p:nvSpPr>
        <p:spPr>
          <a:xfrm>
            <a:off x="2834640" y="1435608"/>
            <a:ext cx="1051560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/>
        </p:spPr>
      </p:sp>
      <p:sp>
        <p:nvSpPr>
          <p:cNvPr id="9" name="content-9-text-7"/>
          <p:cNvSpPr txBox="1"/>
          <p:nvPr/>
        </p:nvSpPr>
        <p:spPr>
          <a:xfrm>
            <a:off x="2880360" y="1435608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  Mask personal data</a:t>
            </a:r>
            <a:endParaRPr lang="en-US" sz="1200" dirty="0"/>
          </a:p>
        </p:txBody>
      </p:sp>
      <p:sp>
        <p:nvSpPr>
          <p:cNvPr id="10" name="content-9-rect-8"/>
          <p:cNvSpPr/>
          <p:nvPr/>
        </p:nvSpPr>
        <p:spPr>
          <a:xfrm>
            <a:off x="4023360" y="1435608"/>
            <a:ext cx="1051560" cy="594360"/>
          </a:xfrm>
          <a:prstGeom prst="roundRect">
            <a:avLst>
              <a:gd name="adj" fmla="val 12308"/>
            </a:avLst>
          </a:prstGeom>
          <a:solidFill>
            <a:schemeClr val="accent2"/>
          </a:solidFill>
          <a:ln/>
        </p:spPr>
      </p:sp>
      <p:sp>
        <p:nvSpPr>
          <p:cNvPr id="11" name="content-9-text-9"/>
          <p:cNvSpPr txBox="1"/>
          <p:nvPr/>
        </p:nvSpPr>
        <p:spPr>
          <a:xfrm>
            <a:off x="4069080" y="1435608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  Model (optional)</a:t>
            </a:r>
            <a:endParaRPr lang="en-US" sz="1200" dirty="0"/>
          </a:p>
        </p:txBody>
      </p:sp>
      <p:sp>
        <p:nvSpPr>
          <p:cNvPr id="12" name="content-9-rect-10"/>
          <p:cNvSpPr/>
          <p:nvPr/>
        </p:nvSpPr>
        <p:spPr>
          <a:xfrm>
            <a:off x="5212080" y="1435608"/>
            <a:ext cx="1051560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/>
        </p:spPr>
      </p:sp>
      <p:sp>
        <p:nvSpPr>
          <p:cNvPr id="13" name="content-9-text-11"/>
          <p:cNvSpPr txBox="1"/>
          <p:nvPr/>
        </p:nvSpPr>
        <p:spPr>
          <a:xfrm>
            <a:off x="5257800" y="1435608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  Number guard</a:t>
            </a:r>
            <a:endParaRPr lang="en-US" sz="1200" dirty="0"/>
          </a:p>
        </p:txBody>
      </p:sp>
      <p:sp>
        <p:nvSpPr>
          <p:cNvPr id="14" name="content-9-rect-12"/>
          <p:cNvSpPr/>
          <p:nvPr/>
        </p:nvSpPr>
        <p:spPr>
          <a:xfrm>
            <a:off x="6400800" y="1435608"/>
            <a:ext cx="1051560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/>
        </p:spPr>
      </p:sp>
      <p:sp>
        <p:nvSpPr>
          <p:cNvPr id="15" name="content-9-text-13"/>
          <p:cNvSpPr txBox="1"/>
          <p:nvPr/>
        </p:nvSpPr>
        <p:spPr>
          <a:xfrm>
            <a:off x="6446520" y="1435608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  Tool guard</a:t>
            </a:r>
            <a:endParaRPr lang="en-US" sz="1200" dirty="0"/>
          </a:p>
        </p:txBody>
      </p:sp>
      <p:sp>
        <p:nvSpPr>
          <p:cNvPr id="16" name="content-9-rect-14"/>
          <p:cNvSpPr/>
          <p:nvPr/>
        </p:nvSpPr>
        <p:spPr>
          <a:xfrm>
            <a:off x="7589520" y="1435608"/>
            <a:ext cx="1051560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/>
        </p:spPr>
      </p:sp>
      <p:sp>
        <p:nvSpPr>
          <p:cNvPr id="17" name="content-9-text-15"/>
          <p:cNvSpPr txBox="1"/>
          <p:nvPr/>
        </p:nvSpPr>
        <p:spPr>
          <a:xfrm>
            <a:off x="7635240" y="1435608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  Audit</a:t>
            </a:r>
            <a:endParaRPr lang="en-US" sz="1200" dirty="0"/>
          </a:p>
        </p:txBody>
      </p:sp>
      <p:sp>
        <p:nvSpPr>
          <p:cNvPr id="18" name="content-9-text-16"/>
          <p:cNvSpPr txBox="1"/>
          <p:nvPr/>
        </p:nvSpPr>
        <p:spPr>
          <a:xfrm>
            <a:off x="457200" y="2084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Only step 4 is not deterministic, and it is optional. A flagged message never reaches it.</a:t>
            </a:r>
            <a:endParaRPr lang="en-US" sz="1200" dirty="0"/>
          </a:p>
        </p:txBody>
      </p:sp>
      <p:sp>
        <p:nvSpPr>
          <p:cNvPr id="19" name="content-9-rect-17"/>
          <p:cNvSpPr/>
          <p:nvPr/>
        </p:nvSpPr>
        <p:spPr>
          <a:xfrm>
            <a:off x="457200" y="251460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0" name="content-9-text-18"/>
          <p:cNvSpPr txBox="1"/>
          <p:nvPr/>
        </p:nvSpPr>
        <p:spPr>
          <a:xfrm>
            <a:off x="640080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Every number comes from the engine</a:t>
            </a:r>
            <a:endParaRPr lang="en-US" sz="1600" dirty="0"/>
          </a:p>
        </p:txBody>
      </p:sp>
      <p:sp>
        <p:nvSpPr>
          <p:cNvPr id="21" name="content-9-text-19"/>
          <p:cNvSpPr txBox="1"/>
          <p:nvPr/>
        </p:nvSpPr>
        <p:spPr>
          <a:xfrm>
            <a:off x="640080" y="33375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number guard rejects any figure the engine did not produce, then a template answer takes over.</a:t>
            </a:r>
            <a:endParaRPr lang="en-US" sz="1400" dirty="0"/>
          </a:p>
        </p:txBody>
      </p:sp>
      <p:sp>
        <p:nvSpPr>
          <p:cNvPr id="22" name="content-9-rect-20"/>
          <p:cNvSpPr/>
          <p:nvPr/>
        </p:nvSpPr>
        <p:spPr>
          <a:xfrm>
            <a:off x="3246120" y="251460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3" name="content-9-text-21"/>
          <p:cNvSpPr txBox="1"/>
          <p:nvPr/>
        </p:nvSpPr>
        <p:spPr>
          <a:xfrm>
            <a:off x="3429000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 can only propose</a:t>
            </a:r>
            <a:endParaRPr lang="en-US" sz="1600" dirty="0"/>
          </a:p>
        </p:txBody>
      </p:sp>
      <p:sp>
        <p:nvSpPr>
          <p:cNvPr id="24" name="content-9-text-22"/>
          <p:cNvSpPr txBox="1"/>
          <p:nvPr/>
        </p:nvSpPr>
        <p:spPr>
          <a:xfrm>
            <a:off x="3429000" y="33375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 may make a quote. It cannot create a payment, approve, submit or cancel. A human approves with MFA.</a:t>
            </a:r>
            <a:endParaRPr lang="en-US" sz="1400" dirty="0"/>
          </a:p>
        </p:txBody>
      </p:sp>
      <p:sp>
        <p:nvSpPr>
          <p:cNvPr id="25" name="content-9-rect-23"/>
          <p:cNvSpPr/>
          <p:nvPr/>
        </p:nvSpPr>
        <p:spPr>
          <a:xfrm>
            <a:off x="6035040" y="251460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6" name="content-9-text-24"/>
          <p:cNvSpPr txBox="1"/>
          <p:nvPr/>
        </p:nvSpPr>
        <p:spPr>
          <a:xfrm>
            <a:off x="6217920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Works with no key</a:t>
            </a:r>
            <a:endParaRPr lang="en-US" sz="1600" dirty="0"/>
          </a:p>
        </p:txBody>
      </p:sp>
      <p:sp>
        <p:nvSpPr>
          <p:cNvPr id="27" name="content-9-text-25"/>
          <p:cNvSpPr txBox="1"/>
          <p:nvPr/>
        </p:nvSpPr>
        <p:spPr>
          <a:xfrm>
            <a:off x="6217920" y="33375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Template mode runs the same checks. A real model is one command away: check_ai.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Trained agents, measured</a:t>
            </a:r>
            <a:endParaRPr lang="en-US" sz="3600" dirty="0"/>
          </a:p>
        </p:txBody>
      </p:sp>
      <p:sp>
        <p:nvSpPr>
          <p:cNvPr id="3" name="content-10-text-1"/>
          <p:cNvSpPr txBox="1"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We measured the models against baselines we ran, and publish the modest results because the envelope, not the benchmark, is the contribution.</a:t>
            </a:r>
            <a:endParaRPr lang="en-US" sz="950" dirty="0"/>
          </a:p>
        </p:txBody>
      </p:sp>
      <p:graphicFrame>
        <p:nvGraphicFramePr>
          <p:cNvPr id="11" name="content-10-table-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1920240"/>
                <a:gridCol w="19202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On 113 frozen messages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Rules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Agent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Right intent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61.1%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88.5%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Plan read exactly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57.6%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Attacks blocked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28.6%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92.9%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Harmless blocked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2%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ontent-10-text-3"/>
          <p:cNvSpPr txBox="1"/>
          <p:nvPr/>
        </p:nvSpPr>
        <p:spPr>
          <a:xfrm>
            <a:off x="457200" y="29718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Written by hand after the model was frozen, now reproduced; not a new blind study. A small sample: about plus or minus 7 points. Real bank questions: rules 40.1%, agent 95.1%.</a:t>
            </a:r>
            <a:endParaRPr lang="en-US" sz="1000" dirty="0"/>
          </a:p>
        </p:txBody>
      </p:sp>
      <p:sp>
        <p:nvSpPr>
          <p:cNvPr id="6" name="content-10-rect-4"/>
          <p:cNvSpPr/>
          <p:nvPr/>
        </p:nvSpPr>
        <p:spPr>
          <a:xfrm>
            <a:off x="457200" y="3502152"/>
            <a:ext cx="2651760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7" name="content-10-text-5"/>
          <p:cNvSpPr txBox="1"/>
          <p:nvPr/>
        </p:nvSpPr>
        <p:spPr>
          <a:xfrm>
            <a:off x="566928" y="353872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it does</a:t>
            </a:r>
            <a:endParaRPr lang="en-US" sz="1100" dirty="0"/>
          </a:p>
        </p:txBody>
      </p:sp>
      <p:sp>
        <p:nvSpPr>
          <p:cNvPr id="8" name="content-10-text-6"/>
          <p:cNvSpPr txBox="1"/>
          <p:nvPr/>
        </p:nvSpPr>
        <p:spPr>
          <a:xfrm>
            <a:off x="566928" y="3831336"/>
            <a:ext cx="24323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chemeClr val="tx1"/>
                </a:solidFill>
              </a:rPr>
              <a:t>Reads the intent and marks the words that carry an amount, a currency or a date. It proposes; plain code checks; the engine calculates. A GPU run of a few minutes on 35,588 messages; 34 MB, 18 ms on a CPU.</a:t>
            </a:r>
            <a:endParaRPr lang="en-US" sz="940" dirty="0"/>
          </a:p>
        </p:txBody>
      </p:sp>
      <p:sp>
        <p:nvSpPr>
          <p:cNvPr id="9" name="content-10-rect-7"/>
          <p:cNvSpPr/>
          <p:nvPr/>
        </p:nvSpPr>
        <p:spPr>
          <a:xfrm>
            <a:off x="3246120" y="3502152"/>
            <a:ext cx="2651760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0" name="content-10-text-8"/>
          <p:cNvSpPr txBox="1"/>
          <p:nvPr/>
        </p:nvSpPr>
        <p:spPr>
          <a:xfrm>
            <a:off x="3355848" y="353872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Reinforcement learning</a:t>
            </a:r>
            <a:endParaRPr lang="en-US" sz="1100" dirty="0"/>
          </a:p>
        </p:txBody>
      </p:sp>
      <p:sp>
        <p:nvSpPr>
          <p:cNvPr id="11" name="content-10-text-9"/>
          <p:cNvSpPr txBox="1"/>
          <p:nvPr/>
        </p:nvSpPr>
        <p:spPr>
          <a:xfrm>
            <a:off x="3355848" y="3831336"/>
            <a:ext cx="24323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chemeClr val="tx1"/>
                </a:solidFill>
              </a:rPr>
              <a:t>A policy trained by Double DQN decides when to ask, read back or plan. On simulated parents: wrong plans 0.8% against 2.8%, 1.17 questions against 0.44. Raw simulator only; the API now adds mandatory clarification and read-back.</a:t>
            </a:r>
            <a:endParaRPr lang="en-US" sz="940" dirty="0"/>
          </a:p>
        </p:txBody>
      </p:sp>
      <p:sp>
        <p:nvSpPr>
          <p:cNvPr id="12" name="content-10-rect-10"/>
          <p:cNvSpPr/>
          <p:nvPr/>
        </p:nvSpPr>
        <p:spPr>
          <a:xfrm>
            <a:off x="6035040" y="3502152"/>
            <a:ext cx="2651760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3" name="content-10-text-11"/>
          <p:cNvSpPr txBox="1"/>
          <p:nvPr/>
        </p:nvSpPr>
        <p:spPr>
          <a:xfrm>
            <a:off x="6144768" y="353872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Also trained, and the limits</a:t>
            </a:r>
            <a:endParaRPr lang="en-US" sz="1100" dirty="0"/>
          </a:p>
        </p:txBody>
      </p:sp>
      <p:sp>
        <p:nvSpPr>
          <p:cNvPr id="14" name="content-10-text-12"/>
          <p:cNvSpPr txBox="1"/>
          <p:nvPr/>
        </p:nvSpPr>
        <p:spPr>
          <a:xfrm>
            <a:off x="6144768" y="3831336"/>
            <a:ext cx="24323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chemeClr val="tx1"/>
                </a:solidFill>
              </a:rPr>
              <a:t>A language model rewords answers: 99.8% of its figures are the engine's; a failed check shows the engine's text. A risk model puts 63.2% of flagged payments in its top 1% (random: 1.2%). A person authorizes every payment. Synthetic data.</a:t>
            </a:r>
            <a:endParaRPr lang="en-US" sz="9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Models against baselines</a:t>
            </a:r>
            <a:endParaRPr lang="en-US" sz="3600" dirty="0"/>
          </a:p>
        </p:txBody>
      </p:sp>
      <p:sp>
        <p:nvSpPr>
          <p:cNvPr id="3" name="content-11-rect-1"/>
          <p:cNvSpPr/>
          <p:nvPr/>
        </p:nvSpPr>
        <p:spPr>
          <a:xfrm>
            <a:off x="457200" y="1234440"/>
            <a:ext cx="484632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/>
        </p:spPr>
      </p:sp>
      <p:sp>
        <p:nvSpPr>
          <p:cNvPr id="4" name="content-11-text-2"/>
          <p:cNvSpPr txBox="1"/>
          <p:nvPr/>
        </p:nvSpPr>
        <p:spPr>
          <a:xfrm>
            <a:off x="640080" y="12984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Reader on 113 frozen messages (higher is better)</a:t>
            </a:r>
            <a:endParaRPr lang="en-US" sz="1300" dirty="0"/>
          </a:p>
        </p:txBody>
      </p:sp>
      <p:sp>
        <p:nvSpPr>
          <p:cNvPr id="5" name="content-11-text-3"/>
          <p:cNvSpPr txBox="1"/>
          <p:nvPr/>
        </p:nvSpPr>
        <p:spPr>
          <a:xfrm>
            <a:off x="640080" y="17830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Right intent</a:t>
            </a:r>
            <a:endParaRPr lang="en-US" sz="1200" dirty="0"/>
          </a:p>
        </p:txBody>
      </p:sp>
      <p:sp>
        <p:nvSpPr>
          <p:cNvPr id="6" name="content-11-rect-4"/>
          <p:cNvSpPr/>
          <p:nvPr/>
        </p:nvSpPr>
        <p:spPr>
          <a:xfrm>
            <a:off x="2057400" y="1851660"/>
            <a:ext cx="1535464" cy="237744"/>
          </a:xfrm>
          <a:prstGeom prst="roundRect">
            <a:avLst>
              <a:gd name="adj" fmla="val 11538"/>
            </a:avLst>
          </a:prstGeom>
          <a:solidFill>
            <a:schemeClr val="accent5"/>
          </a:solidFill>
          <a:ln/>
        </p:spPr>
      </p:sp>
      <p:sp>
        <p:nvSpPr>
          <p:cNvPr id="7" name="content-11-text-5"/>
          <p:cNvSpPr txBox="1"/>
          <p:nvPr/>
        </p:nvSpPr>
        <p:spPr>
          <a:xfrm>
            <a:off x="3666016" y="18516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61.1%</a:t>
            </a:r>
            <a:endParaRPr lang="en-US" sz="1100" dirty="0"/>
          </a:p>
        </p:txBody>
      </p:sp>
      <p:sp>
        <p:nvSpPr>
          <p:cNvPr id="8" name="content-11-rect-6"/>
          <p:cNvSpPr/>
          <p:nvPr/>
        </p:nvSpPr>
        <p:spPr>
          <a:xfrm>
            <a:off x="2057400" y="2135124"/>
            <a:ext cx="2225310" cy="237744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9" name="content-11-text-7"/>
          <p:cNvSpPr txBox="1"/>
          <p:nvPr/>
        </p:nvSpPr>
        <p:spPr>
          <a:xfrm>
            <a:off x="4355862" y="213512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88.5%</a:t>
            </a:r>
            <a:endParaRPr lang="en-US" sz="1100" dirty="0"/>
          </a:p>
        </p:txBody>
      </p:sp>
      <p:sp>
        <p:nvSpPr>
          <p:cNvPr id="10" name="content-11-text-8"/>
          <p:cNvSpPr txBox="1"/>
          <p:nvPr/>
        </p:nvSpPr>
        <p:spPr>
          <a:xfrm>
            <a:off x="640080" y="244144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Plan read exactly</a:t>
            </a:r>
            <a:endParaRPr lang="en-US" sz="1200" dirty="0"/>
          </a:p>
        </p:txBody>
      </p:sp>
      <p:sp>
        <p:nvSpPr>
          <p:cNvPr id="11" name="content-11-rect-9"/>
          <p:cNvSpPr/>
          <p:nvPr/>
        </p:nvSpPr>
        <p:spPr>
          <a:xfrm>
            <a:off x="2057400" y="2510028"/>
            <a:ext cx="1447800" cy="237744"/>
          </a:xfrm>
          <a:prstGeom prst="roundRect">
            <a:avLst>
              <a:gd name="adj" fmla="val 11538"/>
            </a:avLst>
          </a:prstGeom>
          <a:solidFill>
            <a:schemeClr val="accent5"/>
          </a:solidFill>
          <a:ln/>
        </p:spPr>
      </p:sp>
      <p:sp>
        <p:nvSpPr>
          <p:cNvPr id="12" name="content-11-text-10"/>
          <p:cNvSpPr txBox="1"/>
          <p:nvPr/>
        </p:nvSpPr>
        <p:spPr>
          <a:xfrm>
            <a:off x="3578352" y="25100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57.6%</a:t>
            </a:r>
            <a:endParaRPr lang="en-US" sz="1100" dirty="0"/>
          </a:p>
        </p:txBody>
      </p:sp>
      <p:sp>
        <p:nvSpPr>
          <p:cNvPr id="13" name="content-11-rect-11"/>
          <p:cNvSpPr/>
          <p:nvPr/>
        </p:nvSpPr>
        <p:spPr>
          <a:xfrm>
            <a:off x="2057400" y="2793492"/>
            <a:ext cx="2514600" cy="237744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14" name="content-11-text-12"/>
          <p:cNvSpPr txBox="1"/>
          <p:nvPr/>
        </p:nvSpPr>
        <p:spPr>
          <a:xfrm>
            <a:off x="4645152" y="27934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100%</a:t>
            </a:r>
            <a:endParaRPr lang="en-US" sz="1100" dirty="0"/>
          </a:p>
        </p:txBody>
      </p:sp>
      <p:sp>
        <p:nvSpPr>
          <p:cNvPr id="15" name="content-11-text-13"/>
          <p:cNvSpPr txBox="1"/>
          <p:nvPr/>
        </p:nvSpPr>
        <p:spPr>
          <a:xfrm>
            <a:off x="640080" y="3099816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Attacks blocked</a:t>
            </a:r>
            <a:endParaRPr lang="en-US" sz="1200" dirty="0"/>
          </a:p>
        </p:txBody>
      </p:sp>
      <p:sp>
        <p:nvSpPr>
          <p:cNvPr id="16" name="content-11-rect-14"/>
          <p:cNvSpPr/>
          <p:nvPr/>
        </p:nvSpPr>
        <p:spPr>
          <a:xfrm>
            <a:off x="2057400" y="3168396"/>
            <a:ext cx="718457" cy="237744"/>
          </a:xfrm>
          <a:prstGeom prst="roundRect">
            <a:avLst>
              <a:gd name="adj" fmla="val 11538"/>
            </a:avLst>
          </a:prstGeom>
          <a:solidFill>
            <a:schemeClr val="accent5"/>
          </a:solidFill>
          <a:ln/>
        </p:spPr>
      </p:sp>
      <p:sp>
        <p:nvSpPr>
          <p:cNvPr id="17" name="content-11-text-15"/>
          <p:cNvSpPr txBox="1"/>
          <p:nvPr/>
        </p:nvSpPr>
        <p:spPr>
          <a:xfrm>
            <a:off x="2849009" y="31683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28.6%</a:t>
            </a:r>
            <a:endParaRPr lang="en-US" sz="1100" dirty="0"/>
          </a:p>
        </p:txBody>
      </p:sp>
      <p:sp>
        <p:nvSpPr>
          <p:cNvPr id="18" name="content-11-rect-16"/>
          <p:cNvSpPr/>
          <p:nvPr/>
        </p:nvSpPr>
        <p:spPr>
          <a:xfrm>
            <a:off x="2057400" y="3451860"/>
            <a:ext cx="2334986" cy="237744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19" name="content-11-text-17"/>
          <p:cNvSpPr txBox="1"/>
          <p:nvPr/>
        </p:nvSpPr>
        <p:spPr>
          <a:xfrm>
            <a:off x="4465538" y="34518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92.9%</a:t>
            </a:r>
            <a:endParaRPr lang="en-US" sz="1100" dirty="0"/>
          </a:p>
        </p:txBody>
      </p:sp>
      <p:sp>
        <p:nvSpPr>
          <p:cNvPr id="20" name="content-11-rect-18"/>
          <p:cNvSpPr/>
          <p:nvPr/>
        </p:nvSpPr>
        <p:spPr>
          <a:xfrm>
            <a:off x="640080" y="3895344"/>
            <a:ext cx="146304" cy="14630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1" name="content-11-text-19"/>
          <p:cNvSpPr txBox="1"/>
          <p:nvPr/>
        </p:nvSpPr>
        <p:spPr>
          <a:xfrm>
            <a:off x="859536" y="3840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Old rules</a:t>
            </a:r>
            <a:endParaRPr lang="en-US" sz="1000" dirty="0"/>
          </a:p>
        </p:txBody>
      </p:sp>
      <p:sp>
        <p:nvSpPr>
          <p:cNvPr id="22" name="content-11-rect-20"/>
          <p:cNvSpPr/>
          <p:nvPr/>
        </p:nvSpPr>
        <p:spPr>
          <a:xfrm>
            <a:off x="2194560" y="3895344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content-11-text-21"/>
          <p:cNvSpPr txBox="1"/>
          <p:nvPr/>
        </p:nvSpPr>
        <p:spPr>
          <a:xfrm>
            <a:off x="2414016" y="3840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Trained reader</a:t>
            </a:r>
            <a:endParaRPr lang="en-US" sz="1000" dirty="0"/>
          </a:p>
        </p:txBody>
      </p:sp>
      <p:sp>
        <p:nvSpPr>
          <p:cNvPr id="24" name="content-11-rect-22"/>
          <p:cNvSpPr/>
          <p:nvPr/>
        </p:nvSpPr>
        <p:spPr>
          <a:xfrm>
            <a:off x="5486400" y="1234440"/>
            <a:ext cx="32004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5" name="content-11-text-23"/>
          <p:cNvSpPr txBox="1"/>
          <p:nvPr/>
        </p:nvSpPr>
        <p:spPr>
          <a:xfrm>
            <a:off x="562356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Router: flagged payments found in its top 1%</a:t>
            </a:r>
            <a:endParaRPr lang="en-US" sz="1200" dirty="0"/>
          </a:p>
        </p:txBody>
      </p:sp>
      <p:sp>
        <p:nvSpPr>
          <p:cNvPr id="26" name="content-11-text-24"/>
          <p:cNvSpPr txBox="1"/>
          <p:nvPr/>
        </p:nvSpPr>
        <p:spPr>
          <a:xfrm>
            <a:off x="5623560" y="17830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Random</a:t>
            </a:r>
            <a:endParaRPr lang="en-US" sz="1100" dirty="0"/>
          </a:p>
        </p:txBody>
      </p:sp>
      <p:sp>
        <p:nvSpPr>
          <p:cNvPr id="27" name="content-11-rect-25"/>
          <p:cNvSpPr/>
          <p:nvPr/>
        </p:nvSpPr>
        <p:spPr>
          <a:xfrm>
            <a:off x="6492240" y="1869948"/>
            <a:ext cx="36576" cy="237744"/>
          </a:xfrm>
          <a:prstGeom prst="roundRect">
            <a:avLst>
              <a:gd name="adj" fmla="val 75000"/>
            </a:avLst>
          </a:prstGeom>
          <a:solidFill>
            <a:schemeClr val="accent5"/>
          </a:solidFill>
          <a:ln/>
        </p:spPr>
      </p:sp>
      <p:sp>
        <p:nvSpPr>
          <p:cNvPr id="28" name="content-11-text-26"/>
          <p:cNvSpPr txBox="1"/>
          <p:nvPr/>
        </p:nvSpPr>
        <p:spPr>
          <a:xfrm>
            <a:off x="6601968" y="18699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1.2%</a:t>
            </a:r>
            <a:endParaRPr lang="en-US" sz="1000" dirty="0"/>
          </a:p>
        </p:txBody>
      </p:sp>
      <p:sp>
        <p:nvSpPr>
          <p:cNvPr id="29" name="content-11-text-27"/>
          <p:cNvSpPr txBox="1"/>
          <p:nvPr/>
        </p:nvSpPr>
        <p:spPr>
          <a:xfrm>
            <a:off x="5623560" y="21945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Router</a:t>
            </a:r>
            <a:endParaRPr lang="en-US" sz="1100" dirty="0"/>
          </a:p>
        </p:txBody>
      </p:sp>
      <p:sp>
        <p:nvSpPr>
          <p:cNvPr id="30" name="content-11-rect-28"/>
          <p:cNvSpPr/>
          <p:nvPr/>
        </p:nvSpPr>
        <p:spPr>
          <a:xfrm>
            <a:off x="6492240" y="2281428"/>
            <a:ext cx="953838" cy="237744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31" name="content-11-text-29"/>
          <p:cNvSpPr txBox="1"/>
          <p:nvPr/>
        </p:nvSpPr>
        <p:spPr>
          <a:xfrm>
            <a:off x="7519230" y="22814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63.2%</a:t>
            </a:r>
            <a:endParaRPr lang="en-US" sz="1000" dirty="0"/>
          </a:p>
        </p:txBody>
      </p:sp>
      <p:sp>
        <p:nvSpPr>
          <p:cNvPr id="32" name="content-11-rect-30"/>
          <p:cNvSpPr/>
          <p:nvPr/>
        </p:nvSpPr>
        <p:spPr>
          <a:xfrm>
            <a:off x="5486400" y="2834640"/>
            <a:ext cx="32004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33" name="content-11-text-31"/>
          <p:cNvSpPr txBox="1"/>
          <p:nvPr/>
        </p:nvSpPr>
        <p:spPr>
          <a:xfrm>
            <a:off x="562356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Dialogue policy: wrong plans (lower is better)</a:t>
            </a:r>
            <a:endParaRPr lang="en-US" sz="1200" dirty="0"/>
          </a:p>
        </p:txBody>
      </p:sp>
      <p:sp>
        <p:nvSpPr>
          <p:cNvPr id="34" name="content-11-text-32"/>
          <p:cNvSpPr txBox="1"/>
          <p:nvPr/>
        </p:nvSpPr>
        <p:spPr>
          <a:xfrm>
            <a:off x="5623560" y="33832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Before</a:t>
            </a:r>
            <a:endParaRPr lang="en-US" sz="1100" dirty="0"/>
          </a:p>
        </p:txBody>
      </p:sp>
      <p:sp>
        <p:nvSpPr>
          <p:cNvPr id="35" name="content-11-rect-33"/>
          <p:cNvSpPr/>
          <p:nvPr/>
        </p:nvSpPr>
        <p:spPr>
          <a:xfrm>
            <a:off x="6492240" y="3470148"/>
            <a:ext cx="1068705" cy="237744"/>
          </a:xfrm>
          <a:prstGeom prst="roundRect">
            <a:avLst>
              <a:gd name="adj" fmla="val 11538"/>
            </a:avLst>
          </a:prstGeom>
          <a:solidFill>
            <a:schemeClr val="accent5"/>
          </a:solidFill>
          <a:ln/>
        </p:spPr>
      </p:sp>
      <p:sp>
        <p:nvSpPr>
          <p:cNvPr id="36" name="content-11-text-34"/>
          <p:cNvSpPr txBox="1"/>
          <p:nvPr/>
        </p:nvSpPr>
        <p:spPr>
          <a:xfrm>
            <a:off x="7634097" y="34701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2.8%</a:t>
            </a:r>
            <a:endParaRPr lang="en-US" sz="1000" dirty="0"/>
          </a:p>
        </p:txBody>
      </p:sp>
      <p:sp>
        <p:nvSpPr>
          <p:cNvPr id="37" name="content-11-text-35"/>
          <p:cNvSpPr txBox="1"/>
          <p:nvPr/>
        </p:nvSpPr>
        <p:spPr>
          <a:xfrm>
            <a:off x="5623560" y="37947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Learned</a:t>
            </a:r>
            <a:endParaRPr lang="en-US" sz="1100" dirty="0"/>
          </a:p>
        </p:txBody>
      </p:sp>
      <p:sp>
        <p:nvSpPr>
          <p:cNvPr id="38" name="content-11-rect-36"/>
          <p:cNvSpPr/>
          <p:nvPr/>
        </p:nvSpPr>
        <p:spPr>
          <a:xfrm>
            <a:off x="6492240" y="3881628"/>
            <a:ext cx="314325" cy="237744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</p:sp>
      <p:sp>
        <p:nvSpPr>
          <p:cNvPr id="39" name="content-11-text-37"/>
          <p:cNvSpPr txBox="1"/>
          <p:nvPr/>
        </p:nvSpPr>
        <p:spPr>
          <a:xfrm>
            <a:off x="6879717" y="38816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0.8%</a:t>
            </a:r>
            <a:endParaRPr lang="en-US" sz="1000" dirty="0"/>
          </a:p>
        </p:txBody>
      </p:sp>
      <p:sp>
        <p:nvSpPr>
          <p:cNvPr id="40" name="content-11-text-38"/>
          <p:cNvSpPr txBox="1"/>
          <p:nvPr/>
        </p:nvSpPr>
        <p:spPr>
          <a:xfrm>
            <a:off x="5623560" y="41605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1.17 questions on average, up from 0.44</a:t>
            </a:r>
            <a:endParaRPr lang="en-US" sz="900" dirty="0"/>
          </a:p>
        </p:txBody>
      </p:sp>
      <p:sp>
        <p:nvSpPr>
          <p:cNvPr id="41" name="content-11-text-39"/>
          <p:cNvSpPr txBox="1"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Small samples; simulated parents; synthetic data. As a plain yes or no the router is modest: flagging nothing is already 99.8% accurate, so we show how it orders payments.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Risk score, human decision</a:t>
            </a:r>
            <a:endParaRPr lang="en-US" sz="3600" dirty="0"/>
          </a:p>
        </p:txBody>
      </p:sp>
      <p:sp>
        <p:nvSpPr>
          <p:cNvPr id="3" name="content-12-rect-1"/>
          <p:cNvSpPr/>
          <p:nvPr/>
        </p:nvSpPr>
        <p:spPr>
          <a:xfrm>
            <a:off x="384048" y="1161288"/>
            <a:ext cx="5266944" cy="187452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4" name="content-12-image-2" descr="The parent's view: AI risk score 99 out of 100 with the four fac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1728216"/>
          </a:xfrm>
          <a:prstGeom prst="rect">
            <a:avLst/>
          </a:prstGeom>
        </p:spPr>
      </p:pic>
      <p:sp>
        <p:nvSpPr>
          <p:cNvPr id="5" name="content-12-text-3"/>
          <p:cNvSpPr txBox="1"/>
          <p:nvPr/>
        </p:nvSpPr>
        <p:spPr>
          <a:xfrm>
            <a:off x="457200" y="30723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The parent's view: score 99 of 100, medium risk, the four factors and a warning.</a:t>
            </a:r>
            <a:endParaRPr lang="en-US" sz="1000" dirty="0"/>
          </a:p>
        </p:txBody>
      </p:sp>
      <p:sp>
        <p:nvSpPr>
          <p:cNvPr id="6" name="content-12-rect-4"/>
          <p:cNvSpPr/>
          <p:nvPr/>
        </p:nvSpPr>
        <p:spPr>
          <a:xfrm>
            <a:off x="384048" y="3328416"/>
            <a:ext cx="2615184" cy="1453896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7" name="content-12-image-5" descr="The bank reviewer's decision: yes, ask for more or no, signed with MF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01568"/>
            <a:ext cx="2468880" cy="1307592"/>
          </a:xfrm>
          <a:prstGeom prst="rect">
            <a:avLst/>
          </a:prstGeom>
        </p:spPr>
      </p:pic>
      <p:sp>
        <p:nvSpPr>
          <p:cNvPr id="8" name="content-12-text-6"/>
          <p:cNvSpPr txBox="1"/>
          <p:nvPr/>
        </p:nvSpPr>
        <p:spPr>
          <a:xfrm>
            <a:off x="3154680" y="34747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The bank reviewer's view: three answers, signed with a fresh MFA code. The AI cannot choose for them.</a:t>
            </a:r>
            <a:endParaRPr lang="en-US" sz="1000" dirty="0"/>
          </a:p>
        </p:txBody>
      </p:sp>
      <p:sp>
        <p:nvSpPr>
          <p:cNvPr id="9" name="content-12-rect-7"/>
          <p:cNvSpPr/>
          <p:nvPr/>
        </p:nvSpPr>
        <p:spPr>
          <a:xfrm>
            <a:off x="5852160" y="1234440"/>
            <a:ext cx="2834640" cy="813816"/>
          </a:xfrm>
          <a:prstGeom prst="roundRect">
            <a:avLst>
              <a:gd name="adj" fmla="val 8989"/>
            </a:avLst>
          </a:prstGeom>
          <a:solidFill>
            <a:schemeClr val="bg2"/>
          </a:solidFill>
          <a:ln/>
        </p:spPr>
      </p:sp>
      <p:sp>
        <p:nvSpPr>
          <p:cNvPr id="10" name="content-12-rect-8"/>
          <p:cNvSpPr/>
          <p:nvPr/>
        </p:nvSpPr>
        <p:spPr>
          <a:xfrm>
            <a:off x="5852160" y="1234440"/>
            <a:ext cx="64008" cy="8138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content-12-text-9"/>
          <p:cNvSpPr txBox="1"/>
          <p:nvPr/>
        </p:nvSpPr>
        <p:spPr>
          <a:xfrm>
            <a:off x="6016752" y="127101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1  Score</a:t>
            </a:r>
            <a:endParaRPr lang="en-US" sz="1150" dirty="0"/>
          </a:p>
        </p:txBody>
      </p:sp>
      <p:sp>
        <p:nvSpPr>
          <p:cNvPr id="12" name="content-12-text-10"/>
          <p:cNvSpPr txBox="1"/>
          <p:nvPr/>
        </p:nvSpPr>
        <p:spPr>
          <a:xfrm>
            <a:off x="6016752" y="150876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 small neural network rates each payment 0 to 100 from four factors: amount, frequency, timeline and person.</a:t>
            </a:r>
            <a:endParaRPr lang="en-US" sz="900" dirty="0"/>
          </a:p>
        </p:txBody>
      </p:sp>
      <p:sp>
        <p:nvSpPr>
          <p:cNvPr id="13" name="content-12-rect-11"/>
          <p:cNvSpPr/>
          <p:nvPr/>
        </p:nvSpPr>
        <p:spPr>
          <a:xfrm>
            <a:off x="5852160" y="2121408"/>
            <a:ext cx="2834640" cy="813816"/>
          </a:xfrm>
          <a:prstGeom prst="roundRect">
            <a:avLst>
              <a:gd name="adj" fmla="val 8989"/>
            </a:avLst>
          </a:prstGeom>
          <a:solidFill>
            <a:schemeClr val="bg2"/>
          </a:solidFill>
          <a:ln/>
        </p:spPr>
      </p:sp>
      <p:sp>
        <p:nvSpPr>
          <p:cNvPr id="14" name="content-12-rect-12"/>
          <p:cNvSpPr/>
          <p:nvPr/>
        </p:nvSpPr>
        <p:spPr>
          <a:xfrm>
            <a:off x="5852160" y="2121408"/>
            <a:ext cx="64008" cy="8138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content-12-text-13"/>
          <p:cNvSpPr txBox="1"/>
          <p:nvPr/>
        </p:nvSpPr>
        <p:spPr>
          <a:xfrm>
            <a:off x="6016752" y="21579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2  Route</a:t>
            </a:r>
            <a:endParaRPr lang="en-US" sz="1150" dirty="0"/>
          </a:p>
        </p:txBody>
      </p:sp>
      <p:sp>
        <p:nvSpPr>
          <p:cNvPr id="16" name="content-12-text-14"/>
          <p:cNvSpPr txBox="1"/>
          <p:nvPr/>
        </p:nvSpPr>
        <p:spPr>
          <a:xfrm>
            <a:off x="6016752" y="239572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Low: no warning, nobody waits. Medium or high: a warning, and a person at the bank looks.</a:t>
            </a:r>
            <a:endParaRPr lang="en-US" sz="900" dirty="0"/>
          </a:p>
        </p:txBody>
      </p:sp>
      <p:sp>
        <p:nvSpPr>
          <p:cNvPr id="17" name="content-12-rect-15"/>
          <p:cNvSpPr/>
          <p:nvPr/>
        </p:nvSpPr>
        <p:spPr>
          <a:xfrm>
            <a:off x="5852160" y="3008376"/>
            <a:ext cx="2834640" cy="813816"/>
          </a:xfrm>
          <a:prstGeom prst="roundRect">
            <a:avLst>
              <a:gd name="adj" fmla="val 8989"/>
            </a:avLst>
          </a:prstGeom>
          <a:solidFill>
            <a:schemeClr val="bg2"/>
          </a:solidFill>
          <a:ln/>
        </p:spPr>
      </p:sp>
      <p:sp>
        <p:nvSpPr>
          <p:cNvPr id="18" name="content-12-rect-16"/>
          <p:cNvSpPr/>
          <p:nvPr/>
        </p:nvSpPr>
        <p:spPr>
          <a:xfrm>
            <a:off x="5852160" y="3008376"/>
            <a:ext cx="64008" cy="8138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content-12-text-17"/>
          <p:cNvSpPr txBox="1"/>
          <p:nvPr/>
        </p:nvSpPr>
        <p:spPr>
          <a:xfrm>
            <a:off x="6016752" y="304495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3  Decide</a:t>
            </a:r>
            <a:endParaRPr lang="en-US" sz="1150" dirty="0"/>
          </a:p>
        </p:txBody>
      </p:sp>
      <p:sp>
        <p:nvSpPr>
          <p:cNvPr id="20" name="content-12-text-18"/>
          <p:cNvSpPr txBox="1"/>
          <p:nvPr/>
        </p:nvSpPr>
        <p:spPr>
          <a:xfrm>
            <a:off x="6016752" y="328269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The reviewer answers yes, ask for more or no, signed with a fresh MFA code. The parent still authorizes.</a:t>
            </a:r>
            <a:endParaRPr lang="en-US" sz="900" dirty="0"/>
          </a:p>
        </p:txBody>
      </p:sp>
      <p:sp>
        <p:nvSpPr>
          <p:cNvPr id="21" name="content-12-rect-19"/>
          <p:cNvSpPr/>
          <p:nvPr/>
        </p:nvSpPr>
        <p:spPr>
          <a:xfrm>
            <a:off x="5852160" y="3895344"/>
            <a:ext cx="2834640" cy="813816"/>
          </a:xfrm>
          <a:prstGeom prst="roundRect">
            <a:avLst>
              <a:gd name="adj" fmla="val 8989"/>
            </a:avLst>
          </a:prstGeom>
          <a:solidFill>
            <a:schemeClr val="bg2"/>
          </a:solidFill>
          <a:ln/>
        </p:spPr>
      </p:sp>
      <p:sp>
        <p:nvSpPr>
          <p:cNvPr id="22" name="content-12-rect-20"/>
          <p:cNvSpPr/>
          <p:nvPr/>
        </p:nvSpPr>
        <p:spPr>
          <a:xfrm>
            <a:off x="5852160" y="3895344"/>
            <a:ext cx="64008" cy="81381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3" name="content-12-text-21"/>
          <p:cNvSpPr txBox="1"/>
          <p:nvPr/>
        </p:nvSpPr>
        <p:spPr>
          <a:xfrm>
            <a:off x="6016752" y="3931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4  Limits</a:t>
            </a:r>
            <a:endParaRPr lang="en-US" sz="1150" dirty="0"/>
          </a:p>
        </p:txBody>
      </p:sp>
      <p:sp>
        <p:nvSpPr>
          <p:cNvPr id="24" name="content-12-text-22"/>
          <p:cNvSpPr txBox="1"/>
          <p:nvPr/>
        </p:nvSpPr>
        <p:spPr>
          <a:xfrm>
            <a:off x="6016752" y="416966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It never clears, declines or approves. Its top 1% holds 63.2% of flagged payments (random: 1.2%). Trained on public synthetic data.</a:t>
            </a:r>
            <a:endParaRPr lang="en-US" sz="900" dirty="0"/>
          </a:p>
        </p:txBody>
      </p:sp>
      <p:sp>
        <p:nvSpPr>
          <p:cNvPr id="25" name="content-12-text-23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Local sandbox screenshots, synthetic data. Indicative. Confirm with your AD bank.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Proven, and not proven yet</a:t>
            </a:r>
            <a:endParaRPr lang="en-US" sz="3600" dirty="0"/>
          </a:p>
        </p:txBody>
      </p:sp>
      <p:sp>
        <p:nvSpPr>
          <p:cNvPr id="3" name="content-13-rect-1"/>
          <p:cNvSpPr/>
          <p:nvPr/>
        </p:nvSpPr>
        <p:spPr>
          <a:xfrm>
            <a:off x="457200" y="1234440"/>
            <a:ext cx="402336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/>
        </p:spPr>
      </p:sp>
      <p:sp>
        <p:nvSpPr>
          <p:cNvPr id="4" name="content-13-rect-2"/>
          <p:cNvSpPr/>
          <p:nvPr/>
        </p:nvSpPr>
        <p:spPr>
          <a:xfrm>
            <a:off x="640080" y="1371600"/>
            <a:ext cx="109728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content-13-text-3"/>
          <p:cNvSpPr txBox="1"/>
          <p:nvPr/>
        </p:nvSpPr>
        <p:spPr>
          <a:xfrm>
            <a:off x="841248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Proven by tests and logs</a:t>
            </a:r>
            <a:endParaRPr lang="en-US" sz="1800" dirty="0"/>
          </a:p>
        </p:txBody>
      </p:sp>
      <p:sp>
        <p:nvSpPr>
          <p:cNvPr id="6" name="content-13-text-4"/>
          <p:cNvSpPr txBox="1"/>
          <p:nvPr/>
        </p:nvSpPr>
        <p:spPr>
          <a:xfrm>
            <a:off x="640080" y="1847088"/>
            <a:ext cx="365760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Every number comes from one engine, in integer money. All 24 blueprint scenarios are mapped to tests (counts on the next slides).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Only a human with a fresh MFA code can approve. The AI has no such permission, and a test enforces the table.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Edit one audit row and Verify fails at that event. Audit-only rewrites are detected; both logs share SQLite, so a DB owner can rewrite both.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The Docker stack passed its demo, 48 browser checks and the hardened overlay on 18 Oct; the attack probes defended 146 of 146.</a:t>
            </a:r>
            <a:endParaRPr lang="en-US" sz="1100" dirty="0"/>
          </a:p>
        </p:txBody>
      </p:sp>
      <p:sp>
        <p:nvSpPr>
          <p:cNvPr id="7" name="content-13-rect-5"/>
          <p:cNvSpPr/>
          <p:nvPr/>
        </p:nvSpPr>
        <p:spPr>
          <a:xfrm>
            <a:off x="4663440" y="1234440"/>
            <a:ext cx="402336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/>
        </p:spPr>
      </p:sp>
      <p:sp>
        <p:nvSpPr>
          <p:cNvPr id="8" name="content-13-rect-6"/>
          <p:cNvSpPr/>
          <p:nvPr/>
        </p:nvSpPr>
        <p:spPr>
          <a:xfrm>
            <a:off x="4846320" y="1371600"/>
            <a:ext cx="109728" cy="3657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content-13-text-7"/>
          <p:cNvSpPr txBox="1"/>
          <p:nvPr/>
        </p:nvSpPr>
        <p:spPr>
          <a:xfrm>
            <a:off x="5047488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Not proven, and we say so</a:t>
            </a:r>
            <a:endParaRPr lang="en-US" sz="1800" dirty="0"/>
          </a:p>
        </p:txBody>
      </p:sp>
      <p:sp>
        <p:nvSpPr>
          <p:cNvPr id="10" name="content-13-text-8"/>
          <p:cNvSpPr txBox="1"/>
          <p:nvPr/>
        </p:nvSpPr>
        <p:spPr>
          <a:xfrm>
            <a:off x="4846320" y="192024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Rates, fees and city costs are invented. We have not compared them with real quotes yet.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 real parent has used it. The trained models saw synthetic data.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Local code review and regression tests; no external penetration test.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Most Bangladesh Bank figures are placeholders marked Not verified; four rules were read in the official circular.</a:t>
            </a:r>
            <a:endParaRPr lang="en-US" sz="1200" dirty="0"/>
          </a:p>
        </p:txBody>
      </p:sp>
      <p:sp>
        <p:nvSpPr>
          <p:cNvPr id="11" name="content-13-text-9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Both lists are in the repository: docs/OPEN_QUESTIONS.md and docs/SECURITY_SELF_ASSESSMENT.md</a:t>
            </a:r>
            <a:endParaRPr lang="en-US" sz="1100" dirty="0"/>
          </a:p>
        </p:txBody>
      </p:sp>
      <p:sp>
        <p:nvSpPr>
          <p:cNvPr id="12" name="content-13-text-10"/>
          <p:cNvSpPr txBox="1"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Raw logs and reproduction commands: submission/evidence/, docs/TEST_CASES.md.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Every test we ran</a:t>
            </a:r>
            <a:endParaRPr lang="en-US" sz="3600" dirty="0"/>
          </a:p>
        </p:txBody>
      </p:sp>
      <p:sp>
        <p:nvSpPr>
          <p:cNvPr id="3" name="content-14-rect-1"/>
          <p:cNvSpPr/>
          <p:nvPr/>
        </p:nvSpPr>
        <p:spPr>
          <a:xfrm>
            <a:off x="457200" y="1234440"/>
            <a:ext cx="21031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4" name="content-14-text-2"/>
          <p:cNvSpPr txBox="1"/>
          <p:nvPr/>
        </p:nvSpPr>
        <p:spPr>
          <a:xfrm>
            <a:off x="566928" y="126187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1,679</a:t>
            </a:r>
            <a:endParaRPr lang="en-US" sz="2400" dirty="0"/>
          </a:p>
        </p:txBody>
      </p:sp>
      <p:sp>
        <p:nvSpPr>
          <p:cNvPr id="5" name="content-14-text-3"/>
          <p:cNvSpPr txBox="1"/>
          <p:nvPr/>
        </p:nvSpPr>
        <p:spPr>
          <a:xfrm>
            <a:off x="566928" y="173736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backend tests (1,678 pass, 1 skipped)</a:t>
            </a:r>
            <a:endParaRPr lang="en-US" sz="1050" dirty="0"/>
          </a:p>
        </p:txBody>
      </p:sp>
      <p:sp>
        <p:nvSpPr>
          <p:cNvPr id="6" name="content-14-rect-4"/>
          <p:cNvSpPr/>
          <p:nvPr/>
        </p:nvSpPr>
        <p:spPr>
          <a:xfrm>
            <a:off x="2651760" y="1234440"/>
            <a:ext cx="21031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7" name="content-14-text-5"/>
          <p:cNvSpPr txBox="1"/>
          <p:nvPr/>
        </p:nvSpPr>
        <p:spPr>
          <a:xfrm>
            <a:off x="2761488" y="126187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463</a:t>
            </a:r>
            <a:endParaRPr lang="en-US" sz="2400" dirty="0"/>
          </a:p>
        </p:txBody>
      </p:sp>
      <p:sp>
        <p:nvSpPr>
          <p:cNvPr id="8" name="content-14-text-6"/>
          <p:cNvSpPr txBox="1"/>
          <p:nvPr/>
        </p:nvSpPr>
        <p:spPr>
          <a:xfrm>
            <a:off x="2761488" y="173736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web tests</a:t>
            </a:r>
            <a:endParaRPr lang="en-US" sz="1050" dirty="0"/>
          </a:p>
        </p:txBody>
      </p:sp>
      <p:sp>
        <p:nvSpPr>
          <p:cNvPr id="9" name="content-14-rect-7"/>
          <p:cNvSpPr/>
          <p:nvPr/>
        </p:nvSpPr>
        <p:spPr>
          <a:xfrm>
            <a:off x="457200" y="2286000"/>
            <a:ext cx="21031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0" name="content-14-text-8"/>
          <p:cNvSpPr txBox="1"/>
          <p:nvPr/>
        </p:nvSpPr>
        <p:spPr>
          <a:xfrm>
            <a:off x="566928" y="23134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24</a:t>
            </a:r>
            <a:endParaRPr lang="en-US" sz="2400" dirty="0"/>
          </a:p>
        </p:txBody>
      </p:sp>
      <p:sp>
        <p:nvSpPr>
          <p:cNvPr id="11" name="content-14-text-9"/>
          <p:cNvSpPr txBox="1"/>
          <p:nvPr/>
        </p:nvSpPr>
        <p:spPr>
          <a:xfrm>
            <a:off x="566928" y="278892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browser tests</a:t>
            </a:r>
            <a:endParaRPr lang="en-US" sz="1050" dirty="0"/>
          </a:p>
        </p:txBody>
      </p:sp>
      <p:sp>
        <p:nvSpPr>
          <p:cNvPr id="12" name="content-14-rect-10"/>
          <p:cNvSpPr/>
          <p:nvPr/>
        </p:nvSpPr>
        <p:spPr>
          <a:xfrm>
            <a:off x="2651760" y="2286000"/>
            <a:ext cx="21031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3" name="content-14-text-11"/>
          <p:cNvSpPr txBox="1"/>
          <p:nvPr/>
        </p:nvSpPr>
        <p:spPr>
          <a:xfrm>
            <a:off x="2761488" y="23134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314</a:t>
            </a:r>
            <a:endParaRPr lang="en-US" sz="2400" dirty="0"/>
          </a:p>
        </p:txBody>
      </p:sp>
      <p:sp>
        <p:nvSpPr>
          <p:cNvPr id="14" name="content-14-text-12"/>
          <p:cNvSpPr txBox="1"/>
          <p:nvPr/>
        </p:nvSpPr>
        <p:spPr>
          <a:xfrm>
            <a:off x="2761488" y="278892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security probe records (308 PASS, 6 INFO)</a:t>
            </a:r>
            <a:endParaRPr lang="en-US" sz="1050" dirty="0"/>
          </a:p>
        </p:txBody>
      </p:sp>
      <p:sp>
        <p:nvSpPr>
          <p:cNvPr id="15" name="content-14-rect-13"/>
          <p:cNvSpPr/>
          <p:nvPr/>
        </p:nvSpPr>
        <p:spPr>
          <a:xfrm>
            <a:off x="457200" y="3337560"/>
            <a:ext cx="21031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6" name="content-14-text-14"/>
          <p:cNvSpPr txBox="1"/>
          <p:nvPr/>
        </p:nvSpPr>
        <p:spPr>
          <a:xfrm>
            <a:off x="566928" y="336499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24 of 24</a:t>
            </a:r>
            <a:endParaRPr lang="en-US" sz="2400" dirty="0"/>
          </a:p>
        </p:txBody>
      </p:sp>
      <p:sp>
        <p:nvSpPr>
          <p:cNvPr id="17" name="content-14-text-15"/>
          <p:cNvSpPr txBox="1"/>
          <p:nvPr/>
        </p:nvSpPr>
        <p:spPr>
          <a:xfrm>
            <a:off x="566928" y="384048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blueprint scenarios mapped to tests</a:t>
            </a:r>
            <a:endParaRPr lang="en-US" sz="1050" dirty="0"/>
          </a:p>
        </p:txBody>
      </p:sp>
      <p:sp>
        <p:nvSpPr>
          <p:cNvPr id="18" name="content-14-rect-16"/>
          <p:cNvSpPr/>
          <p:nvPr/>
        </p:nvSpPr>
        <p:spPr>
          <a:xfrm>
            <a:off x="2651760" y="3337560"/>
            <a:ext cx="21031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9" name="content-14-text-17"/>
          <p:cNvSpPr txBox="1"/>
          <p:nvPr/>
        </p:nvSpPr>
        <p:spPr>
          <a:xfrm>
            <a:off x="2761488" y="336499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 of 6</a:t>
            </a:r>
            <a:endParaRPr lang="en-US" sz="2400" dirty="0"/>
          </a:p>
        </p:txBody>
      </p:sp>
      <p:sp>
        <p:nvSpPr>
          <p:cNvPr id="20" name="content-14-text-18"/>
          <p:cNvSpPr txBox="1"/>
          <p:nvPr/>
        </p:nvSpPr>
        <p:spPr>
          <a:xfrm>
            <a:off x="2761488" y="384048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CI jobs green on GitHub</a:t>
            </a:r>
            <a:endParaRPr lang="en-US" sz="1050" dirty="0"/>
          </a:p>
        </p:txBody>
      </p:sp>
      <p:sp>
        <p:nvSpPr>
          <p:cNvPr id="21" name="content-14-rect-19"/>
          <p:cNvSpPr/>
          <p:nvPr/>
        </p:nvSpPr>
        <p:spPr>
          <a:xfrm>
            <a:off x="5001768" y="1161288"/>
            <a:ext cx="3758184" cy="2403729"/>
          </a:xfrm>
          <a:prstGeom prst="roundRect">
            <a:avLst>
              <a:gd name="adj" fmla="val 2282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22" name="content-14-image-20" descr="GitHub Actions: all six CI jobs green on the latest comm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234440"/>
            <a:ext cx="3611880" cy="2257425"/>
          </a:xfrm>
          <a:prstGeom prst="rect">
            <a:avLst/>
          </a:prstGeom>
        </p:spPr>
      </p:pic>
      <p:sp>
        <p:nvSpPr>
          <p:cNvPr id="23" name="content-14-text-21"/>
          <p:cNvSpPr txBox="1"/>
          <p:nvPr/>
        </p:nvSpPr>
        <p:spPr>
          <a:xfrm>
            <a:off x="5074920" y="3619881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GitHub Actions, latest commit: backend, web, contracts, secret-scan, dependency-audit and docker all green.</a:t>
            </a:r>
            <a:endParaRPr lang="en-US" sz="1000" dirty="0"/>
          </a:p>
        </p:txBody>
      </p:sp>
      <p:sp>
        <p:nvSpPr>
          <p:cNvPr id="24" name="content-14-text-22"/>
          <p:cNvSpPr txBox="1"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Our own tests. A fresh clone runs 1,672 of 1,673 (one module needs an excluded fixture). No independent test yet.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Security you can verify</a:t>
            </a:r>
            <a:endParaRPr lang="en-US" sz="3600" dirty="0"/>
          </a:p>
        </p:txBody>
      </p:sp>
      <p:sp>
        <p:nvSpPr>
          <p:cNvPr id="3" name="content-15-rect-1"/>
          <p:cNvSpPr/>
          <p:nvPr/>
        </p:nvSpPr>
        <p:spPr>
          <a:xfrm>
            <a:off x="457200" y="1280160"/>
            <a:ext cx="402336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4" name="content-15-text-2"/>
          <p:cNvSpPr txBox="1"/>
          <p:nvPr/>
        </p:nvSpPr>
        <p:spPr>
          <a:xfrm>
            <a:off x="594360" y="128016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Public: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sign in, health</a:t>
            </a:r>
            <a:endParaRPr lang="en-US" sz="1400" dirty="0"/>
          </a:p>
        </p:txBody>
      </p:sp>
      <p:sp>
        <p:nvSpPr>
          <p:cNvPr id="5" name="content-15-rect-3"/>
          <p:cNvSpPr/>
          <p:nvPr/>
        </p:nvSpPr>
        <p:spPr>
          <a:xfrm>
            <a:off x="457200" y="1755648"/>
            <a:ext cx="402336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6" name="content-15-text-4"/>
          <p:cNvSpPr txBox="1"/>
          <p:nvPr/>
        </p:nvSpPr>
        <p:spPr>
          <a:xfrm>
            <a:off x="594360" y="175564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Read: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own household only</a:t>
            </a:r>
            <a:endParaRPr lang="en-US" sz="1400" dirty="0"/>
          </a:p>
        </p:txBody>
      </p:sp>
      <p:sp>
        <p:nvSpPr>
          <p:cNvPr id="7" name="content-15-rect-5"/>
          <p:cNvSpPr/>
          <p:nvPr/>
        </p:nvSpPr>
        <p:spPr>
          <a:xfrm>
            <a:off x="457200" y="2231136"/>
            <a:ext cx="402336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8" name="content-15-text-6"/>
          <p:cNvSpPr txBox="1"/>
          <p:nvPr/>
        </p:nvSpPr>
        <p:spPr>
          <a:xfrm>
            <a:off x="594360" y="223113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Prepare: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drafts, recipients, documents</a:t>
            </a:r>
            <a:endParaRPr lang="en-US" sz="1400" dirty="0"/>
          </a:p>
        </p:txBody>
      </p:sp>
      <p:sp>
        <p:nvSpPr>
          <p:cNvPr id="9" name="content-15-rect-7"/>
          <p:cNvSpPr/>
          <p:nvPr/>
        </p:nvSpPr>
        <p:spPr>
          <a:xfrm>
            <a:off x="457200" y="2706624"/>
            <a:ext cx="4023360" cy="402336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/>
        </p:spPr>
      </p:sp>
      <p:sp>
        <p:nvSpPr>
          <p:cNvPr id="10" name="content-15-text-8"/>
          <p:cNvSpPr txBox="1"/>
          <p:nvPr/>
        </p:nvSpPr>
        <p:spPr>
          <a:xfrm>
            <a:off x="594360" y="2706624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Decide:</a:t>
            </a:r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human parent with fresh MFA</a:t>
            </a:r>
            <a:endParaRPr lang="en-US" sz="1400" dirty="0"/>
          </a:p>
        </p:txBody>
      </p:sp>
      <p:sp>
        <p:nvSpPr>
          <p:cNvPr id="11" name="content-15-rect-9"/>
          <p:cNvSpPr/>
          <p:nvPr/>
        </p:nvSpPr>
        <p:spPr>
          <a:xfrm>
            <a:off x="457200" y="3182112"/>
            <a:ext cx="4023360" cy="402336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2" name="content-15-text-10"/>
          <p:cNvSpPr txBox="1"/>
          <p:nvPr/>
        </p:nvSpPr>
        <p:spPr>
          <a:xfrm>
            <a:off x="594360" y="318211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Administer: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reviewer rules and Verify</a:t>
            </a:r>
            <a:endParaRPr lang="en-US" sz="1400" dirty="0"/>
          </a:p>
        </p:txBody>
      </p:sp>
      <p:sp>
        <p:nvSpPr>
          <p:cNvPr id="13" name="content-15-rect-11"/>
          <p:cNvSpPr/>
          <p:nvPr/>
        </p:nvSpPr>
        <p:spPr>
          <a:xfrm>
            <a:off x="457200" y="3657600"/>
            <a:ext cx="4023360" cy="402336"/>
          </a:xfrm>
          <a:prstGeom prst="roundRect">
            <a:avLst>
              <a:gd name="adj" fmla="val 13636"/>
            </a:avLst>
          </a:prstGeom>
          <a:solidFill>
            <a:schemeClr val="accent3"/>
          </a:solidFill>
          <a:ln/>
        </p:spPr>
      </p:sp>
      <p:sp>
        <p:nvSpPr>
          <p:cNvPr id="14" name="content-15-text-12"/>
          <p:cNvSpPr txBox="1"/>
          <p:nvPr/>
        </p:nvSpPr>
        <p:spPr>
          <a:xfrm>
            <a:off x="594360" y="365760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Never for the AI:</a:t>
            </a:r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approve, cancel, limits</a:t>
            </a:r>
            <a:endParaRPr lang="en-US" sz="1400" dirty="0"/>
          </a:p>
        </p:txBody>
      </p:sp>
      <p:sp>
        <p:nvSpPr>
          <p:cNvPr id="15" name="content-15-rect-13"/>
          <p:cNvSpPr/>
          <p:nvPr/>
        </p:nvSpPr>
        <p:spPr>
          <a:xfrm>
            <a:off x="4590288" y="1207008"/>
            <a:ext cx="4169664" cy="1375664"/>
          </a:xfrm>
          <a:prstGeom prst="roundRect">
            <a:avLst>
              <a:gd name="adj" fmla="val 3988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16" name="content-15-image-14" descr="The live audit log: Verify the hash chain says P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280160"/>
            <a:ext cx="4023360" cy="1229360"/>
          </a:xfrm>
          <a:prstGeom prst="rect">
            <a:avLst/>
          </a:prstGeom>
        </p:spPr>
      </p:pic>
      <p:sp>
        <p:nvSpPr>
          <p:cNvPr id="17" name="content-15-text-15"/>
          <p:cNvSpPr txBox="1"/>
          <p:nvPr/>
        </p:nvSpPr>
        <p:spPr>
          <a:xfrm>
            <a:off x="4663440" y="263753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Live, studyroute.bot-keep.xyz, 19 Oct 2026: Verify the hash chain gives PASS on 40 events.</a:t>
            </a:r>
            <a:endParaRPr lang="en-US" sz="1050" dirty="0"/>
          </a:p>
        </p:txBody>
      </p:sp>
      <p:sp>
        <p:nvSpPr>
          <p:cNvPr id="18" name="content-15-rect-16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9" name="content-15-text-17"/>
          <p:cNvSpPr txBox="1"/>
          <p:nvPr/>
        </p:nvSpPr>
        <p:spPr>
          <a:xfrm>
            <a:off x="4800600" y="31089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Tamper test: </a:t>
            </a:r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edit one audit row behind the app's back and Verify fails at that event; restore it and Verify passes.</a:t>
            </a:r>
            <a:endParaRPr lang="en-US" sz="1100" dirty="0"/>
          </a:p>
        </p:txBody>
      </p:sp>
      <p:sp>
        <p:nvSpPr>
          <p:cNvPr id="20" name="content-15-rect-18"/>
          <p:cNvSpPr/>
          <p:nvPr/>
        </p:nvSpPr>
        <p:spPr>
          <a:xfrm>
            <a:off x="4663440" y="393192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21" name="content-15-text-19"/>
          <p:cNvSpPr txBox="1"/>
          <p:nvPr/>
        </p:nvSpPr>
        <p:spPr>
          <a:xfrm>
            <a:off x="4800600" y="3977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Also: </a:t>
            </a:r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each payment's compliance report carries a hash your browser can recompute. Every threat has a test: docs/SECURITY.md.</a:t>
            </a:r>
            <a:endParaRPr lang="en-US" sz="1100" dirty="0"/>
          </a:p>
        </p:txBody>
      </p:sp>
      <p:sp>
        <p:nvSpPr>
          <p:cNvPr id="22" name="content-15-text-20"/>
          <p:cNvSpPr txBox="1"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Raw logs: submission/evidence/.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Attacking our own app</a:t>
            </a:r>
            <a:endParaRPr lang="en-US" sz="3600" dirty="0"/>
          </a:p>
        </p:txBody>
      </p:sp>
      <p:sp>
        <p:nvSpPr>
          <p:cNvPr id="3" name="content-16-rect-1"/>
          <p:cNvSpPr/>
          <p:nvPr/>
        </p:nvSpPr>
        <p:spPr>
          <a:xfrm>
            <a:off x="457200" y="1234440"/>
            <a:ext cx="475488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4" name="content-16-text-2"/>
          <p:cNvSpPr txBox="1"/>
          <p:nvPr/>
        </p:nvSpPr>
        <p:spPr>
          <a:xfrm>
            <a:off x="640080" y="1298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Recorded checks by tool (all pass)</a:t>
            </a:r>
            <a:endParaRPr lang="en-US" sz="1300" dirty="0"/>
          </a:p>
        </p:txBody>
      </p:sp>
      <p:sp>
        <p:nvSpPr>
          <p:cNvPr id="5" name="content-16-text-3"/>
          <p:cNvSpPr txBox="1"/>
          <p:nvPr/>
        </p:nvSpPr>
        <p:spPr>
          <a:xfrm>
            <a:off x="640080" y="1737360"/>
            <a:ext cx="1874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Access control, injection</a:t>
            </a:r>
            <a:endParaRPr lang="en-US" sz="1100" dirty="0"/>
          </a:p>
        </p:txBody>
      </p:sp>
      <p:sp>
        <p:nvSpPr>
          <p:cNvPr id="6" name="content-16-rect-4"/>
          <p:cNvSpPr/>
          <p:nvPr/>
        </p:nvSpPr>
        <p:spPr>
          <a:xfrm>
            <a:off x="2606040" y="1824228"/>
            <a:ext cx="1920240" cy="219456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7" name="content-16-text-5"/>
          <p:cNvSpPr txBox="1"/>
          <p:nvPr/>
        </p:nvSpPr>
        <p:spPr>
          <a:xfrm>
            <a:off x="4599432" y="182422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146</a:t>
            </a:r>
            <a:endParaRPr lang="en-US" sz="1000" dirty="0"/>
          </a:p>
        </p:txBody>
      </p:sp>
      <p:sp>
        <p:nvSpPr>
          <p:cNvPr id="8" name="content-16-text-6"/>
          <p:cNvSpPr txBox="1"/>
          <p:nvPr/>
        </p:nvSpPr>
        <p:spPr>
          <a:xfrm>
            <a:off x="640080" y="2130552"/>
            <a:ext cx="1874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Browser, CSP, XSS</a:t>
            </a:r>
            <a:endParaRPr lang="en-US" sz="1100" dirty="0"/>
          </a:p>
        </p:txBody>
      </p:sp>
      <p:sp>
        <p:nvSpPr>
          <p:cNvPr id="9" name="content-16-rect-7"/>
          <p:cNvSpPr/>
          <p:nvPr/>
        </p:nvSpPr>
        <p:spPr>
          <a:xfrm>
            <a:off x="2606040" y="2217420"/>
            <a:ext cx="631312" cy="219456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10" name="content-16-text-8"/>
          <p:cNvSpPr txBox="1"/>
          <p:nvPr/>
        </p:nvSpPr>
        <p:spPr>
          <a:xfrm>
            <a:off x="3310504" y="221742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48</a:t>
            </a:r>
            <a:endParaRPr lang="en-US" sz="1000" dirty="0"/>
          </a:p>
        </p:txBody>
      </p:sp>
      <p:sp>
        <p:nvSpPr>
          <p:cNvPr id="11" name="content-16-text-9"/>
          <p:cNvSpPr txBox="1"/>
          <p:nvPr/>
        </p:nvSpPr>
        <p:spPr>
          <a:xfrm>
            <a:off x="640080" y="2523744"/>
            <a:ext cx="1874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Leak canaries (+2 info)</a:t>
            </a:r>
            <a:endParaRPr lang="en-US" sz="1100" dirty="0"/>
          </a:p>
        </p:txBody>
      </p:sp>
      <p:sp>
        <p:nvSpPr>
          <p:cNvPr id="12" name="content-16-rect-10"/>
          <p:cNvSpPr/>
          <p:nvPr/>
        </p:nvSpPr>
        <p:spPr>
          <a:xfrm>
            <a:off x="2606040" y="2610612"/>
            <a:ext cx="657616" cy="219456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13" name="content-16-text-11"/>
          <p:cNvSpPr txBox="1"/>
          <p:nvPr/>
        </p:nvSpPr>
        <p:spPr>
          <a:xfrm>
            <a:off x="3336808" y="261061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50</a:t>
            </a:r>
            <a:endParaRPr lang="en-US" sz="1000" dirty="0"/>
          </a:p>
        </p:txBody>
      </p:sp>
      <p:sp>
        <p:nvSpPr>
          <p:cNvPr id="14" name="content-16-text-12"/>
          <p:cNvSpPr txBox="1"/>
          <p:nvPr/>
        </p:nvSpPr>
        <p:spPr>
          <a:xfrm>
            <a:off x="640080" y="2916936"/>
            <a:ext cx="1874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Hostile assistant prompts</a:t>
            </a:r>
            <a:endParaRPr lang="en-US" sz="1100" dirty="0"/>
          </a:p>
        </p:txBody>
      </p:sp>
      <p:sp>
        <p:nvSpPr>
          <p:cNvPr id="15" name="content-16-rect-13"/>
          <p:cNvSpPr/>
          <p:nvPr/>
        </p:nvSpPr>
        <p:spPr>
          <a:xfrm>
            <a:off x="2606040" y="3003804"/>
            <a:ext cx="552398" cy="219456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16" name="content-16-text-14"/>
          <p:cNvSpPr txBox="1"/>
          <p:nvPr/>
        </p:nvSpPr>
        <p:spPr>
          <a:xfrm>
            <a:off x="3231590" y="30038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42</a:t>
            </a:r>
            <a:endParaRPr lang="en-US" sz="1000" dirty="0"/>
          </a:p>
        </p:txBody>
      </p:sp>
      <p:sp>
        <p:nvSpPr>
          <p:cNvPr id="17" name="content-16-text-15"/>
          <p:cNvSpPr txBox="1"/>
          <p:nvPr/>
        </p:nvSpPr>
        <p:spPr>
          <a:xfrm>
            <a:off x="640080" y="3310128"/>
            <a:ext cx="1874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Man-in-the-middle (+4 info)</a:t>
            </a:r>
            <a:endParaRPr lang="en-US" sz="1100" dirty="0"/>
          </a:p>
        </p:txBody>
      </p:sp>
      <p:sp>
        <p:nvSpPr>
          <p:cNvPr id="18" name="content-16-rect-16"/>
          <p:cNvSpPr/>
          <p:nvPr/>
        </p:nvSpPr>
        <p:spPr>
          <a:xfrm>
            <a:off x="2606040" y="3396996"/>
            <a:ext cx="184133" cy="219456"/>
          </a:xfrm>
          <a:prstGeom prst="roundRect">
            <a:avLst>
              <a:gd name="adj" fmla="val 14898"/>
            </a:avLst>
          </a:prstGeom>
          <a:solidFill>
            <a:schemeClr val="accent1"/>
          </a:solidFill>
          <a:ln/>
        </p:spPr>
      </p:sp>
      <p:sp>
        <p:nvSpPr>
          <p:cNvPr id="19" name="content-16-text-17"/>
          <p:cNvSpPr txBox="1"/>
          <p:nvPr/>
        </p:nvSpPr>
        <p:spPr>
          <a:xfrm>
            <a:off x="2863325" y="33969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14</a:t>
            </a:r>
            <a:endParaRPr lang="en-US" sz="1000" dirty="0"/>
          </a:p>
        </p:txBody>
      </p:sp>
      <p:sp>
        <p:nvSpPr>
          <p:cNvPr id="20" name="content-16-text-18"/>
          <p:cNvSpPr txBox="1"/>
          <p:nvPr/>
        </p:nvSpPr>
        <p:spPr>
          <a:xfrm>
            <a:off x="640080" y="3703320"/>
            <a:ext cx="1874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Login and MFA guessing</a:t>
            </a:r>
            <a:endParaRPr lang="en-US" sz="1100" dirty="0"/>
          </a:p>
        </p:txBody>
      </p:sp>
      <p:sp>
        <p:nvSpPr>
          <p:cNvPr id="21" name="content-16-rect-19"/>
          <p:cNvSpPr/>
          <p:nvPr/>
        </p:nvSpPr>
        <p:spPr>
          <a:xfrm>
            <a:off x="2606040" y="3790188"/>
            <a:ext cx="105219" cy="219456"/>
          </a:xfrm>
          <a:prstGeom prst="roundRect">
            <a:avLst>
              <a:gd name="adj" fmla="val 26071"/>
            </a:avLst>
          </a:prstGeom>
          <a:solidFill>
            <a:schemeClr val="accent1"/>
          </a:solidFill>
          <a:ln/>
        </p:spPr>
      </p:sp>
      <p:sp>
        <p:nvSpPr>
          <p:cNvPr id="22" name="content-16-text-20"/>
          <p:cNvSpPr txBox="1"/>
          <p:nvPr/>
        </p:nvSpPr>
        <p:spPr>
          <a:xfrm>
            <a:off x="2784411" y="37901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8</a:t>
            </a:r>
            <a:endParaRPr lang="en-US" sz="1000" dirty="0"/>
          </a:p>
        </p:txBody>
      </p:sp>
      <p:sp>
        <p:nvSpPr>
          <p:cNvPr id="23" name="content-16-text-21"/>
          <p:cNvSpPr txBox="1"/>
          <p:nvPr/>
        </p:nvSpPr>
        <p:spPr>
          <a:xfrm>
            <a:off x="640080" y="4114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314 records: 308 PASS, 6 INFO. Team-run lab results; not 314 different attacks.</a:t>
            </a:r>
            <a:endParaRPr lang="en-US" sz="1000" dirty="0"/>
          </a:p>
        </p:txBody>
      </p:sp>
      <p:sp>
        <p:nvSpPr>
          <p:cNvPr id="24" name="content-16-rect-22"/>
          <p:cNvSpPr/>
          <p:nvPr/>
        </p:nvSpPr>
        <p:spPr>
          <a:xfrm>
            <a:off x="5394960" y="1234440"/>
            <a:ext cx="329184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25" name="content-16-text-23"/>
          <p:cNvSpPr txBox="1"/>
          <p:nvPr/>
        </p:nvSpPr>
        <p:spPr>
          <a:xfrm>
            <a:off x="5532120" y="1298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The man-in-the-middle test</a:t>
            </a:r>
            <a:endParaRPr lang="en-US" sz="1300" dirty="0"/>
          </a:p>
        </p:txBody>
      </p:sp>
      <p:sp>
        <p:nvSpPr>
          <p:cNvPr id="26" name="content-16-text-24"/>
          <p:cNvSpPr txBox="1"/>
          <p:nvPr/>
        </p:nvSpPr>
        <p:spPr>
          <a:xfrm>
            <a:off x="553212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Held (14 of 14)</a:t>
            </a:r>
            <a:endParaRPr lang="en-US" sz="1200" dirty="0"/>
          </a:p>
        </p:txBody>
      </p:sp>
      <p:sp>
        <p:nvSpPr>
          <p:cNvPr id="27" name="content-16-text-25"/>
          <p:cNvSpPr txBox="1"/>
          <p:nvPr/>
        </p:nvSpPr>
        <p:spPr>
          <a:xfrm>
            <a:off x="5532120" y="19659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Altered or redirected approval: refused</a:t>
            </a:r>
            <a:endParaRPr lang="en-US" sz="10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Stripped or swapped MFA proof: refused</a:t>
            </a:r>
            <a:endParaRPr lang="en-US" sz="10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Stolen token cannot approve or allowlist</a:t>
            </a:r>
            <a:endParaRPr lang="en-US" sz="10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Webhook tamper and replay: refused</a:t>
            </a:r>
            <a:endParaRPr lang="en-US" sz="1050" dirty="0"/>
          </a:p>
        </p:txBody>
      </p:sp>
      <p:sp>
        <p:nvSpPr>
          <p:cNvPr id="28" name="content-16-text-26"/>
          <p:cNvSpPr txBox="1"/>
          <p:nvPr/>
        </p:nvSpPr>
        <p:spPr>
          <a:xfrm>
            <a:off x="553212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Did not hold</a:t>
            </a:r>
            <a:endParaRPr lang="en-US" sz="1200" dirty="0"/>
          </a:p>
        </p:txBody>
      </p:sp>
      <p:sp>
        <p:nvSpPr>
          <p:cNvPr id="29" name="content-16-text-27"/>
          <p:cNvSpPr txBox="1"/>
          <p:nvPr/>
        </p:nvSpPr>
        <p:spPr>
          <a:xfrm>
            <a:off x="5532120" y="3474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Plain HTTP: a listener reads the password and token</a:t>
            </a:r>
            <a:endParaRPr lang="en-US" sz="105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 stolen token reads payments and cancels a draft for 15 minutes</a:t>
            </a:r>
            <a:endParaRPr lang="en-US" sz="1050" dirty="0"/>
          </a:p>
        </p:txBody>
      </p:sp>
      <p:sp>
        <p:nvSpPr>
          <p:cNvPr id="30" name="content-16-text-28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Raw logs and hashes: submission/evidence/security_2026-10-18/ and the security self-assessment, sections 13 and 14.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Security problems we found</a:t>
            </a:r>
            <a:endParaRPr lang="en-US" sz="3600" dirty="0"/>
          </a:p>
        </p:txBody>
      </p:sp>
      <p:graphicFrame>
        <p:nvGraphicFramePr>
          <p:cNvPr id="18" name="content-17-table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68680"/>
                <a:gridCol w="4526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Problem found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What we did, or still need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Plain HTTP exposes the password and token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Mitigated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The public site answers over HTTPS with an HSTS header (seen 19 Oct). The local demo is HTTP by design. Not independently tested.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 stolen token reads payments, cancels a draft (15 min)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3"/>
                          </a:solidFill>
                        </a:rPr>
                        <a:t>Open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Approval still needs a fresh MFA proof bound to the payment. Cancel rights are under review.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Account names guessable after repeated failures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6"/>
                          </a:solidFill>
                        </a:rPr>
                        <a:t>Fixed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Uniform lockout and failure tracking, with tests.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Model runtime phoned a public telemetry host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6"/>
                          </a:solidFill>
                        </a:rPr>
                        <a:t>Fixed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Switched off; a new capture found no packet to a public address.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Document text, with a planted passport, was readable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4"/>
                          </a:solidFill>
                        </a:rPr>
                        <a:t>Partly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New rows use AES-256-GCM. Old rows, names and file names stay readable.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Nine high advisories in development tools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3"/>
                          </a:solidFill>
                        </a:rPr>
                        <a:t>Open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Dev tools only; upgrade deferred. Not a clean bill of health.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No independent penetration test; simulated chain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3"/>
                          </a:solidFill>
                        </a:rPr>
                        <a:t>Open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Every attack tool was written by the team. The chain is a simulation.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ontent-17-text-2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security self-assessment, sections 13 and 14: every record, the raw-log hashes and what each fix did and did not show.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Honest by design</a:t>
            </a:r>
            <a:endParaRPr lang="en-US" sz="3600" dirty="0"/>
          </a:p>
        </p:txBody>
      </p:sp>
      <p:sp>
        <p:nvSpPr>
          <p:cNvPr id="3" name="content-18-text-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Every simulated part is labelled. Every unverified rule carries a badge.</a:t>
            </a:r>
            <a:endParaRPr lang="en-US" sz="1600" dirty="0"/>
          </a:p>
        </p:txBody>
      </p:sp>
      <p:sp>
        <p:nvSpPr>
          <p:cNvPr id="4" name="content-18-rect-2"/>
          <p:cNvSpPr/>
          <p:nvPr/>
        </p:nvSpPr>
        <p:spPr>
          <a:xfrm>
            <a:off x="457200" y="1554480"/>
            <a:ext cx="3803904" cy="2999232"/>
          </a:xfrm>
          <a:prstGeom prst="roundRect">
            <a:avLst>
              <a:gd name="adj" fmla="val 18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5" name="content-18-image-3" descr="Sandbox screen listing what is simula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27632"/>
            <a:ext cx="3657600" cy="2852928"/>
          </a:xfrm>
          <a:prstGeom prst="rect">
            <a:avLst/>
          </a:prstGeom>
        </p:spPr>
      </p:pic>
      <p:sp>
        <p:nvSpPr>
          <p:cNvPr id="6" name="content-18-rect-4"/>
          <p:cNvSpPr/>
          <p:nvPr/>
        </p:nvSpPr>
        <p:spPr>
          <a:xfrm>
            <a:off x="4882896" y="1554480"/>
            <a:ext cx="3803904" cy="2999232"/>
          </a:xfrm>
          <a:prstGeom prst="roundRect">
            <a:avLst>
              <a:gd name="adj" fmla="val 18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pic>
        <p:nvPicPr>
          <p:cNvPr id="7" name="content-18-image-5" descr="Compliance report whose hash verifies in the brow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627632"/>
            <a:ext cx="3657600" cy="2852928"/>
          </a:xfrm>
          <a:prstGeom prst="rect">
            <a:avLst/>
          </a:prstGeom>
        </p:spPr>
      </p:pic>
      <p:sp>
        <p:nvSpPr>
          <p:cNvPr id="8" name="content-18-text-6"/>
          <p:cNvSpPr txBox="1"/>
          <p:nvPr/>
        </p:nvSpPr>
        <p:spPr>
          <a:xfrm>
            <a:off x="457200" y="4590288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Sandbox screen: what is simulated, how to test it</a:t>
            </a:r>
            <a:endParaRPr lang="en-US" sz="1100" dirty="0"/>
          </a:p>
        </p:txBody>
      </p:sp>
      <p:sp>
        <p:nvSpPr>
          <p:cNvPr id="9" name="content-18-text-7"/>
          <p:cNvSpPr txBox="1"/>
          <p:nvPr/>
        </p:nvSpPr>
        <p:spPr>
          <a:xfrm>
            <a:off x="4882896" y="4590288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Compliance report: the hash verifies in the browser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Why it can work</a:t>
            </a:r>
            <a:endParaRPr lang="en-US" sz="3600" dirty="0"/>
          </a:p>
        </p:txBody>
      </p:sp>
      <p:sp>
        <p:nvSpPr>
          <p:cNvPr id="3" name="content-19-rect-1"/>
          <p:cNvSpPr/>
          <p:nvPr/>
        </p:nvSpPr>
        <p:spPr>
          <a:xfrm>
            <a:off x="457200" y="1188720"/>
            <a:ext cx="484632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4" name="content-19-text-2"/>
          <p:cNvSpPr txBox="1"/>
          <p:nvPr/>
        </p:nvSpPr>
        <p:spPr>
          <a:xfrm>
            <a:off x="594360" y="1234440"/>
            <a:ext cx="1783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USD 881.7m</a:t>
            </a:r>
            <a:endParaRPr lang="en-US" sz="2100" dirty="0"/>
          </a:p>
        </p:txBody>
      </p:sp>
      <p:sp>
        <p:nvSpPr>
          <p:cNvPr id="5" name="content-19-text-3"/>
          <p:cNvSpPr txBox="1"/>
          <p:nvPr/>
        </p:nvSpPr>
        <p:spPr>
          <a:xfrm>
            <a:off x="2423160" y="1234440"/>
            <a:ext cx="2788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sent through Bangladeshi banks for overseas education in FY2025-26: a record, up 32% in a year. Bangladesh Bank data, via The Observer, 24 Jul 2026.</a:t>
            </a:r>
            <a:endParaRPr lang="en-US" sz="1100" dirty="0"/>
          </a:p>
        </p:txBody>
      </p:sp>
      <p:sp>
        <p:nvSpPr>
          <p:cNvPr id="6" name="content-19-rect-4"/>
          <p:cNvSpPr/>
          <p:nvPr/>
        </p:nvSpPr>
        <p:spPr>
          <a:xfrm>
            <a:off x="457200" y="2359152"/>
            <a:ext cx="484632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7" name="content-19-text-5"/>
          <p:cNvSpPr txBox="1"/>
          <p:nvPr/>
        </p:nvSpPr>
        <p:spPr>
          <a:xfrm>
            <a:off x="594360" y="2404872"/>
            <a:ext cx="1783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6.4%</a:t>
            </a:r>
            <a:endParaRPr lang="en-US" sz="2100" dirty="0"/>
          </a:p>
        </p:txBody>
      </p:sp>
      <p:sp>
        <p:nvSpPr>
          <p:cNvPr id="8" name="content-19-text-6"/>
          <p:cNvSpPr txBox="1"/>
          <p:nvPr/>
        </p:nvSpPr>
        <p:spPr>
          <a:xfrm>
            <a:off x="2423160" y="2404872"/>
            <a:ext cx="2788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average cost of sending USD 200 worldwide, Q3 2025, against a 3% goal (World Bank). Small remittances, not tuition: context only.</a:t>
            </a:r>
            <a:endParaRPr lang="en-US" sz="1100" dirty="0"/>
          </a:p>
        </p:txBody>
      </p:sp>
      <p:sp>
        <p:nvSpPr>
          <p:cNvPr id="9" name="content-19-rect-7"/>
          <p:cNvSpPr/>
          <p:nvPr/>
        </p:nvSpPr>
        <p:spPr>
          <a:xfrm>
            <a:off x="457200" y="3529584"/>
            <a:ext cx="484632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10" name="content-19-text-8"/>
          <p:cNvSpPr txBox="1"/>
          <p:nvPr/>
        </p:nvSpPr>
        <p:spPr>
          <a:xfrm>
            <a:off x="594360" y="3575304"/>
            <a:ext cx="1783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USD 8.8m</a:t>
            </a:r>
            <a:endParaRPr lang="en-US" sz="2100" dirty="0"/>
          </a:p>
        </p:txBody>
      </p:sp>
      <p:sp>
        <p:nvSpPr>
          <p:cNvPr id="11" name="content-19-text-9"/>
          <p:cNvSpPr txBox="1"/>
          <p:nvPr/>
        </p:nvSpPr>
        <p:spPr>
          <a:xfrm>
            <a:off x="2423160" y="3575304"/>
            <a:ext cx="2788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 year stays with families for each 1 point of cost taken off that volume. Our arithmetic (1% of 881.7m), not a forecast.</a:t>
            </a:r>
            <a:endParaRPr lang="en-US" sz="1100" dirty="0"/>
          </a:p>
        </p:txBody>
      </p:sp>
      <p:sp>
        <p:nvSpPr>
          <p:cNvPr id="12" name="content-19-rect-10"/>
          <p:cNvSpPr/>
          <p:nvPr/>
        </p:nvSpPr>
        <p:spPr>
          <a:xfrm>
            <a:off x="5486400" y="1188720"/>
            <a:ext cx="3200400" cy="338328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13" name="content-19-text-11"/>
          <p:cNvSpPr txBox="1"/>
          <p:nvPr/>
        </p:nvSpPr>
        <p:spPr>
          <a:xfrm>
            <a:off x="566928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Who gains</a:t>
            </a:r>
            <a:endParaRPr lang="en-US" sz="1600" dirty="0"/>
          </a:p>
        </p:txBody>
      </p:sp>
      <p:sp>
        <p:nvSpPr>
          <p:cNvPr id="14" name="content-19-text-12"/>
          <p:cNvSpPr txBox="1"/>
          <p:nvPr/>
        </p:nvSpPr>
        <p:spPr>
          <a:xfrm>
            <a:off x="5669280" y="169164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Family: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Lower true cost, a safe deadline, one plan.</a:t>
            </a:r>
            <a:endParaRPr lang="en-US" sz="1200" dirty="0"/>
          </a:p>
        </p:txBody>
      </p:sp>
      <p:sp>
        <p:nvSpPr>
          <p:cNvPr id="15" name="content-19-text-13"/>
          <p:cNvSpPr txBox="1"/>
          <p:nvPr/>
        </p:nvSpPr>
        <p:spPr>
          <a:xfrm>
            <a:off x="5669280" y="225856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Bank: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Documents checked and risk-routed before a reviewer looks.</a:t>
            </a:r>
            <a:endParaRPr lang="en-US" sz="1200" dirty="0"/>
          </a:p>
        </p:txBody>
      </p:sp>
      <p:sp>
        <p:nvSpPr>
          <p:cNvPr id="16" name="content-19-text-14"/>
          <p:cNvSpPr txBox="1"/>
          <p:nvPr/>
        </p:nvSpPr>
        <p:spPr>
          <a:xfrm>
            <a:off x="5669280" y="282549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University: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Fewer short or unmatched payments.</a:t>
            </a:r>
            <a:endParaRPr lang="en-US" sz="1200" dirty="0"/>
          </a:p>
        </p:txBody>
      </p:sp>
      <p:sp>
        <p:nvSpPr>
          <p:cNvPr id="17" name="content-19-text-15"/>
          <p:cNvSpPr txBox="1"/>
          <p:nvPr/>
        </p:nvSpPr>
        <p:spPr>
          <a:xfrm>
            <a:off x="5669280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Who could pay (to test)</a:t>
            </a:r>
            <a:endParaRPr lang="en-US" sz="1400" dirty="0"/>
          </a:p>
        </p:txBody>
      </p:sp>
      <p:sp>
        <p:nvSpPr>
          <p:cNvPr id="18" name="content-19-text-16"/>
          <p:cNvSpPr txBox="1"/>
          <p:nvPr/>
        </p:nvSpPr>
        <p:spPr>
          <a:xfrm>
            <a:off x="5669280" y="3703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 partner bank pays a small service fee per assisted payment. At 0.2% of the volume, a 5% share is about USD 88,000 a year: modest, and a number to test.</a:t>
            </a:r>
            <a:endParaRPr lang="en-US" sz="1100" dirty="0"/>
          </a:p>
        </p:txBody>
      </p:sp>
      <p:sp>
        <p:nvSpPr>
          <p:cNvPr id="19" name="content-19-text-17"/>
          <p:cNvSpPr txBox="1"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Illustrations, not forecasts. No partner, no pilot, no real users yet. Sources and sums: docs/BUSINESS_CASE.md</a:t>
            </a:r>
            <a:endParaRPr lang="en-US" sz="1000" dirty="0"/>
          </a:p>
        </p:txBody>
      </p:sp>
      <p:sp>
        <p:nvSpPr>
          <p:cNvPr id="20" name="content-19-text-18"/>
          <p:cNvSpPr txBox="1"/>
          <p:nvPr/>
        </p:nvSpPr>
        <p:spPr>
          <a:xfrm>
            <a:off x="457200" y="46268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Volume is real (Bangladesh Bank, via The Observer). Rates, fees, city costs and the 8.8m figure are our arithmetic or invented for the sandbox.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comes next</a:t>
            </a:r>
            <a:endParaRPr lang="en-US" sz="3600" dirty="0"/>
          </a:p>
        </p:txBody>
      </p:sp>
      <p:sp>
        <p:nvSpPr>
          <p:cNvPr id="3" name="closing-20-rect-1"/>
          <p:cNvSpPr/>
          <p:nvPr/>
        </p:nvSpPr>
        <p:spPr>
          <a:xfrm>
            <a:off x="457200" y="123444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4" name="closing-20-text-2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Verified rules</a:t>
            </a:r>
            <a:endParaRPr lang="en-US" sz="1800" dirty="0"/>
          </a:p>
        </p:txBody>
      </p:sp>
      <p:sp>
        <p:nvSpPr>
          <p:cNvPr id="5" name="closing-20-text-3"/>
          <p:cNvSpPr txBox="1"/>
          <p:nvPr/>
        </p:nvSpPr>
        <p:spPr>
          <a:xfrm>
            <a:off x="64008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Four study-abroad rules now rest on Bangladesh Bank's circular. Verify the rest.</a:t>
            </a:r>
            <a:endParaRPr lang="en-US" sz="1400" dirty="0"/>
          </a:p>
        </p:txBody>
      </p:sp>
      <p:sp>
        <p:nvSpPr>
          <p:cNvPr id="6" name="closing-20-rect-4"/>
          <p:cNvSpPr/>
          <p:nvPr/>
        </p:nvSpPr>
        <p:spPr>
          <a:xfrm>
            <a:off x="4663440" y="123444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7" name="closing-20-text-5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 real AD bank partner</a:t>
            </a:r>
            <a:endParaRPr lang="en-US" sz="1800" dirty="0"/>
          </a:p>
        </p:txBody>
      </p:sp>
      <p:sp>
        <p:nvSpPr>
          <p:cNvPr id="8" name="closing-20-text-6"/>
          <p:cNvSpPr txBox="1"/>
          <p:nvPr/>
        </p:nvSpPr>
        <p:spPr>
          <a:xfrm>
            <a:off x="484632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Real quotes, real KYC, and regulator-ready reports from the audit log.</a:t>
            </a:r>
            <a:endParaRPr lang="en-US" sz="1400" dirty="0"/>
          </a:p>
        </p:txBody>
      </p:sp>
      <p:sp>
        <p:nvSpPr>
          <p:cNvPr id="9" name="closing-20-rect-7"/>
          <p:cNvSpPr/>
          <p:nvPr/>
        </p:nvSpPr>
        <p:spPr>
          <a:xfrm>
            <a:off x="457200" y="251460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10" name="closing-20-text-8"/>
          <p:cNvSpPr txBox="1"/>
          <p:nvPr/>
        </p:nvSpPr>
        <p:spPr>
          <a:xfrm>
            <a:off x="64008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Credit building</a:t>
            </a:r>
            <a:endParaRPr lang="en-US" sz="1800" dirty="0"/>
          </a:p>
        </p:txBody>
      </p:sp>
      <p:sp>
        <p:nvSpPr>
          <p:cNvPr id="11" name="closing-20-text-9"/>
          <p:cNvSpPr txBox="1"/>
          <p:nvPr/>
        </p:nvSpPr>
        <p:spPr>
          <a:xfrm>
            <a:off x="640080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Topic C scope we have not built: help a student build a credit history abroad.</a:t>
            </a:r>
            <a:endParaRPr lang="en-US" sz="1400" dirty="0"/>
          </a:p>
        </p:txBody>
      </p:sp>
      <p:sp>
        <p:nvSpPr>
          <p:cNvPr id="12" name="closing-20-rect-10"/>
          <p:cNvSpPr/>
          <p:nvPr/>
        </p:nvSpPr>
        <p:spPr>
          <a:xfrm>
            <a:off x="4663440" y="2514600"/>
            <a:ext cx="402336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/>
        </p:spPr>
      </p:sp>
      <p:sp>
        <p:nvSpPr>
          <p:cNvPr id="13" name="closing-20-text-11"/>
          <p:cNvSpPr txBox="1"/>
          <p:nvPr/>
        </p:nvSpPr>
        <p:spPr>
          <a:xfrm>
            <a:off x="484632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 real chain</a:t>
            </a:r>
            <a:endParaRPr lang="en-US" sz="1800" dirty="0"/>
          </a:p>
        </p:txBody>
      </p:sp>
      <p:sp>
        <p:nvSpPr>
          <p:cNvPr id="14" name="closing-20-text-12"/>
          <p:cNvSpPr txBox="1"/>
          <p:nvPr/>
        </p:nvSpPr>
        <p:spPr>
          <a:xfrm>
            <a:off x="4846320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Today the escrow runs on a simulated chain, with no network. Next: a permissioned chain and a bank-issued token.</a:t>
            </a:r>
            <a:endParaRPr lang="en-US" sz="1400" dirty="0"/>
          </a:p>
        </p:txBody>
      </p:sp>
      <p:sp>
        <p:nvSpPr>
          <p:cNvPr id="15" name="closing-20-text-13"/>
          <p:cNvSpPr txBox="1"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Clear costs. Human control.</a:t>
            </a:r>
            <a:endParaRPr lang="en-US" sz="2400" dirty="0"/>
          </a:p>
        </p:txBody>
      </p:sp>
      <p:sp>
        <p:nvSpPr>
          <p:cNvPr id="16" name="closing-20-text-14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TeamEkxin  ·  https://github.com/NoobCrow/StudyRoute  ·  Sandbox: no real money moves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Route">
  <a:themeElements>
    <a:clrScheme name="StudyRoute">
      <a:dk1>
        <a:srgbClr val="0B2545"/>
      </a:dk1>
      <a:lt1>
        <a:srgbClr val="FFFFFF"/>
      </a:lt1>
      <a:dk2>
        <a:srgbClr val="4A5C70"/>
      </a:dk2>
      <a:lt2>
        <a:srgbClr val="EEF3F8"/>
      </a:lt2>
      <a:accent1>
        <a:srgbClr val="0B7A70"/>
      </a:accent1>
      <a:accent2>
        <a:srgbClr val="F4B942"/>
      </a:accent2>
      <a:accent3>
        <a:srgbClr val="C8344A"/>
      </a:accent3>
      <a:accent4>
        <a:srgbClr val="2F6DA3"/>
      </a:accent4>
      <a:accent5>
        <a:srgbClr val="C9D6E3"/>
      </a:accent5>
      <a:accent6>
        <a:srgbClr val="2E7D32"/>
      </a:accent6>
      <a:hlink>
        <a:srgbClr val="0B7A70"/>
      </a:hlink>
      <a:folHlink>
        <a:srgbClr val="4A5C70"/>
      </a:folHlink>
    </a:clrScheme>
    <a:fontScheme name="StudyRou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StudyRoute: sandbox AI agent for tuition payments from Bangladesh</dc:title>
  <dc:subject>FinTechathon 2026, International Track, Topic C</dc:subject>
  <dc:creator>TeamEkxin</dc:creator>
  <cp:lastModifiedBy>TeamEkxin</cp:lastModifiedBy>
  <cp:revision>1</cp:revision>
  <dcterms:created xsi:type="dcterms:W3CDTF">2026-10-18T22:03:59Z</dcterms:created>
  <dcterms:modified xsi:type="dcterms:W3CDTF">2026-10-18T22:03:59Z</dcterms:modified>
</cp:coreProperties>
</file>