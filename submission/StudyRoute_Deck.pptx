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4b84ad7-be87-3f38-e84d-66c73ce80a77}">
          <p14:sldIdLst>
            <p14:sldId id="256"/>
            <p14:sldId id="257"/>
          </p14:sldIdLst>
        </p14:section>
        <p14:section name="The problem" id="{c65efd78-683f-3a31-e67c-b98a33479af1}">
          <p14:sldIdLst>
            <p14:sldId id="258"/>
            <p14:sldId id="259"/>
          </p14:sldIdLst>
        </p14:section>
        <p14:section name="The solution" id="{42318c76-641b-b2fe-2ef9-af44e38f8edf}">
          <p14:sldIdLst>
            <p14:sldId id="260"/>
            <p14:sldId id="261"/>
          </p14:sldIdLst>
        </p14:section>
        <p14:section name="Trust" id="{61219f83-cd16-2e92-0de2-642393dcb993}">
          <p14:sldIdLst>
            <p14:sldId id="262"/>
            <p14:sldId id="263"/>
            <p14:sldId id="264"/>
          </p14:sldIdLst>
        </p14:section>
        <p14:section name="Close" id="{c4f75d66-98d9-f681-e33e-52df4bd76b4a}">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SWIFT only carries the instruction; banks settle between their own accounts.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On the right, the agent and the person share the work.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16,000 is the margin, 3,000 the fixed fee, 1,500 the SWIFT fee and 4,800 the fees we pay under OUR. The same engine powers the smart send plan: fixed fees are paid on every transfer, so sending 12,000 pounds of living costs all at once costs 28,500 taka against 68,400 monthly.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 Adding a model later is one command, check_ai.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709 backend and 89 frontend tests, all 24 blueprint scenarios mapped to tests, and 21 known risks that we list openly in the self-assessment. The audit log is hash-chained: Verify passes, we edit one row behind the application's back, and Verify fails at exactly that event. Each payment also gets a compliance report whose hash your browser can recompute. The threat matrix with a proof for each row is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 The sandbox operation logs from a real run, including the tamper demo, are in the repository under submission slash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We would also add the moon-dependent holidays to the planner. Second, a partnership with an authorised dealer bank for real quotes and real KYC, and regulator-ready reports from the audit log. Topic C also mentions credit building and multi-currency management. We have not built those, and we would rather say so than pretend.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7-rect-1"/>
          <p:cNvSpPr/>
          <p:nvPr/>
        </p:nvSpPr>
        <p:spPr>
          <a:xfrm>
            <a:off x="457200" y="1280160"/>
            <a:ext cx="1051560" cy="731520"/>
          </a:xfrm>
          <a:prstGeom prst="roundRect">
            <a:avLst>
              <a:gd name="adj" fmla="val 10000"/>
            </a:avLst>
          </a:prstGeom>
          <a:solidFill>
            <a:schemeClr val="tx1"/>
          </a:solidFill>
          <a:ln/>
        </p:spPr>
      </p:sp>
      <p:sp>
        <p:nvSpPr>
          <p:cNvPr id="4" name="content-7-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7-rect-3"/>
          <p:cNvSpPr/>
          <p:nvPr/>
        </p:nvSpPr>
        <p:spPr>
          <a:xfrm>
            <a:off x="1645920" y="1280160"/>
            <a:ext cx="1051560" cy="731520"/>
          </a:xfrm>
          <a:prstGeom prst="roundRect">
            <a:avLst>
              <a:gd name="adj" fmla="val 10000"/>
            </a:avLst>
          </a:prstGeom>
          <a:solidFill>
            <a:schemeClr val="tx1"/>
          </a:solidFill>
          <a:ln/>
        </p:spPr>
      </p:sp>
      <p:sp>
        <p:nvSpPr>
          <p:cNvPr id="6" name="content-7-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7-rect-5"/>
          <p:cNvSpPr/>
          <p:nvPr/>
        </p:nvSpPr>
        <p:spPr>
          <a:xfrm>
            <a:off x="2834640" y="1280160"/>
            <a:ext cx="1051560" cy="731520"/>
          </a:xfrm>
          <a:prstGeom prst="roundRect">
            <a:avLst>
              <a:gd name="adj" fmla="val 10000"/>
            </a:avLst>
          </a:prstGeom>
          <a:solidFill>
            <a:schemeClr val="tx1"/>
          </a:solidFill>
          <a:ln/>
        </p:spPr>
      </p:sp>
      <p:sp>
        <p:nvSpPr>
          <p:cNvPr id="8" name="content-7-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7-rect-7"/>
          <p:cNvSpPr/>
          <p:nvPr/>
        </p:nvSpPr>
        <p:spPr>
          <a:xfrm>
            <a:off x="4023360" y="1280160"/>
            <a:ext cx="1051560" cy="731520"/>
          </a:xfrm>
          <a:prstGeom prst="roundRect">
            <a:avLst>
              <a:gd name="adj" fmla="val 10000"/>
            </a:avLst>
          </a:prstGeom>
          <a:solidFill>
            <a:schemeClr val="accent2"/>
          </a:solidFill>
          <a:ln/>
        </p:spPr>
      </p:sp>
      <p:sp>
        <p:nvSpPr>
          <p:cNvPr id="10" name="content-7-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7-rect-9"/>
          <p:cNvSpPr/>
          <p:nvPr/>
        </p:nvSpPr>
        <p:spPr>
          <a:xfrm>
            <a:off x="5212080" y="1280160"/>
            <a:ext cx="1051560" cy="731520"/>
          </a:xfrm>
          <a:prstGeom prst="roundRect">
            <a:avLst>
              <a:gd name="adj" fmla="val 10000"/>
            </a:avLst>
          </a:prstGeom>
          <a:solidFill>
            <a:schemeClr val="tx1"/>
          </a:solidFill>
          <a:ln/>
        </p:spPr>
      </p:sp>
      <p:sp>
        <p:nvSpPr>
          <p:cNvPr id="12" name="content-7-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7-rect-11"/>
          <p:cNvSpPr/>
          <p:nvPr/>
        </p:nvSpPr>
        <p:spPr>
          <a:xfrm>
            <a:off x="6400800" y="1280160"/>
            <a:ext cx="1051560" cy="731520"/>
          </a:xfrm>
          <a:prstGeom prst="roundRect">
            <a:avLst>
              <a:gd name="adj" fmla="val 10000"/>
            </a:avLst>
          </a:prstGeom>
          <a:solidFill>
            <a:schemeClr val="tx1"/>
          </a:solidFill>
          <a:ln/>
        </p:spPr>
      </p:sp>
      <p:sp>
        <p:nvSpPr>
          <p:cNvPr id="14" name="content-7-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7-rect-13"/>
          <p:cNvSpPr/>
          <p:nvPr/>
        </p:nvSpPr>
        <p:spPr>
          <a:xfrm>
            <a:off x="7589520" y="1280160"/>
            <a:ext cx="1051560" cy="731520"/>
          </a:xfrm>
          <a:prstGeom prst="roundRect">
            <a:avLst>
              <a:gd name="adj" fmla="val 10000"/>
            </a:avLst>
          </a:prstGeom>
          <a:solidFill>
            <a:schemeClr val="tx1"/>
          </a:solidFill>
          <a:ln/>
        </p:spPr>
      </p:sp>
      <p:sp>
        <p:nvSpPr>
          <p:cNvPr id="16" name="content-7-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7-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7-rect-16"/>
          <p:cNvSpPr/>
          <p:nvPr/>
        </p:nvSpPr>
        <p:spPr>
          <a:xfrm>
            <a:off x="457200" y="2514600"/>
            <a:ext cx="2651760" cy="2194560"/>
          </a:xfrm>
          <a:prstGeom prst="roundRect">
            <a:avLst>
              <a:gd name="adj" fmla="val 3333"/>
            </a:avLst>
          </a:prstGeom>
          <a:solidFill>
            <a:schemeClr val="bg2"/>
          </a:solidFill>
          <a:ln/>
        </p:spPr>
      </p:sp>
      <p:sp>
        <p:nvSpPr>
          <p:cNvPr id="19" name="content-7-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7-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7-rect-19"/>
          <p:cNvSpPr/>
          <p:nvPr/>
        </p:nvSpPr>
        <p:spPr>
          <a:xfrm>
            <a:off x="3246120" y="2514600"/>
            <a:ext cx="2651760" cy="2194560"/>
          </a:xfrm>
          <a:prstGeom prst="roundRect">
            <a:avLst>
              <a:gd name="adj" fmla="val 3333"/>
            </a:avLst>
          </a:prstGeom>
          <a:solidFill>
            <a:schemeClr val="bg2"/>
          </a:solidFill>
          <a:ln/>
        </p:spPr>
      </p:sp>
      <p:sp>
        <p:nvSpPr>
          <p:cNvPr id="22" name="content-7-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7-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7-rect-22"/>
          <p:cNvSpPr/>
          <p:nvPr/>
        </p:nvSpPr>
        <p:spPr>
          <a:xfrm>
            <a:off x="6035040" y="2514600"/>
            <a:ext cx="2651760" cy="2194560"/>
          </a:xfrm>
          <a:prstGeom prst="roundRect">
            <a:avLst>
              <a:gd name="adj" fmla="val 3333"/>
            </a:avLst>
          </a:prstGeom>
          <a:solidFill>
            <a:schemeClr val="bg2"/>
          </a:solidFill>
          <a:ln/>
        </p:spPr>
      </p:sp>
      <p:sp>
        <p:nvSpPr>
          <p:cNvPr id="25" name="content-7-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7-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8-rect-1"/>
          <p:cNvSpPr/>
          <p:nvPr/>
        </p:nvSpPr>
        <p:spPr>
          <a:xfrm>
            <a:off x="457200" y="1280160"/>
            <a:ext cx="4023360" cy="402336"/>
          </a:xfrm>
          <a:prstGeom prst="roundRect">
            <a:avLst>
              <a:gd name="adj" fmla="val 13636"/>
            </a:avLst>
          </a:prstGeom>
          <a:solidFill>
            <a:schemeClr val="bg2"/>
          </a:solidFill>
          <a:ln/>
        </p:spPr>
      </p:sp>
      <p:sp>
        <p:nvSpPr>
          <p:cNvPr id="4" name="content-8-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8-rect-3"/>
          <p:cNvSpPr/>
          <p:nvPr/>
        </p:nvSpPr>
        <p:spPr>
          <a:xfrm>
            <a:off x="457200" y="1755648"/>
            <a:ext cx="4023360" cy="402336"/>
          </a:xfrm>
          <a:prstGeom prst="roundRect">
            <a:avLst>
              <a:gd name="adj" fmla="val 13636"/>
            </a:avLst>
          </a:prstGeom>
          <a:solidFill>
            <a:schemeClr val="bg2"/>
          </a:solidFill>
          <a:ln/>
        </p:spPr>
      </p:sp>
      <p:sp>
        <p:nvSpPr>
          <p:cNvPr id="6" name="content-8-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8-rect-5"/>
          <p:cNvSpPr/>
          <p:nvPr/>
        </p:nvSpPr>
        <p:spPr>
          <a:xfrm>
            <a:off x="457200" y="2231136"/>
            <a:ext cx="4023360" cy="402336"/>
          </a:xfrm>
          <a:prstGeom prst="roundRect">
            <a:avLst>
              <a:gd name="adj" fmla="val 13636"/>
            </a:avLst>
          </a:prstGeom>
          <a:solidFill>
            <a:schemeClr val="bg2"/>
          </a:solidFill>
          <a:ln/>
        </p:spPr>
      </p:sp>
      <p:sp>
        <p:nvSpPr>
          <p:cNvPr id="8" name="content-8-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8-rect-7"/>
          <p:cNvSpPr/>
          <p:nvPr/>
        </p:nvSpPr>
        <p:spPr>
          <a:xfrm>
            <a:off x="457200" y="2706624"/>
            <a:ext cx="4023360" cy="402336"/>
          </a:xfrm>
          <a:prstGeom prst="roundRect">
            <a:avLst>
              <a:gd name="adj" fmla="val 13636"/>
            </a:avLst>
          </a:prstGeom>
          <a:solidFill>
            <a:schemeClr val="accent1"/>
          </a:solidFill>
          <a:ln/>
        </p:spPr>
      </p:sp>
      <p:sp>
        <p:nvSpPr>
          <p:cNvPr id="10" name="content-8-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8-rect-9"/>
          <p:cNvSpPr/>
          <p:nvPr/>
        </p:nvSpPr>
        <p:spPr>
          <a:xfrm>
            <a:off x="457200" y="3182112"/>
            <a:ext cx="4023360" cy="402336"/>
          </a:xfrm>
          <a:prstGeom prst="roundRect">
            <a:avLst>
              <a:gd name="adj" fmla="val 13636"/>
            </a:avLst>
          </a:prstGeom>
          <a:solidFill>
            <a:schemeClr val="bg2"/>
          </a:solidFill>
          <a:ln/>
        </p:spPr>
      </p:sp>
      <p:sp>
        <p:nvSpPr>
          <p:cNvPr id="12" name="content-8-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8-rect-11"/>
          <p:cNvSpPr/>
          <p:nvPr/>
        </p:nvSpPr>
        <p:spPr>
          <a:xfrm>
            <a:off x="457200" y="3657600"/>
            <a:ext cx="4023360" cy="402336"/>
          </a:xfrm>
          <a:prstGeom prst="roundRect">
            <a:avLst>
              <a:gd name="adj" fmla="val 13636"/>
            </a:avLst>
          </a:prstGeom>
          <a:solidFill>
            <a:schemeClr val="accent3"/>
          </a:solidFill>
          <a:ln/>
        </p:spPr>
      </p:sp>
      <p:sp>
        <p:nvSpPr>
          <p:cNvPr id="14" name="content-8-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8-rect-13"/>
          <p:cNvSpPr/>
          <p:nvPr/>
        </p:nvSpPr>
        <p:spPr>
          <a:xfrm>
            <a:off x="4663440" y="1280160"/>
            <a:ext cx="1920240" cy="1188720"/>
          </a:xfrm>
          <a:prstGeom prst="roundRect">
            <a:avLst>
              <a:gd name="adj" fmla="val 6154"/>
            </a:avLst>
          </a:prstGeom>
          <a:solidFill>
            <a:schemeClr val="bg2"/>
          </a:solidFill>
          <a:ln/>
        </p:spPr>
      </p:sp>
      <p:sp>
        <p:nvSpPr>
          <p:cNvPr id="16" name="content-8-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709</a:t>
            </a:r>
            <a:endParaRPr lang="en-US" sz="3200" dirty="0"/>
          </a:p>
        </p:txBody>
      </p:sp>
      <p:sp>
        <p:nvSpPr>
          <p:cNvPr id="17" name="content-8-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8-rect-16"/>
          <p:cNvSpPr/>
          <p:nvPr/>
        </p:nvSpPr>
        <p:spPr>
          <a:xfrm>
            <a:off x="6766560" y="1280160"/>
            <a:ext cx="1920240" cy="1188720"/>
          </a:xfrm>
          <a:prstGeom prst="roundRect">
            <a:avLst>
              <a:gd name="adj" fmla="val 6154"/>
            </a:avLst>
          </a:prstGeom>
          <a:solidFill>
            <a:schemeClr val="bg2"/>
          </a:solidFill>
          <a:ln/>
        </p:spPr>
      </p:sp>
      <p:sp>
        <p:nvSpPr>
          <p:cNvPr id="19" name="content-8-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89</a:t>
            </a:r>
            <a:endParaRPr lang="en-US" sz="3200" dirty="0"/>
          </a:p>
        </p:txBody>
      </p:sp>
      <p:sp>
        <p:nvSpPr>
          <p:cNvPr id="20" name="content-8-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8-rect-19"/>
          <p:cNvSpPr/>
          <p:nvPr/>
        </p:nvSpPr>
        <p:spPr>
          <a:xfrm>
            <a:off x="4663440" y="2651760"/>
            <a:ext cx="1920240" cy="1188720"/>
          </a:xfrm>
          <a:prstGeom prst="roundRect">
            <a:avLst>
              <a:gd name="adj" fmla="val 6154"/>
            </a:avLst>
          </a:prstGeom>
          <a:solidFill>
            <a:schemeClr val="bg2"/>
          </a:solidFill>
          <a:ln/>
        </p:spPr>
      </p:sp>
      <p:sp>
        <p:nvSpPr>
          <p:cNvPr id="22" name="content-8-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8-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8-rect-22"/>
          <p:cNvSpPr/>
          <p:nvPr/>
        </p:nvSpPr>
        <p:spPr>
          <a:xfrm>
            <a:off x="6766560" y="2651760"/>
            <a:ext cx="1920240" cy="1188720"/>
          </a:xfrm>
          <a:prstGeom prst="roundRect">
            <a:avLst>
              <a:gd name="adj" fmla="val 6154"/>
            </a:avLst>
          </a:prstGeom>
          <a:solidFill>
            <a:schemeClr val="bg2"/>
          </a:solidFill>
          <a:ln/>
        </p:spPr>
      </p:sp>
      <p:sp>
        <p:nvSpPr>
          <p:cNvPr id="25" name="content-8-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21</a:t>
            </a:r>
            <a:endParaRPr lang="en-US" sz="3200" dirty="0"/>
          </a:p>
        </p:txBody>
      </p:sp>
      <p:sp>
        <p:nvSpPr>
          <p:cNvPr id="26" name="content-8-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8-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9-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9-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9-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9-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9-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9-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9-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0-rect-1"/>
          <p:cNvSpPr/>
          <p:nvPr/>
        </p:nvSpPr>
        <p:spPr>
          <a:xfrm>
            <a:off x="457200" y="1234440"/>
            <a:ext cx="4023360" cy="1143000"/>
          </a:xfrm>
          <a:prstGeom prst="roundRect">
            <a:avLst>
              <a:gd name="adj" fmla="val 6400"/>
            </a:avLst>
          </a:prstGeom>
          <a:solidFill>
            <a:schemeClr val="tx2"/>
          </a:solidFill>
          <a:ln/>
        </p:spPr>
      </p:sp>
      <p:sp>
        <p:nvSpPr>
          <p:cNvPr id="4" name="closing-10-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0-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0-rect-4"/>
          <p:cNvSpPr/>
          <p:nvPr/>
        </p:nvSpPr>
        <p:spPr>
          <a:xfrm>
            <a:off x="4663440" y="1234440"/>
            <a:ext cx="4023360" cy="1143000"/>
          </a:xfrm>
          <a:prstGeom prst="roundRect">
            <a:avLst>
              <a:gd name="adj" fmla="val 6400"/>
            </a:avLst>
          </a:prstGeom>
          <a:solidFill>
            <a:schemeClr val="tx2"/>
          </a:solidFill>
          <a:ln/>
        </p:spPr>
      </p:sp>
      <p:sp>
        <p:nvSpPr>
          <p:cNvPr id="7" name="closing-10-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0-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0-rect-7"/>
          <p:cNvSpPr/>
          <p:nvPr/>
        </p:nvSpPr>
        <p:spPr>
          <a:xfrm>
            <a:off x="457200" y="2514600"/>
            <a:ext cx="4023360" cy="1143000"/>
          </a:xfrm>
          <a:prstGeom prst="roundRect">
            <a:avLst>
              <a:gd name="adj" fmla="val 6400"/>
            </a:avLst>
          </a:prstGeom>
          <a:solidFill>
            <a:schemeClr val="tx2"/>
          </a:solidFill>
          <a:ln/>
        </p:spPr>
      </p:sp>
      <p:sp>
        <p:nvSpPr>
          <p:cNvPr id="10" name="closing-10-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0-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0-rect-10"/>
          <p:cNvSpPr/>
          <p:nvPr/>
        </p:nvSpPr>
        <p:spPr>
          <a:xfrm>
            <a:off x="4663440" y="2514600"/>
            <a:ext cx="4023360" cy="1143000"/>
          </a:xfrm>
          <a:prstGeom prst="roundRect">
            <a:avLst>
              <a:gd name="adj" fmla="val 6400"/>
            </a:avLst>
          </a:prstGeom>
          <a:solidFill>
            <a:schemeClr val="tx2"/>
          </a:solidFill>
          <a:ln/>
        </p:spPr>
      </p:sp>
      <p:sp>
        <p:nvSpPr>
          <p:cNvPr id="13" name="closing-10-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Multi-currency management</a:t>
            </a:r>
            <a:endParaRPr lang="en-US" sz="1800" dirty="0"/>
          </a:p>
        </p:txBody>
      </p:sp>
      <p:sp>
        <p:nvSpPr>
          <p:cNvPr id="14" name="closing-10-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One view of balances and costs across the six corridors.</a:t>
            </a:r>
            <a:endParaRPr lang="en-US" sz="1400" dirty="0"/>
          </a:p>
        </p:txBody>
      </p:sp>
      <p:sp>
        <p:nvSpPr>
          <p:cNvPr id="15" name="closing-10-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0-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2026-10-14T10:30:59Z</dcterms:created>
  <dcterms:modified xsi:type="dcterms:W3CDTF">2026-10-14T10:30:59Z</dcterms:modified>
</cp:coreProperties>
</file>